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92" r:id="rId26"/>
    <p:sldId id="294" r:id="rId27"/>
    <p:sldId id="291" r:id="rId28"/>
    <p:sldId id="293" r:id="rId29"/>
    <p:sldId id="280" r:id="rId30"/>
    <p:sldId id="281" r:id="rId31"/>
    <p:sldId id="282" r:id="rId32"/>
    <p:sldId id="283" r:id="rId33"/>
    <p:sldId id="296" r:id="rId34"/>
    <p:sldId id="297" r:id="rId35"/>
    <p:sldId id="298" r:id="rId36"/>
    <p:sldId id="299" r:id="rId37"/>
    <p:sldId id="284" r:id="rId38"/>
    <p:sldId id="285" r:id="rId39"/>
    <p:sldId id="286" r:id="rId40"/>
    <p:sldId id="300" r:id="rId41"/>
    <p:sldId id="301" r:id="rId42"/>
    <p:sldId id="302" r:id="rId43"/>
    <p:sldId id="303" r:id="rId44"/>
    <p:sldId id="287" r:id="rId45"/>
    <p:sldId id="288" r:id="rId46"/>
    <p:sldId id="289" r:id="rId47"/>
    <p:sldId id="290" r:id="rId48"/>
    <p:sldId id="295"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BF1A5A-B8CD-4707-A280-B761DC9EF729}" v="5" dt="2026-04-19T04:15:50.5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napToGrid="0">
      <p:cViewPr varScale="1">
        <p:scale>
          <a:sx n="80" d="100"/>
          <a:sy n="80" d="100"/>
        </p:scale>
        <p:origin x="1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 Joshi" userId="9b355281d9d0f14b" providerId="LiveId" clId="{46C19D61-A580-47E6-A649-772E59F851A3}"/>
    <pc:docChg chg="modSld">
      <pc:chgData name="Deep Joshi" userId="9b355281d9d0f14b" providerId="LiveId" clId="{46C19D61-A580-47E6-A649-772E59F851A3}" dt="2026-04-19T04:15:50.560" v="4" actId="1035"/>
      <pc:docMkLst>
        <pc:docMk/>
      </pc:docMkLst>
      <pc:sldChg chg="modSp">
        <pc:chgData name="Deep Joshi" userId="9b355281d9d0f14b" providerId="LiveId" clId="{46C19D61-A580-47E6-A649-772E59F851A3}" dt="2026-04-19T04:11:53.867" v="2" actId="1036"/>
        <pc:sldMkLst>
          <pc:docMk/>
          <pc:sldMk cId="3236499723" sldId="264"/>
        </pc:sldMkLst>
        <pc:picChg chg="mod">
          <ac:chgData name="Deep Joshi" userId="9b355281d9d0f14b" providerId="LiveId" clId="{46C19D61-A580-47E6-A649-772E59F851A3}" dt="2026-04-19T04:11:53.867" v="2" actId="1036"/>
          <ac:picMkLst>
            <pc:docMk/>
            <pc:sldMk cId="3236499723" sldId="264"/>
            <ac:picMk id="4" creationId="{00000000-0000-0000-0000-000000000000}"/>
          </ac:picMkLst>
        </pc:picChg>
      </pc:sldChg>
      <pc:sldChg chg="modSp">
        <pc:chgData name="Deep Joshi" userId="9b355281d9d0f14b" providerId="LiveId" clId="{46C19D61-A580-47E6-A649-772E59F851A3}" dt="2026-04-19T04:15:50.560" v="4" actId="1035"/>
        <pc:sldMkLst>
          <pc:docMk/>
          <pc:sldMk cId="3525090813" sldId="269"/>
        </pc:sldMkLst>
        <pc:picChg chg="mod">
          <ac:chgData name="Deep Joshi" userId="9b355281d9d0f14b" providerId="LiveId" clId="{46C19D61-A580-47E6-A649-772E59F851A3}" dt="2026-04-19T04:15:50.560" v="4" actId="1035"/>
          <ac:picMkLst>
            <pc:docMk/>
            <pc:sldMk cId="3525090813" sldId="269"/>
            <ac:picMk id="4"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82593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63438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02557A-7053-4340-A874-8AB926A8EDA1}"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47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210922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907733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37369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56703944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B02557A-7053-4340-A874-8AB926A8EDA1}" type="datetimeFigureOut">
              <a:rPr lang="en-US" smtClean="0"/>
              <a:pPr/>
              <a:t>4/19/2026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61181700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02557A-7053-4340-A874-8AB926A8EDA1}"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94881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777383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02557A-7053-4340-A874-8AB926A8EDA1}"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53651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B02557A-7053-4340-A874-8AB926A8EDA1}" type="datetimeFigureOut">
              <a:rPr lang="en-US" smtClean="0"/>
              <a:pPr/>
              <a:t>4/19/2026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AEF9944-A4F6-4C59-AEBD-678D6480B8EA}"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8792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67185" y="1408878"/>
            <a:ext cx="9924131" cy="1654939"/>
          </a:xfrm>
        </p:spPr>
        <p:txBody>
          <a:bodyPr>
            <a:normAutofit fontScale="90000"/>
          </a:bodyPr>
          <a:lstStyle/>
          <a:p>
            <a:r>
              <a:rPr lang="en-IN" dirty="0"/>
              <a:t>Ch 5: Analog Transmission</a:t>
            </a:r>
          </a:p>
        </p:txBody>
      </p:sp>
      <p:sp>
        <p:nvSpPr>
          <p:cNvPr id="5" name="Subtitle 4">
            <a:extLst>
              <a:ext uri="{FF2B5EF4-FFF2-40B4-BE49-F238E27FC236}">
                <a16:creationId xmlns:a16="http://schemas.microsoft.com/office/drawing/2014/main" id="{2A380ECF-546D-47D3-A513-2F23A347B41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984516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p>
        </p:txBody>
      </p:sp>
      <p:sp>
        <p:nvSpPr>
          <p:cNvPr id="3" name="Content Placeholder 2"/>
          <p:cNvSpPr>
            <a:spLocks noGrp="1"/>
          </p:cNvSpPr>
          <p:nvPr>
            <p:ph idx="1"/>
          </p:nvPr>
        </p:nvSpPr>
        <p:spPr/>
        <p:txBody>
          <a:bodyPr/>
          <a:lstStyle/>
          <a:p>
            <a:r>
              <a:rPr lang="en-IN" dirty="0"/>
              <a:t>Converting digital signal to a bandpass </a:t>
            </a:r>
            <a:r>
              <a:rPr lang="en-IN" dirty="0" err="1"/>
              <a:t>analog</a:t>
            </a:r>
            <a:r>
              <a:rPr lang="en-IN" dirty="0"/>
              <a:t> signal is called digital-to-</a:t>
            </a:r>
            <a:r>
              <a:rPr lang="en-IN" dirty="0" err="1"/>
              <a:t>analog</a:t>
            </a:r>
            <a:r>
              <a:rPr lang="en-IN" dirty="0"/>
              <a:t> conversion</a:t>
            </a:r>
          </a:p>
          <a:p>
            <a:r>
              <a:rPr lang="en-IN" dirty="0"/>
              <a:t>Converting a low-pass </a:t>
            </a:r>
            <a:r>
              <a:rPr lang="en-IN" dirty="0" err="1"/>
              <a:t>analog</a:t>
            </a:r>
            <a:r>
              <a:rPr lang="en-IN" dirty="0"/>
              <a:t> signal to a bandpass </a:t>
            </a:r>
            <a:r>
              <a:rPr lang="en-IN" dirty="0" err="1"/>
              <a:t>analog</a:t>
            </a:r>
            <a:r>
              <a:rPr lang="en-IN" dirty="0"/>
              <a:t> signal is traditionally called </a:t>
            </a:r>
            <a:r>
              <a:rPr lang="en-IN" dirty="0" err="1"/>
              <a:t>analog</a:t>
            </a:r>
            <a:r>
              <a:rPr lang="en-IN" dirty="0"/>
              <a:t>-to-</a:t>
            </a:r>
            <a:r>
              <a:rPr lang="en-IN" dirty="0" err="1"/>
              <a:t>analog</a:t>
            </a:r>
            <a:r>
              <a:rPr lang="en-IN" dirty="0"/>
              <a:t> conversion</a:t>
            </a:r>
          </a:p>
          <a:p>
            <a:r>
              <a:rPr lang="en-IN" dirty="0"/>
              <a:t>Types</a:t>
            </a:r>
          </a:p>
          <a:p>
            <a:pPr lvl="1"/>
            <a:r>
              <a:rPr lang="en-IN" dirty="0"/>
              <a:t>Digital-to-</a:t>
            </a:r>
            <a:r>
              <a:rPr lang="en-IN" dirty="0" err="1"/>
              <a:t>analog</a:t>
            </a:r>
            <a:r>
              <a:rPr lang="en-IN" dirty="0"/>
              <a:t> conversion</a:t>
            </a:r>
          </a:p>
          <a:p>
            <a:pPr lvl="1"/>
            <a:r>
              <a:rPr lang="en-IN" dirty="0" err="1"/>
              <a:t>Analog</a:t>
            </a:r>
            <a:r>
              <a:rPr lang="en-IN" dirty="0"/>
              <a:t>-to-</a:t>
            </a:r>
            <a:r>
              <a:rPr lang="en-IN" dirty="0" err="1"/>
              <a:t>analog</a:t>
            </a:r>
            <a:r>
              <a:rPr lang="en-IN" dirty="0"/>
              <a:t> conversion</a:t>
            </a:r>
          </a:p>
        </p:txBody>
      </p:sp>
    </p:spTree>
    <p:extLst>
      <p:ext uri="{BB962C8B-B14F-4D97-AF65-F5344CB8AC3E}">
        <p14:creationId xmlns:p14="http://schemas.microsoft.com/office/powerpoint/2010/main" val="232826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Digital-to-Analog Conversion</a:t>
            </a:r>
          </a:p>
        </p:txBody>
      </p:sp>
      <p:sp>
        <p:nvSpPr>
          <p:cNvPr id="3" name="Content Placeholder 2"/>
          <p:cNvSpPr>
            <a:spLocks noGrp="1"/>
          </p:cNvSpPr>
          <p:nvPr>
            <p:ph idx="1"/>
          </p:nvPr>
        </p:nvSpPr>
        <p:spPr>
          <a:xfrm>
            <a:off x="1097280" y="2029390"/>
            <a:ext cx="10358790" cy="3651504"/>
          </a:xfrm>
        </p:spPr>
        <p:txBody>
          <a:bodyPr/>
          <a:lstStyle/>
          <a:p>
            <a:r>
              <a:rPr lang="en-IN" dirty="0"/>
              <a:t>Process of changing one of the characteristics of an </a:t>
            </a:r>
            <a:r>
              <a:rPr lang="en-IN" dirty="0" err="1"/>
              <a:t>analog</a:t>
            </a:r>
            <a:r>
              <a:rPr lang="en-IN" dirty="0"/>
              <a:t> signal based on information in digital data</a:t>
            </a:r>
          </a:p>
        </p:txBody>
      </p:sp>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534" y="3083744"/>
            <a:ext cx="8885238" cy="25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8882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652092"/>
            <a:ext cx="8401050" cy="288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193701" y="4036352"/>
            <a:ext cx="7804597" cy="369332"/>
          </a:xfrm>
          <a:prstGeom prst="rect">
            <a:avLst/>
          </a:prstGeom>
          <a:noFill/>
        </p:spPr>
        <p:txBody>
          <a:bodyPr wrap="square" rtlCol="0">
            <a:spAutoFit/>
          </a:bodyPr>
          <a:lstStyle/>
          <a:p>
            <a:pPr algn="ctr"/>
            <a:r>
              <a:rPr lang="en-IN" dirty="0"/>
              <a:t>Types of Digital-to-Analog Conversion</a:t>
            </a:r>
          </a:p>
        </p:txBody>
      </p:sp>
      <p:sp>
        <p:nvSpPr>
          <p:cNvPr id="6" name="TextBox 5"/>
          <p:cNvSpPr txBox="1"/>
          <p:nvPr/>
        </p:nvSpPr>
        <p:spPr>
          <a:xfrm>
            <a:off x="0" y="5640946"/>
            <a:ext cx="12192000" cy="83099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IN" sz="2400" dirty="0"/>
              <a:t>If we change the amplitude, phase or frequency of a sine wave, a different version of the wave can be created.</a:t>
            </a:r>
          </a:p>
        </p:txBody>
      </p:sp>
    </p:spTree>
    <p:extLst>
      <p:ext uri="{BB962C8B-B14F-4D97-AF65-F5344CB8AC3E}">
        <p14:creationId xmlns:p14="http://schemas.microsoft.com/office/powerpoint/2010/main" val="149059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Digital-to-Analog Conversion: Aspects</a:t>
            </a:r>
          </a:p>
        </p:txBody>
      </p:sp>
      <p:sp>
        <p:nvSpPr>
          <p:cNvPr id="3" name="Content Placeholder 2"/>
          <p:cNvSpPr>
            <a:spLocks noGrp="1"/>
          </p:cNvSpPr>
          <p:nvPr>
            <p:ph idx="1"/>
          </p:nvPr>
        </p:nvSpPr>
        <p:spPr>
          <a:xfrm>
            <a:off x="941271" y="2196628"/>
            <a:ext cx="8770571" cy="4374769"/>
          </a:xfrm>
        </p:spPr>
        <p:txBody>
          <a:bodyPr/>
          <a:lstStyle/>
          <a:p>
            <a:r>
              <a:rPr lang="en-IN" dirty="0">
                <a:solidFill>
                  <a:srgbClr val="00B050"/>
                </a:solidFill>
              </a:rPr>
              <a:t>Data Element versus Signal Element</a:t>
            </a:r>
          </a:p>
          <a:p>
            <a:pPr lvl="1"/>
            <a:r>
              <a:rPr lang="en-IN" dirty="0"/>
              <a:t>Smallest piece of information to be exchanged is data element</a:t>
            </a:r>
          </a:p>
          <a:p>
            <a:pPr lvl="1"/>
            <a:r>
              <a:rPr lang="en-IN" dirty="0"/>
              <a:t>Smallest unit of a signal </a:t>
            </a:r>
            <a:r>
              <a:rPr lang="en-IN" dirty="0">
                <a:solidFill>
                  <a:srgbClr val="FF0000"/>
                </a:solidFill>
              </a:rPr>
              <a:t>that is constant </a:t>
            </a:r>
            <a:r>
              <a:rPr lang="en-IN" dirty="0"/>
              <a:t>is signal element</a:t>
            </a:r>
          </a:p>
          <a:p>
            <a:r>
              <a:rPr lang="en-IN" dirty="0">
                <a:solidFill>
                  <a:srgbClr val="00B050"/>
                </a:solidFill>
              </a:rPr>
              <a:t>Data Rate versus Signal Rate</a:t>
            </a:r>
          </a:p>
          <a:p>
            <a:pPr lvl="1"/>
            <a:r>
              <a:rPr lang="en-IN" dirty="0"/>
              <a:t>S = N x 1/r </a:t>
            </a:r>
          </a:p>
          <a:p>
            <a:pPr lvl="1"/>
            <a:r>
              <a:rPr lang="en-IN" dirty="0"/>
              <a:t>N is data rate (bps) and r is the number of data elements carried in one signal element</a:t>
            </a:r>
          </a:p>
          <a:p>
            <a:pPr lvl="1"/>
            <a:r>
              <a:rPr lang="en-IN" dirty="0"/>
              <a:t>r = log</a:t>
            </a:r>
            <a:r>
              <a:rPr lang="en-IN" baseline="-25000" dirty="0"/>
              <a:t>2</a:t>
            </a:r>
            <a:r>
              <a:rPr lang="en-IN" dirty="0"/>
              <a:t> L</a:t>
            </a:r>
          </a:p>
          <a:p>
            <a:pPr lvl="1"/>
            <a:r>
              <a:rPr lang="en-IN" dirty="0"/>
              <a:t>L is the number of different signal elements</a:t>
            </a:r>
          </a:p>
        </p:txBody>
      </p:sp>
      <p:sp>
        <p:nvSpPr>
          <p:cNvPr id="4" name="TextBox 3"/>
          <p:cNvSpPr txBox="1"/>
          <p:nvPr/>
        </p:nvSpPr>
        <p:spPr>
          <a:xfrm>
            <a:off x="0" y="5288340"/>
            <a:ext cx="12192000" cy="156966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2400" dirty="0"/>
              <a:t>Bit rate, N, is the number of bits per second (bps). Baud rate is the number of signal</a:t>
            </a:r>
          </a:p>
          <a:p>
            <a:pPr algn="ctr"/>
            <a:r>
              <a:rPr lang="en-US" sz="2400" dirty="0"/>
              <a:t>elements per second (bauds). </a:t>
            </a:r>
          </a:p>
          <a:p>
            <a:pPr algn="ctr"/>
            <a:r>
              <a:rPr lang="en-US" sz="2400" dirty="0"/>
              <a:t>In the analog transmission of digital data, the signal or baud rate is less than </a:t>
            </a:r>
            <a:br>
              <a:rPr lang="en-US" sz="2400" dirty="0"/>
            </a:br>
            <a:r>
              <a:rPr lang="en-US" sz="2400" dirty="0"/>
              <a:t>or equal to the bit rate.</a:t>
            </a:r>
          </a:p>
        </p:txBody>
      </p:sp>
    </p:spTree>
    <p:extLst>
      <p:ext uri="{BB962C8B-B14F-4D97-AF65-F5344CB8AC3E}">
        <p14:creationId xmlns:p14="http://schemas.microsoft.com/office/powerpoint/2010/main" val="2116132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3436" y="156573"/>
            <a:ext cx="11569521" cy="369332"/>
          </a:xfrm>
          <a:prstGeom prst="rect">
            <a:avLst/>
          </a:prstGeom>
        </p:spPr>
        <p:txBody>
          <a:bodyPr wrap="square">
            <a:spAutoFit/>
          </a:bodyPr>
          <a:lstStyle/>
          <a:p>
            <a:r>
              <a:rPr lang="en-US" b="1" i="1" dirty="0">
                <a:latin typeface="Times New Roman" panose="02020603050405020304" pitchFamily="18" charset="0"/>
              </a:rPr>
              <a:t>An analog signal carries 4 bits per signal element. If 1000 signal elements are sent per second, find the bit rate.</a:t>
            </a:r>
            <a:endParaRPr lang="en-IN" b="1" dirty="0"/>
          </a:p>
        </p:txBody>
      </p:sp>
      <p:sp>
        <p:nvSpPr>
          <p:cNvPr id="5" name="Rectangle 4"/>
          <p:cNvSpPr/>
          <p:nvPr/>
        </p:nvSpPr>
        <p:spPr>
          <a:xfrm>
            <a:off x="1373746" y="816563"/>
            <a:ext cx="9071020" cy="369332"/>
          </a:xfrm>
          <a:prstGeom prst="rect">
            <a:avLst/>
          </a:prstGeom>
        </p:spPr>
        <p:txBody>
          <a:bodyPr wrap="square">
            <a:spAutoFit/>
          </a:bodyPr>
          <a:lstStyle/>
          <a:p>
            <a:r>
              <a:rPr lang="en-US" i="1" dirty="0">
                <a:latin typeface="Times" panose="02020603050405020304" pitchFamily="18" charset="0"/>
              </a:rPr>
              <a:t>In this case, r = 4, S = 1000, and N is unknown. We can find the value of N from</a:t>
            </a:r>
          </a:p>
        </p:txBody>
      </p:sp>
      <p:pic>
        <p:nvPicPr>
          <p:cNvPr id="6"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187" y="1476553"/>
            <a:ext cx="6434137" cy="5667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343436" y="2732204"/>
            <a:ext cx="10877558" cy="646331"/>
          </a:xfrm>
          <a:prstGeom prst="rect">
            <a:avLst/>
          </a:prstGeom>
        </p:spPr>
        <p:txBody>
          <a:bodyPr wrap="square">
            <a:spAutoFit/>
          </a:bodyPr>
          <a:lstStyle/>
          <a:p>
            <a:pPr algn="just"/>
            <a:r>
              <a:rPr lang="en-US" b="1" i="1" dirty="0">
                <a:latin typeface="Times New Roman" panose="02020603050405020304" pitchFamily="18" charset="0"/>
              </a:rPr>
              <a:t>An analog signal has a bit rate of 8000 bps and a baud rate of 1000 baud. How many data elements are carried by each signal element? How many signal elements do we need?</a:t>
            </a:r>
          </a:p>
        </p:txBody>
      </p:sp>
      <p:sp>
        <p:nvSpPr>
          <p:cNvPr id="8" name="Rectangle 7"/>
          <p:cNvSpPr/>
          <p:nvPr/>
        </p:nvSpPr>
        <p:spPr>
          <a:xfrm>
            <a:off x="1373745" y="3744283"/>
            <a:ext cx="8723843" cy="646331"/>
          </a:xfrm>
          <a:prstGeom prst="rect">
            <a:avLst/>
          </a:prstGeom>
        </p:spPr>
        <p:txBody>
          <a:bodyPr wrap="square">
            <a:spAutoFit/>
          </a:bodyPr>
          <a:lstStyle/>
          <a:p>
            <a:pPr algn="just"/>
            <a:r>
              <a:rPr lang="en-US" i="1" dirty="0">
                <a:latin typeface="Times" panose="02020603050405020304" pitchFamily="18" charset="0"/>
              </a:rPr>
              <a:t>In this example, S = 1000, N = 8000, and r and L are unknown. We find first the value of r and then the value of L.</a:t>
            </a:r>
          </a:p>
        </p:txBody>
      </p:sp>
      <p:pic>
        <p:nvPicPr>
          <p:cNvPr id="9"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834" y="4756362"/>
            <a:ext cx="5427663" cy="10445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507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Digital-to-Analog Conversion: Aspects</a:t>
            </a:r>
          </a:p>
        </p:txBody>
      </p:sp>
      <p:sp>
        <p:nvSpPr>
          <p:cNvPr id="3" name="Content Placeholder 2"/>
          <p:cNvSpPr>
            <a:spLocks noGrp="1"/>
          </p:cNvSpPr>
          <p:nvPr>
            <p:ph idx="1"/>
          </p:nvPr>
        </p:nvSpPr>
        <p:spPr>
          <a:xfrm>
            <a:off x="1097280" y="2042434"/>
            <a:ext cx="10058400" cy="4637499"/>
          </a:xfrm>
        </p:spPr>
        <p:txBody>
          <a:bodyPr/>
          <a:lstStyle/>
          <a:p>
            <a:r>
              <a:rPr lang="en-IN" dirty="0">
                <a:solidFill>
                  <a:srgbClr val="00B050"/>
                </a:solidFill>
              </a:rPr>
              <a:t>Bandwidth</a:t>
            </a:r>
          </a:p>
          <a:p>
            <a:pPr lvl="1"/>
            <a:r>
              <a:rPr lang="en-IN" dirty="0"/>
              <a:t>Required bandwidth is proportional to the signal rate except for FSK in which, the difference between the carrier signals needs to be added</a:t>
            </a:r>
          </a:p>
          <a:p>
            <a:r>
              <a:rPr lang="en-IN" dirty="0">
                <a:solidFill>
                  <a:srgbClr val="00B050"/>
                </a:solidFill>
              </a:rPr>
              <a:t>Carrier Signal</a:t>
            </a:r>
          </a:p>
          <a:p>
            <a:pPr lvl="1"/>
            <a:r>
              <a:rPr lang="en-IN" dirty="0"/>
              <a:t>Sending device produces a high-frequency signal that acts as a base for the information signal</a:t>
            </a:r>
          </a:p>
          <a:p>
            <a:pPr lvl="1"/>
            <a:r>
              <a:rPr lang="en-IN" dirty="0"/>
              <a:t>Receiving device is tuned to the frequency of the carrier signal that it expects from the sender</a:t>
            </a:r>
          </a:p>
          <a:p>
            <a:pPr lvl="1"/>
            <a:r>
              <a:rPr lang="en-IN" dirty="0"/>
              <a:t>This base signal is called </a:t>
            </a:r>
            <a:r>
              <a:rPr lang="en-IN" dirty="0">
                <a:solidFill>
                  <a:srgbClr val="FF0000"/>
                </a:solidFill>
              </a:rPr>
              <a:t>carrier signal </a:t>
            </a:r>
            <a:r>
              <a:rPr lang="en-IN" dirty="0"/>
              <a:t>or</a:t>
            </a:r>
            <a:r>
              <a:rPr lang="en-IN" dirty="0">
                <a:solidFill>
                  <a:srgbClr val="FF0000"/>
                </a:solidFill>
              </a:rPr>
              <a:t> carrier frequency</a:t>
            </a:r>
          </a:p>
          <a:p>
            <a:pPr lvl="1"/>
            <a:r>
              <a:rPr lang="en-IN" dirty="0"/>
              <a:t>Digital information then changes the carrier signal by modifying one or more of its characteristics (amplitude, frequency or phase)</a:t>
            </a:r>
          </a:p>
          <a:p>
            <a:pPr lvl="2"/>
            <a:r>
              <a:rPr lang="en-IN" sz="1800" dirty="0"/>
              <a:t>Called</a:t>
            </a:r>
            <a:r>
              <a:rPr lang="en-IN" dirty="0">
                <a:solidFill>
                  <a:srgbClr val="FF0000"/>
                </a:solidFill>
              </a:rPr>
              <a:t> </a:t>
            </a:r>
            <a:r>
              <a:rPr lang="en-IN" sz="1800" dirty="0">
                <a:solidFill>
                  <a:srgbClr val="FF0000"/>
                </a:solidFill>
              </a:rPr>
              <a:t>modulation</a:t>
            </a:r>
            <a:endParaRPr lang="en-IN" dirty="0">
              <a:solidFill>
                <a:srgbClr val="FF0000"/>
              </a:solidFill>
            </a:endParaRPr>
          </a:p>
        </p:txBody>
      </p:sp>
    </p:spTree>
    <p:extLst>
      <p:ext uri="{BB962C8B-B14F-4D97-AF65-F5344CB8AC3E}">
        <p14:creationId xmlns:p14="http://schemas.microsoft.com/office/powerpoint/2010/main" val="1651837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Digital-to-</a:t>
            </a:r>
            <a:r>
              <a:rPr lang="en-IN" dirty="0" err="1"/>
              <a:t>analog</a:t>
            </a:r>
            <a:r>
              <a:rPr lang="en-IN" dirty="0"/>
              <a:t> conversion: Amplitude Shift Keying (ASK)</a:t>
            </a:r>
          </a:p>
        </p:txBody>
      </p:sp>
      <p:sp>
        <p:nvSpPr>
          <p:cNvPr id="3" name="Content Placeholder 2"/>
          <p:cNvSpPr>
            <a:spLocks noGrp="1"/>
          </p:cNvSpPr>
          <p:nvPr>
            <p:ph idx="1"/>
          </p:nvPr>
        </p:nvSpPr>
        <p:spPr/>
        <p:txBody>
          <a:bodyPr>
            <a:normAutofit/>
          </a:bodyPr>
          <a:lstStyle/>
          <a:p>
            <a:r>
              <a:rPr lang="en-IN" dirty="0"/>
              <a:t>Amplitude is varied to create signal elements</a:t>
            </a:r>
          </a:p>
          <a:p>
            <a:r>
              <a:rPr lang="en-IN" dirty="0">
                <a:solidFill>
                  <a:srgbClr val="00B050"/>
                </a:solidFill>
              </a:rPr>
              <a:t>Binary ASK (BASK) </a:t>
            </a:r>
            <a:r>
              <a:rPr lang="en-IN" sz="1800" dirty="0"/>
              <a:t>or</a:t>
            </a:r>
            <a:r>
              <a:rPr lang="en-IN" dirty="0">
                <a:solidFill>
                  <a:srgbClr val="00B050"/>
                </a:solidFill>
              </a:rPr>
              <a:t> ON-OFF Keying (OOK)</a:t>
            </a:r>
          </a:p>
          <a:p>
            <a:pPr lvl="1"/>
            <a:r>
              <a:rPr lang="en-IN" dirty="0"/>
              <a:t>ASK is normally implemented using only two levels</a:t>
            </a:r>
          </a:p>
          <a:p>
            <a:pPr lvl="1"/>
            <a:r>
              <a:rPr lang="en-IN" dirty="0"/>
              <a:t> The peak amplitude of one signal level is 0; the other is the same as the amplitude of the carrier frequency</a:t>
            </a:r>
          </a:p>
        </p:txBody>
      </p:sp>
    </p:spTree>
    <p:extLst>
      <p:ext uri="{BB962C8B-B14F-4D97-AF65-F5344CB8AC3E}">
        <p14:creationId xmlns:p14="http://schemas.microsoft.com/office/powerpoint/2010/main" val="173393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6316" y="30076"/>
            <a:ext cx="8629650" cy="235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765243" y="2332590"/>
            <a:ext cx="6191795" cy="369332"/>
          </a:xfrm>
          <a:prstGeom prst="rect">
            <a:avLst/>
          </a:prstGeom>
          <a:noFill/>
        </p:spPr>
        <p:txBody>
          <a:bodyPr wrap="square" rtlCol="0">
            <a:spAutoFit/>
          </a:bodyPr>
          <a:lstStyle/>
          <a:p>
            <a:pPr algn="ctr"/>
            <a:r>
              <a:rPr lang="en-IN" dirty="0"/>
              <a:t>Binary Amplitude Shift Keying</a:t>
            </a:r>
          </a:p>
        </p:txBody>
      </p:sp>
      <p:sp>
        <p:nvSpPr>
          <p:cNvPr id="6" name="Rectangle 5"/>
          <p:cNvSpPr/>
          <p:nvPr/>
        </p:nvSpPr>
        <p:spPr>
          <a:xfrm>
            <a:off x="170329" y="3030632"/>
            <a:ext cx="12192000" cy="3701013"/>
          </a:xfrm>
          <a:prstGeom prst="rect">
            <a:avLst/>
          </a:prstGeom>
        </p:spPr>
        <p:txBody>
          <a:bodyPr wrap="square">
            <a:spAutoFit/>
          </a:bodyPr>
          <a:lstStyle/>
          <a:p>
            <a:pPr marL="285750" indent="-285750">
              <a:buFont typeface="Arial" panose="020B0604020202020204" pitchFamily="34" charset="0"/>
              <a:buChar char="•"/>
            </a:pPr>
            <a:r>
              <a:rPr lang="en-IN" sz="2000" dirty="0">
                <a:solidFill>
                  <a:srgbClr val="00B050"/>
                </a:solidFill>
              </a:rPr>
              <a:t>Bandwidth</a:t>
            </a:r>
            <a:r>
              <a:rPr lang="en-IN" dirty="0">
                <a:solidFill>
                  <a:srgbClr val="00B050"/>
                </a:solidFill>
              </a:rPr>
              <a:t> </a:t>
            </a:r>
          </a:p>
          <a:p>
            <a:pPr marL="640080" lvl="1" indent="-320040" defTabSz="914400">
              <a:spcBef>
                <a:spcPts val="930"/>
              </a:spcBef>
              <a:buFont typeface="Corbel" panose="020B0503020204020204" pitchFamily="34" charset="0"/>
              <a:buChar char="–"/>
            </a:pPr>
            <a:r>
              <a:rPr lang="en-US" dirty="0">
                <a:solidFill>
                  <a:srgbClr val="FF0000"/>
                </a:solidFill>
              </a:rPr>
              <a:t>In BASK, the carrier is either </a:t>
            </a:r>
            <a:r>
              <a:rPr lang="en-US" b="1" dirty="0">
                <a:solidFill>
                  <a:srgbClr val="FF0000"/>
                </a:solidFill>
              </a:rPr>
              <a:t>on (1)</a:t>
            </a:r>
            <a:r>
              <a:rPr lang="en-US" dirty="0">
                <a:solidFill>
                  <a:srgbClr val="FF0000"/>
                </a:solidFill>
              </a:rPr>
              <a:t> or </a:t>
            </a:r>
            <a:r>
              <a:rPr lang="en-US" b="1" dirty="0">
                <a:solidFill>
                  <a:srgbClr val="FF0000"/>
                </a:solidFill>
              </a:rPr>
              <a:t>off (0)</a:t>
            </a:r>
            <a:r>
              <a:rPr lang="en-US" dirty="0">
                <a:solidFill>
                  <a:srgbClr val="FF0000"/>
                </a:solidFill>
              </a:rPr>
              <a:t>, meaning the modulated signal switches between the carrier and zero amplitude. This sudden switching introduces sharp transitions in the time domain, which translates to higher-frequency components in the frequency domain — increasing the bandwidth.</a:t>
            </a:r>
            <a:endParaRPr lang="en-IN" dirty="0">
              <a:solidFill>
                <a:srgbClr val="FF0000"/>
              </a:solidFill>
            </a:endParaRP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Process of modulation produces a nonperiodic composite signal</a:t>
            </a: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Bandwidth is proportional to signal rate (baud rate)</a:t>
            </a: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Normally there is another factor involved, called d, which depends on modulation</a:t>
            </a: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Value of d is between 0 and 1</a:t>
            </a: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Middle of the bandwidth is where </a:t>
            </a:r>
            <a:r>
              <a:rPr lang="en-IN" i="1" dirty="0">
                <a:solidFill>
                  <a:schemeClr val="tx2">
                    <a:lumMod val="75000"/>
                    <a:lumOff val="25000"/>
                  </a:schemeClr>
                </a:solidFill>
              </a:rPr>
              <a:t>f</a:t>
            </a:r>
            <a:r>
              <a:rPr lang="en-IN" i="1" baseline="-25000" dirty="0">
                <a:solidFill>
                  <a:schemeClr val="tx2">
                    <a:lumMod val="75000"/>
                    <a:lumOff val="25000"/>
                  </a:schemeClr>
                </a:solidFill>
              </a:rPr>
              <a:t>c</a:t>
            </a:r>
            <a:r>
              <a:rPr lang="en-IN" dirty="0">
                <a:solidFill>
                  <a:schemeClr val="tx2">
                    <a:lumMod val="75000"/>
                    <a:lumOff val="25000"/>
                  </a:schemeClr>
                </a:solidFill>
              </a:rPr>
              <a:t>, the carrier frequency is located</a:t>
            </a: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If we have </a:t>
            </a:r>
            <a:r>
              <a:rPr lang="en-IN" dirty="0" err="1">
                <a:solidFill>
                  <a:schemeClr val="tx2">
                    <a:lumMod val="75000"/>
                    <a:lumOff val="25000"/>
                  </a:schemeClr>
                </a:solidFill>
              </a:rPr>
              <a:t>bandpass</a:t>
            </a:r>
            <a:r>
              <a:rPr lang="en-IN" dirty="0">
                <a:solidFill>
                  <a:schemeClr val="tx2">
                    <a:lumMod val="75000"/>
                    <a:lumOff val="25000"/>
                  </a:schemeClr>
                </a:solidFill>
              </a:rPr>
              <a:t> channel, we can choose our fc so that modulated signal occupies the bandwidth</a:t>
            </a:r>
          </a:p>
        </p:txBody>
      </p:sp>
      <p:sp>
        <p:nvSpPr>
          <p:cNvPr id="7" name="TextBox 6"/>
          <p:cNvSpPr txBox="1"/>
          <p:nvPr/>
        </p:nvSpPr>
        <p:spPr>
          <a:xfrm>
            <a:off x="0" y="6012549"/>
            <a:ext cx="12192000" cy="83099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IN" sz="2400" dirty="0"/>
              <a:t>Bandwidth B = (1 + d) X S</a:t>
            </a:r>
          </a:p>
          <a:p>
            <a:pPr algn="ctr"/>
            <a:r>
              <a:rPr lang="en-IN" sz="2400" dirty="0" err="1"/>
              <a:t>B</a:t>
            </a:r>
            <a:r>
              <a:rPr lang="en-IN" sz="2400" baseline="-25000" dirty="0" err="1"/>
              <a:t>min</a:t>
            </a:r>
            <a:r>
              <a:rPr lang="en-IN" sz="2400" dirty="0"/>
              <a:t> = S and </a:t>
            </a:r>
            <a:r>
              <a:rPr lang="en-IN" sz="2400" dirty="0" err="1"/>
              <a:t>B</a:t>
            </a:r>
            <a:r>
              <a:rPr lang="en-IN" sz="2400" baseline="-25000" dirty="0" err="1"/>
              <a:t>max</a:t>
            </a:r>
            <a:r>
              <a:rPr lang="en-IN" sz="2400" dirty="0"/>
              <a:t> = 2S</a:t>
            </a:r>
          </a:p>
        </p:txBody>
      </p:sp>
    </p:spTree>
    <p:extLst>
      <p:ext uri="{BB962C8B-B14F-4D97-AF65-F5344CB8AC3E}">
        <p14:creationId xmlns:p14="http://schemas.microsoft.com/office/powerpoint/2010/main" val="3236499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148705"/>
            <a:ext cx="8255000" cy="23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546918" y="2704011"/>
            <a:ext cx="8321040" cy="369332"/>
          </a:xfrm>
          <a:prstGeom prst="rect">
            <a:avLst/>
          </a:prstGeom>
          <a:noFill/>
        </p:spPr>
        <p:txBody>
          <a:bodyPr wrap="square" rtlCol="0">
            <a:spAutoFit/>
          </a:bodyPr>
          <a:lstStyle/>
          <a:p>
            <a:pPr algn="ctr"/>
            <a:r>
              <a:rPr lang="en-IN" dirty="0"/>
              <a:t>Implementation of Binary ASK</a:t>
            </a:r>
          </a:p>
        </p:txBody>
      </p:sp>
      <p:sp>
        <p:nvSpPr>
          <p:cNvPr id="4" name="TextBox 3"/>
          <p:cNvSpPr txBox="1"/>
          <p:nvPr/>
        </p:nvSpPr>
        <p:spPr>
          <a:xfrm>
            <a:off x="1272235" y="3510170"/>
            <a:ext cx="8870405" cy="1546577"/>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00B050"/>
                </a:solidFill>
              </a:rPr>
              <a:t>Implementation</a:t>
            </a:r>
          </a:p>
          <a:p>
            <a:pPr marL="640080" lvl="1" indent="-320040" defTabSz="914400">
              <a:spcBef>
                <a:spcPts val="930"/>
              </a:spcBef>
              <a:buFont typeface="Corbel" panose="020B0503020204020204" pitchFamily="34" charset="0"/>
              <a:buChar char="–"/>
            </a:pPr>
            <a:r>
              <a:rPr lang="en-IN" dirty="0"/>
              <a:t>	</a:t>
            </a:r>
            <a:r>
              <a:rPr lang="en-IN" dirty="0">
                <a:solidFill>
                  <a:schemeClr val="tx2">
                    <a:lumMod val="75000"/>
                    <a:lumOff val="25000"/>
                  </a:schemeClr>
                </a:solidFill>
              </a:rPr>
              <a:t>Multiply the input NRZ digital signal by the carrier signal coming from an oscillator</a:t>
            </a: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	when amplitude of NRZ signal is 1, amplitude of carrier signal is held</a:t>
            </a:r>
          </a:p>
          <a:p>
            <a:pPr marL="640080" lvl="1" indent="-320040" defTabSz="914400">
              <a:spcBef>
                <a:spcPts val="930"/>
              </a:spcBef>
              <a:buFont typeface="Corbel" panose="020B0503020204020204" pitchFamily="34" charset="0"/>
              <a:buChar char="–"/>
            </a:pPr>
            <a:r>
              <a:rPr lang="en-IN" dirty="0">
                <a:solidFill>
                  <a:schemeClr val="tx2">
                    <a:lumMod val="75000"/>
                    <a:lumOff val="25000"/>
                  </a:schemeClr>
                </a:solidFill>
              </a:rPr>
              <a:t>	when amplitude of NRZ signal is 0, amplitude of carrier frequency is zero</a:t>
            </a:r>
          </a:p>
        </p:txBody>
      </p:sp>
      <p:sp>
        <p:nvSpPr>
          <p:cNvPr id="5" name="TextBox 4"/>
          <p:cNvSpPr txBox="1"/>
          <p:nvPr/>
        </p:nvSpPr>
        <p:spPr>
          <a:xfrm>
            <a:off x="0" y="5651361"/>
            <a:ext cx="12192000" cy="1200329"/>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IN" sz="2400" dirty="0"/>
              <a:t>We can use 4, 8, 16 or more different amplitudes for signal and modulate the data using 2, 3, 4 or more bits at a time. This is Multilevel ASK. It is not implemented using pure ASK, it is implemented using Quadrature Amplitude Modulation (QAM).</a:t>
            </a:r>
          </a:p>
        </p:txBody>
      </p:sp>
    </p:spTree>
    <p:extLst>
      <p:ext uri="{BB962C8B-B14F-4D97-AF65-F5344CB8AC3E}">
        <p14:creationId xmlns:p14="http://schemas.microsoft.com/office/powerpoint/2010/main" val="202749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5063" y="354763"/>
            <a:ext cx="10877006" cy="873572"/>
          </a:xfrm>
          <a:prstGeom prst="rect">
            <a:avLst/>
          </a:prstGeom>
        </p:spPr>
        <p:txBody>
          <a:bodyPr wrap="square">
            <a:spAutoFit/>
          </a:bodyPr>
          <a:lstStyle/>
          <a:p>
            <a:pPr algn="just">
              <a:lnSpc>
                <a:spcPct val="150000"/>
              </a:lnSpc>
            </a:pPr>
            <a:r>
              <a:rPr lang="en-US" b="1" i="1" dirty="0">
                <a:latin typeface="Times New Roman" panose="02020603050405020304" pitchFamily="18" charset="0"/>
              </a:rPr>
              <a:t>We have an available bandwidth of 100 kHz which spans from 200 to 300 kHz. What are the carrier frequency and the bit rate if we modulated our data by using ASK with d = 1?</a:t>
            </a:r>
          </a:p>
        </p:txBody>
      </p:sp>
      <p:sp>
        <p:nvSpPr>
          <p:cNvPr id="3" name="Rectangle 2"/>
          <p:cNvSpPr/>
          <p:nvPr/>
        </p:nvSpPr>
        <p:spPr>
          <a:xfrm>
            <a:off x="1319349" y="1209042"/>
            <a:ext cx="9431382" cy="923330"/>
          </a:xfrm>
          <a:prstGeom prst="rect">
            <a:avLst/>
          </a:prstGeom>
        </p:spPr>
        <p:txBody>
          <a:bodyPr wrap="square">
            <a:spAutoFit/>
          </a:bodyPr>
          <a:lstStyle/>
          <a:p>
            <a:pPr algn="just">
              <a:lnSpc>
                <a:spcPct val="150000"/>
              </a:lnSpc>
            </a:pPr>
            <a:r>
              <a:rPr lang="en-US" i="1" dirty="0">
                <a:latin typeface="Times" panose="02020603050405020304" pitchFamily="18" charset="0"/>
              </a:rPr>
              <a:t>The middle of the bandwidth is located at 250 kHz. This means that our carrier frequency can be at f</a:t>
            </a:r>
            <a:r>
              <a:rPr lang="en-US" i="1" baseline="-25000" dirty="0">
                <a:latin typeface="Times" panose="02020603050405020304" pitchFamily="18" charset="0"/>
              </a:rPr>
              <a:t>c</a:t>
            </a:r>
            <a:r>
              <a:rPr lang="en-US" i="1" dirty="0">
                <a:latin typeface="Times" panose="02020603050405020304" pitchFamily="18" charset="0"/>
              </a:rPr>
              <a:t> = 250 kHz. We can use the formula for bandwidth to find the bit rate (with d = 1 and r = 1).</a:t>
            </a:r>
          </a:p>
        </p:txBody>
      </p:sp>
      <p:pic>
        <p:nvPicPr>
          <p:cNvPr id="4"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541" y="2277288"/>
            <a:ext cx="7766050" cy="57626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75063" y="3211873"/>
            <a:ext cx="10877006" cy="1754326"/>
          </a:xfrm>
          <a:prstGeom prst="rect">
            <a:avLst/>
          </a:prstGeom>
        </p:spPr>
        <p:txBody>
          <a:bodyPr wrap="square">
            <a:spAutoFit/>
          </a:bodyPr>
          <a:lstStyle/>
          <a:p>
            <a:pPr algn="just">
              <a:lnSpc>
                <a:spcPct val="150000"/>
              </a:lnSpc>
            </a:pPr>
            <a:r>
              <a:rPr lang="en-US" b="1" i="1" dirty="0">
                <a:latin typeface="Times New Roman" panose="02020603050405020304" pitchFamily="18" charset="0"/>
              </a:rPr>
              <a:t>In data communications, we normally use full-duplex links with communication in both directions. We need to divide the bandwidth into two with two carrier frequencies, as shown in Figure. The figure shows the positions of two carrier frequencies and the bandwidths. The available bandwidth for each direction is now 50 kHz, which leaves us with a data rate of 25 kbps in each direction.</a:t>
            </a:r>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5527" y="4966199"/>
            <a:ext cx="4899025" cy="166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687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Digital-to-Analog Conversion: Frequency Shift Keying (FSK)</a:t>
            </a:r>
          </a:p>
        </p:txBody>
      </p:sp>
      <p:sp>
        <p:nvSpPr>
          <p:cNvPr id="3" name="Content Placeholder 2"/>
          <p:cNvSpPr>
            <a:spLocks noGrp="1"/>
          </p:cNvSpPr>
          <p:nvPr>
            <p:ph idx="1"/>
          </p:nvPr>
        </p:nvSpPr>
        <p:spPr/>
        <p:txBody>
          <a:bodyPr/>
          <a:lstStyle/>
          <a:p>
            <a:r>
              <a:rPr lang="en-IN" dirty="0"/>
              <a:t>Frequency of the carrier signal is varied to represent data</a:t>
            </a:r>
          </a:p>
          <a:p>
            <a:r>
              <a:rPr lang="en-IN" dirty="0"/>
              <a:t>Frequency of the modulated signal is constant for the duration of one signal element, but changes for the next signal element if the data element changes</a:t>
            </a:r>
          </a:p>
          <a:p>
            <a:r>
              <a:rPr lang="en-IN" dirty="0"/>
              <a:t>Both peak amplitude and phase remain constant for all signal elements</a:t>
            </a:r>
          </a:p>
          <a:p>
            <a:r>
              <a:rPr lang="en-US" dirty="0"/>
              <a:t>The digital data stream changes the frequency of the carrier signal, f</a:t>
            </a:r>
            <a:r>
              <a:rPr lang="en-US" baseline="-25000" dirty="0"/>
              <a:t>c</a:t>
            </a:r>
          </a:p>
          <a:p>
            <a:r>
              <a:rPr lang="en-US" dirty="0"/>
              <a:t>a “1” could be represented by f</a:t>
            </a:r>
            <a:r>
              <a:rPr lang="en-US" baseline="-25000" dirty="0"/>
              <a:t>1</a:t>
            </a:r>
            <a:r>
              <a:rPr lang="en-US" dirty="0"/>
              <a:t>=f</a:t>
            </a:r>
            <a:r>
              <a:rPr lang="en-US" baseline="-25000" dirty="0"/>
              <a:t>c</a:t>
            </a:r>
            <a:r>
              <a:rPr lang="en-US" dirty="0"/>
              <a:t> +</a:t>
            </a:r>
            <a:r>
              <a:rPr lang="en-US" dirty="0">
                <a:latin typeface="Symbol" panose="05050102010706020507" pitchFamily="18" charset="2"/>
                <a:sym typeface="Symbol" panose="05050102010706020507" pitchFamily="18" charset="2"/>
              </a:rPr>
              <a:t></a:t>
            </a:r>
            <a:r>
              <a:rPr lang="en-US" baseline="-25000" dirty="0"/>
              <a:t>f</a:t>
            </a:r>
            <a:r>
              <a:rPr lang="en-US" dirty="0"/>
              <a:t>, and a “0” could be represented by f</a:t>
            </a:r>
            <a:r>
              <a:rPr lang="en-US" baseline="-25000" dirty="0"/>
              <a:t>2</a:t>
            </a:r>
            <a:r>
              <a:rPr lang="en-US" dirty="0"/>
              <a:t>=f</a:t>
            </a:r>
            <a:r>
              <a:rPr lang="en-US" baseline="-25000" dirty="0"/>
              <a:t>c</a:t>
            </a:r>
            <a:r>
              <a:rPr lang="en-US" dirty="0"/>
              <a:t>-</a:t>
            </a:r>
            <a:r>
              <a:rPr lang="en-US" dirty="0">
                <a:latin typeface="Symbol" panose="05050102010706020507" pitchFamily="18" charset="2"/>
                <a:sym typeface="Symbol" panose="05050102010706020507" pitchFamily="18" charset="2"/>
              </a:rPr>
              <a:t></a:t>
            </a:r>
            <a:r>
              <a:rPr lang="en-US" baseline="-25000" dirty="0"/>
              <a:t>f</a:t>
            </a:r>
            <a:endParaRPr lang="en-IN" baseline="-25000" dirty="0"/>
          </a:p>
        </p:txBody>
      </p:sp>
    </p:spTree>
    <p:extLst>
      <p:ext uri="{BB962C8B-B14F-4D97-AF65-F5344CB8AC3E}">
        <p14:creationId xmlns:p14="http://schemas.microsoft.com/office/powerpoint/2010/main" val="1896787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41" y="515692"/>
            <a:ext cx="8637587" cy="266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214235" y="3310740"/>
            <a:ext cx="7028597" cy="369332"/>
          </a:xfrm>
          <a:prstGeom prst="rect">
            <a:avLst/>
          </a:prstGeom>
          <a:noFill/>
        </p:spPr>
        <p:txBody>
          <a:bodyPr wrap="square" rtlCol="0">
            <a:spAutoFit/>
          </a:bodyPr>
          <a:lstStyle/>
          <a:p>
            <a:pPr algn="ctr"/>
            <a:r>
              <a:rPr lang="en-IN" dirty="0"/>
              <a:t>Binary Phase Shift Keying (BFSK)</a:t>
            </a:r>
          </a:p>
        </p:txBody>
      </p:sp>
      <p:sp>
        <p:nvSpPr>
          <p:cNvPr id="6" name="TextBox 5"/>
          <p:cNvSpPr txBox="1"/>
          <p:nvPr/>
        </p:nvSpPr>
        <p:spPr>
          <a:xfrm>
            <a:off x="1409741" y="4356796"/>
            <a:ext cx="8279642" cy="1330942"/>
          </a:xfrm>
          <a:prstGeom prst="rect">
            <a:avLst/>
          </a:prstGeom>
          <a:noFill/>
        </p:spPr>
        <p:txBody>
          <a:bodyPr wrap="square" rtlCol="0">
            <a:spAutoFit/>
          </a:bodyPr>
          <a:lstStyle/>
          <a:p>
            <a:pPr marL="320040"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Middle of one bandwidth is f</a:t>
            </a:r>
            <a:r>
              <a:rPr lang="en-IN" sz="2000" baseline="-25000" dirty="0">
                <a:solidFill>
                  <a:schemeClr val="tx2">
                    <a:lumMod val="75000"/>
                    <a:lumOff val="25000"/>
                  </a:schemeClr>
                </a:solidFill>
              </a:rPr>
              <a:t>1</a:t>
            </a:r>
            <a:r>
              <a:rPr lang="en-IN" sz="2000" dirty="0">
                <a:solidFill>
                  <a:schemeClr val="tx2">
                    <a:lumMod val="75000"/>
                    <a:lumOff val="25000"/>
                  </a:schemeClr>
                </a:solidFill>
              </a:rPr>
              <a:t> and middle of another bandwidth is f</a:t>
            </a:r>
            <a:r>
              <a:rPr lang="en-IN" sz="2000" baseline="-25000" dirty="0">
                <a:solidFill>
                  <a:schemeClr val="tx2">
                    <a:lumMod val="75000"/>
                    <a:lumOff val="25000"/>
                  </a:schemeClr>
                </a:solidFill>
              </a:rPr>
              <a:t>2</a:t>
            </a:r>
          </a:p>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Difference between two frequencies is 2</a:t>
            </a:r>
            <a:r>
              <a:rPr lang="en-US" sz="2000" dirty="0">
                <a:solidFill>
                  <a:schemeClr val="tx2">
                    <a:lumMod val="75000"/>
                    <a:lumOff val="25000"/>
                  </a:schemeClr>
                </a:solidFill>
                <a:sym typeface="Symbol" panose="05050102010706020507" pitchFamily="18" charset="2"/>
              </a:rPr>
              <a:t></a:t>
            </a:r>
            <a:r>
              <a:rPr lang="en-US" sz="2000" baseline="-25000" dirty="0">
                <a:solidFill>
                  <a:schemeClr val="tx2">
                    <a:lumMod val="75000"/>
                    <a:lumOff val="25000"/>
                  </a:schemeClr>
                </a:solidFill>
              </a:rPr>
              <a:t>f</a:t>
            </a:r>
          </a:p>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Bandwidth is B = (1 + d) * S + 2 </a:t>
            </a:r>
            <a:r>
              <a:rPr lang="en-US" sz="2000" dirty="0">
                <a:solidFill>
                  <a:schemeClr val="tx2">
                    <a:lumMod val="75000"/>
                    <a:lumOff val="25000"/>
                  </a:schemeClr>
                </a:solidFill>
                <a:sym typeface="Symbol" panose="05050102010706020507" pitchFamily="18" charset="2"/>
              </a:rPr>
              <a:t></a:t>
            </a:r>
            <a:r>
              <a:rPr lang="en-US" sz="2000" baseline="-25000" dirty="0">
                <a:solidFill>
                  <a:schemeClr val="tx2">
                    <a:lumMod val="75000"/>
                    <a:lumOff val="25000"/>
                  </a:schemeClr>
                </a:solidFill>
                <a:latin typeface="Bookman Old Style" panose="02050604050505020204" pitchFamily="18" charset="0"/>
                <a:sym typeface="Symbol" panose="05050102010706020507" pitchFamily="18" charset="2"/>
              </a:rPr>
              <a:t>f</a:t>
            </a:r>
            <a:endParaRPr lang="en-IN" sz="2000" baseline="-25000" dirty="0">
              <a:solidFill>
                <a:schemeClr val="tx2">
                  <a:lumMod val="75000"/>
                  <a:lumOff val="25000"/>
                </a:schemeClr>
              </a:solidFill>
            </a:endParaRPr>
          </a:p>
        </p:txBody>
      </p:sp>
    </p:spTree>
    <p:extLst>
      <p:ext uri="{BB962C8B-B14F-4D97-AF65-F5344CB8AC3E}">
        <p14:creationId xmlns:p14="http://schemas.microsoft.com/office/powerpoint/2010/main" val="248164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6369" y="333318"/>
            <a:ext cx="10490579" cy="646331"/>
          </a:xfrm>
          <a:prstGeom prst="rect">
            <a:avLst/>
          </a:prstGeom>
        </p:spPr>
        <p:txBody>
          <a:bodyPr wrap="square">
            <a:spAutoFit/>
          </a:bodyPr>
          <a:lstStyle/>
          <a:p>
            <a:pPr algn="just"/>
            <a:r>
              <a:rPr lang="en-US" b="1" i="1" dirty="0">
                <a:latin typeface="Times New Roman" panose="02020603050405020304" pitchFamily="18" charset="0"/>
              </a:rPr>
              <a:t>We have an available bandwidth of 100 kHz which spans from 200 to 300 kHz. What should be the carrier frequency and the bit rate if we modulated our data by using FSK with d = 1?</a:t>
            </a:r>
          </a:p>
        </p:txBody>
      </p:sp>
      <p:sp>
        <p:nvSpPr>
          <p:cNvPr id="3" name="Rectangle 2"/>
          <p:cNvSpPr/>
          <p:nvPr/>
        </p:nvSpPr>
        <p:spPr>
          <a:xfrm>
            <a:off x="2229132" y="1132575"/>
            <a:ext cx="8225051" cy="369332"/>
          </a:xfrm>
          <a:prstGeom prst="rect">
            <a:avLst/>
          </a:prstGeom>
        </p:spPr>
        <p:txBody>
          <a:bodyPr wrap="square">
            <a:spAutoFit/>
          </a:bodyPr>
          <a:lstStyle/>
          <a:p>
            <a:pPr algn="just"/>
            <a:r>
              <a:rPr lang="en-US" i="1" dirty="0">
                <a:latin typeface="Times" panose="02020603050405020304" pitchFamily="18" charset="0"/>
              </a:rPr>
              <a:t>The midpoint of the band is at 250 kHz. We choose 2Δf to be 50 kHz; this means</a:t>
            </a:r>
          </a:p>
        </p:txBody>
      </p:sp>
      <p:pic>
        <p:nvPicPr>
          <p:cNvPr id="4"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9138" y="1638931"/>
            <a:ext cx="8193087" cy="35083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6246" y="2626916"/>
            <a:ext cx="8226425" cy="24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2317394" y="5018501"/>
            <a:ext cx="7124131" cy="369332"/>
          </a:xfrm>
          <a:prstGeom prst="rect">
            <a:avLst/>
          </a:prstGeom>
          <a:noFill/>
        </p:spPr>
        <p:txBody>
          <a:bodyPr wrap="square" rtlCol="0">
            <a:spAutoFit/>
          </a:bodyPr>
          <a:lstStyle/>
          <a:p>
            <a:pPr algn="ctr"/>
            <a:r>
              <a:rPr lang="en-IN" dirty="0"/>
              <a:t>Implementation of BFSK</a:t>
            </a:r>
          </a:p>
        </p:txBody>
      </p:sp>
    </p:spTree>
    <p:extLst>
      <p:ext uri="{BB962C8B-B14F-4D97-AF65-F5344CB8AC3E}">
        <p14:creationId xmlns:p14="http://schemas.microsoft.com/office/powerpoint/2010/main" val="352509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4318" y="328389"/>
            <a:ext cx="10736235" cy="3368614"/>
          </a:xfrm>
          <a:prstGeom prst="rect">
            <a:avLst/>
          </a:prstGeom>
          <a:noFill/>
        </p:spPr>
        <p:txBody>
          <a:bodyPr wrap="square" rtlCol="0">
            <a:spAutoFit/>
          </a:bodyPr>
          <a:lstStyle/>
          <a:p>
            <a:r>
              <a:rPr lang="en-IN" sz="2000" dirty="0">
                <a:solidFill>
                  <a:srgbClr val="00B050"/>
                </a:solidFill>
              </a:rPr>
              <a:t>Implementation</a:t>
            </a:r>
          </a:p>
          <a:p>
            <a:pPr marL="320040" indent="-320040" defTabSz="914400">
              <a:lnSpc>
                <a:spcPct val="111000"/>
              </a:lnSpc>
              <a:spcBef>
                <a:spcPts val="930"/>
              </a:spcBef>
              <a:buFont typeface="Corbel" panose="020B0503020204020204" pitchFamily="34" charset="0"/>
              <a:buChar char="–"/>
            </a:pPr>
            <a:r>
              <a:rPr lang="en-IN" sz="2000" dirty="0" err="1">
                <a:solidFill>
                  <a:schemeClr val="tx2">
                    <a:lumMod val="75000"/>
                    <a:lumOff val="25000"/>
                  </a:schemeClr>
                </a:solidFill>
              </a:rPr>
              <a:t>Noncoherent</a:t>
            </a:r>
            <a:r>
              <a:rPr lang="en-IN" sz="2000" dirty="0">
                <a:solidFill>
                  <a:schemeClr val="tx2">
                    <a:lumMod val="75000"/>
                    <a:lumOff val="25000"/>
                  </a:schemeClr>
                </a:solidFill>
              </a:rPr>
              <a:t> implementation</a:t>
            </a:r>
          </a:p>
          <a:p>
            <a:pPr marL="777240" lvl="2"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When we change from one frequency to the other, we do not adhere to the current phase of the signal</a:t>
            </a:r>
          </a:p>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Coherent implementation</a:t>
            </a:r>
          </a:p>
          <a:p>
            <a:pPr marL="777240" lvl="2"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The switch from one frequency signal to the other only occurs at the same phase in the signal</a:t>
            </a:r>
          </a:p>
          <a:p>
            <a:pPr marL="777240" lvl="2"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Implemented using one </a:t>
            </a:r>
            <a:r>
              <a:rPr lang="en-US" sz="2000" dirty="0">
                <a:solidFill>
                  <a:srgbClr val="FF0000"/>
                </a:solidFill>
              </a:rPr>
              <a:t>voltage-controlled-oscillator (VCO) </a:t>
            </a:r>
            <a:r>
              <a:rPr lang="en-US" sz="2000" dirty="0">
                <a:solidFill>
                  <a:schemeClr val="tx2">
                    <a:lumMod val="75000"/>
                    <a:lumOff val="25000"/>
                  </a:schemeClr>
                </a:solidFill>
              </a:rPr>
              <a:t>that changes its frequency according to input voltage</a:t>
            </a:r>
            <a:endParaRPr lang="en-IN" sz="2000" dirty="0">
              <a:solidFill>
                <a:schemeClr val="tx2">
                  <a:lumMod val="75000"/>
                  <a:lumOff val="25000"/>
                </a:schemeClr>
              </a:solidFill>
            </a:endParaRPr>
          </a:p>
        </p:txBody>
      </p:sp>
      <p:sp>
        <p:nvSpPr>
          <p:cNvPr id="5" name="TextBox 4"/>
          <p:cNvSpPr txBox="1"/>
          <p:nvPr/>
        </p:nvSpPr>
        <p:spPr>
          <a:xfrm>
            <a:off x="-4552" y="5582047"/>
            <a:ext cx="12192000" cy="83099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IN" sz="2400" dirty="0"/>
              <a:t>We can use more than 2 frequencies. Use f</a:t>
            </a:r>
            <a:r>
              <a:rPr lang="en-IN" sz="2400" baseline="-25000" dirty="0"/>
              <a:t>1</a:t>
            </a:r>
            <a:r>
              <a:rPr lang="en-IN" sz="2400" dirty="0"/>
              <a:t>, f</a:t>
            </a:r>
            <a:r>
              <a:rPr lang="en-IN" sz="2400" baseline="-25000" dirty="0"/>
              <a:t>2</a:t>
            </a:r>
            <a:r>
              <a:rPr lang="en-IN" sz="2400" dirty="0"/>
              <a:t>, f</a:t>
            </a:r>
            <a:r>
              <a:rPr lang="en-IN" sz="2400" baseline="-25000" dirty="0"/>
              <a:t>3</a:t>
            </a:r>
            <a:r>
              <a:rPr lang="en-IN" sz="2400" dirty="0"/>
              <a:t> and f</a:t>
            </a:r>
            <a:r>
              <a:rPr lang="en-IN" sz="2400" baseline="-25000" dirty="0"/>
              <a:t>4</a:t>
            </a:r>
            <a:r>
              <a:rPr lang="en-IN" sz="2400" dirty="0"/>
              <a:t> to send 2 bits at a time; Use f</a:t>
            </a:r>
            <a:r>
              <a:rPr lang="en-IN" sz="2400" baseline="-25000" dirty="0"/>
              <a:t>1</a:t>
            </a:r>
            <a:r>
              <a:rPr lang="en-IN" sz="2400" dirty="0"/>
              <a:t>, f</a:t>
            </a:r>
            <a:r>
              <a:rPr lang="en-IN" sz="2400" baseline="-25000" dirty="0"/>
              <a:t>2</a:t>
            </a:r>
            <a:r>
              <a:rPr lang="en-IN" sz="2400" dirty="0"/>
              <a:t>, f</a:t>
            </a:r>
            <a:r>
              <a:rPr lang="en-IN" sz="2400" baseline="-25000" dirty="0"/>
              <a:t>3</a:t>
            </a:r>
            <a:r>
              <a:rPr lang="en-IN" sz="2400" dirty="0"/>
              <a:t>, f</a:t>
            </a:r>
            <a:r>
              <a:rPr lang="en-IN" sz="2400" baseline="-25000" dirty="0"/>
              <a:t>4</a:t>
            </a:r>
            <a:r>
              <a:rPr lang="en-IN" sz="2400" dirty="0"/>
              <a:t>, f</a:t>
            </a:r>
            <a:r>
              <a:rPr lang="en-IN" sz="2400" baseline="-25000" dirty="0"/>
              <a:t>5</a:t>
            </a:r>
            <a:r>
              <a:rPr lang="en-IN" sz="2400" dirty="0"/>
              <a:t>, f</a:t>
            </a:r>
            <a:r>
              <a:rPr lang="en-IN" sz="2400" baseline="-25000" dirty="0"/>
              <a:t>6</a:t>
            </a:r>
            <a:r>
              <a:rPr lang="en-IN" sz="2400" dirty="0"/>
              <a:t>, f</a:t>
            </a:r>
            <a:r>
              <a:rPr lang="en-IN" sz="2400" baseline="-25000" dirty="0"/>
              <a:t>7</a:t>
            </a:r>
            <a:r>
              <a:rPr lang="en-IN" sz="2400" dirty="0"/>
              <a:t> and f</a:t>
            </a:r>
            <a:r>
              <a:rPr lang="en-IN" sz="2400" baseline="-25000" dirty="0"/>
              <a:t>8</a:t>
            </a:r>
            <a:r>
              <a:rPr lang="en-IN" sz="2400" dirty="0"/>
              <a:t> to send 3 bits at a time and so on. Frequencies need to be 2</a:t>
            </a:r>
            <a:r>
              <a:rPr lang="en-US" sz="2400" dirty="0">
                <a:sym typeface="Symbol" panose="05050102010706020507" pitchFamily="18" charset="2"/>
              </a:rPr>
              <a:t></a:t>
            </a:r>
            <a:r>
              <a:rPr lang="en-US" sz="2400" baseline="-25000" dirty="0"/>
              <a:t>f</a:t>
            </a:r>
            <a:r>
              <a:rPr lang="en-US" sz="2400" dirty="0"/>
              <a:t> apart.</a:t>
            </a:r>
          </a:p>
        </p:txBody>
      </p:sp>
    </p:spTree>
    <p:extLst>
      <p:ext uri="{BB962C8B-B14F-4D97-AF65-F5344CB8AC3E}">
        <p14:creationId xmlns:p14="http://schemas.microsoft.com/office/powerpoint/2010/main" val="257455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9892" y="442499"/>
            <a:ext cx="10490579" cy="646331"/>
          </a:xfrm>
          <a:prstGeom prst="rect">
            <a:avLst/>
          </a:prstGeom>
        </p:spPr>
        <p:txBody>
          <a:bodyPr wrap="square">
            <a:spAutoFit/>
          </a:bodyPr>
          <a:lstStyle/>
          <a:p>
            <a:pPr algn="just"/>
            <a:r>
              <a:rPr lang="en-US" b="1" i="1" dirty="0">
                <a:latin typeface="Times New Roman" panose="02020603050405020304" pitchFamily="18" charset="0"/>
              </a:rPr>
              <a:t>We need to send data 3 bits at a time at a bit rate of 3 Mbps. The carrier frequency is 10 </a:t>
            </a:r>
            <a:r>
              <a:rPr lang="en-US" b="1" i="1" dirty="0" err="1">
                <a:latin typeface="Times New Roman" panose="02020603050405020304" pitchFamily="18" charset="0"/>
              </a:rPr>
              <a:t>MHz.</a:t>
            </a:r>
            <a:r>
              <a:rPr lang="en-US" b="1" i="1" dirty="0">
                <a:latin typeface="Times New Roman" panose="02020603050405020304" pitchFamily="18" charset="0"/>
              </a:rPr>
              <a:t> Calculate the number of levels (different frequencies), the baud rate, and the bandwidth.</a:t>
            </a:r>
          </a:p>
        </p:txBody>
      </p:sp>
      <p:sp>
        <p:nvSpPr>
          <p:cNvPr id="3" name="Rectangle 2"/>
          <p:cNvSpPr/>
          <p:nvPr/>
        </p:nvSpPr>
        <p:spPr>
          <a:xfrm>
            <a:off x="959893" y="1395821"/>
            <a:ext cx="10326806" cy="1338828"/>
          </a:xfrm>
          <a:prstGeom prst="rect">
            <a:avLst/>
          </a:prstGeom>
        </p:spPr>
        <p:txBody>
          <a:bodyPr wrap="square">
            <a:spAutoFit/>
          </a:bodyPr>
          <a:lstStyle/>
          <a:p>
            <a:pPr>
              <a:lnSpc>
                <a:spcPct val="150000"/>
              </a:lnSpc>
            </a:pPr>
            <a:r>
              <a:rPr lang="en-US" i="1" dirty="0">
                <a:latin typeface="Times" panose="02020603050405020304" pitchFamily="18" charset="0"/>
              </a:rPr>
              <a:t>We can have L = 2</a:t>
            </a:r>
            <a:r>
              <a:rPr lang="en-US" i="1" baseline="30000" dirty="0">
                <a:latin typeface="Times" panose="02020603050405020304" pitchFamily="18" charset="0"/>
              </a:rPr>
              <a:t>3</a:t>
            </a:r>
            <a:r>
              <a:rPr lang="en-US" i="1" dirty="0">
                <a:latin typeface="Times" panose="02020603050405020304" pitchFamily="18" charset="0"/>
              </a:rPr>
              <a:t> = 8. The baud rate is S = 3 Mbps/3 = 1 </a:t>
            </a:r>
            <a:r>
              <a:rPr lang="en-US" i="1" dirty="0" err="1">
                <a:latin typeface="Times" panose="02020603050405020304" pitchFamily="18" charset="0"/>
              </a:rPr>
              <a:t>Mbaud</a:t>
            </a:r>
            <a:r>
              <a:rPr lang="en-US" i="1" dirty="0">
                <a:latin typeface="Times" panose="02020603050405020304" pitchFamily="18" charset="0"/>
              </a:rPr>
              <a:t>. This means that the carrier frequencies must be 1 MHz apart (2Δf = 1 MHz). The bandwidth is B = 8 × 1M = 8M. Figure shows the allocation of frequencies and bandwidth</a:t>
            </a:r>
            <a:endParaRPr lang="en-IN"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9474" y="3107637"/>
            <a:ext cx="8511413" cy="2031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557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Digital-to-</a:t>
            </a:r>
            <a:r>
              <a:rPr lang="en-IN" dirty="0" err="1"/>
              <a:t>analog</a:t>
            </a:r>
            <a:r>
              <a:rPr lang="en-IN" dirty="0"/>
              <a:t> Conversion: Phase Shift Keying (PSK)</a:t>
            </a:r>
          </a:p>
        </p:txBody>
      </p:sp>
      <p:sp>
        <p:nvSpPr>
          <p:cNvPr id="3" name="Content Placeholder 2"/>
          <p:cNvSpPr>
            <a:spLocks noGrp="1"/>
          </p:cNvSpPr>
          <p:nvPr>
            <p:ph idx="1"/>
          </p:nvPr>
        </p:nvSpPr>
        <p:spPr/>
        <p:txBody>
          <a:bodyPr/>
          <a:lstStyle/>
          <a:p>
            <a:r>
              <a:rPr lang="en-IN" dirty="0"/>
              <a:t>Phase of the carrier is varied to represent two or more different signal elements</a:t>
            </a:r>
          </a:p>
          <a:p>
            <a:r>
              <a:rPr lang="en-IN" dirty="0"/>
              <a:t>Both peak amplitude and frequency remain constant as the phase changes</a:t>
            </a:r>
          </a:p>
          <a:p>
            <a:r>
              <a:rPr lang="en-IN" dirty="0"/>
              <a:t>PSK is more common than ASK or FSK</a:t>
            </a:r>
          </a:p>
          <a:p>
            <a:r>
              <a:rPr lang="en-IN" dirty="0"/>
              <a:t>QAM that combines ASK and PSK is dominant method of digital-to-</a:t>
            </a:r>
            <a:r>
              <a:rPr lang="en-IN" dirty="0" err="1"/>
              <a:t>analog</a:t>
            </a:r>
            <a:r>
              <a:rPr lang="en-IN" dirty="0"/>
              <a:t> modulation</a:t>
            </a:r>
          </a:p>
          <a:p>
            <a:r>
              <a:rPr lang="en-IN" dirty="0">
                <a:solidFill>
                  <a:srgbClr val="00B050"/>
                </a:solidFill>
              </a:rPr>
              <a:t>Binary Phase Shift Keying (BPSK)</a:t>
            </a:r>
          </a:p>
          <a:p>
            <a:pPr lvl="1"/>
            <a:r>
              <a:rPr lang="en-IN" dirty="0"/>
              <a:t>We have only two signal elements-one with a phase 0</a:t>
            </a:r>
            <a:r>
              <a:rPr lang="en-IN" baseline="30000" dirty="0"/>
              <a:t>0</a:t>
            </a:r>
            <a:r>
              <a:rPr lang="en-IN" dirty="0"/>
              <a:t> and other with phase of 180</a:t>
            </a:r>
            <a:r>
              <a:rPr lang="en-IN" baseline="30000" dirty="0"/>
              <a:t>0</a:t>
            </a:r>
          </a:p>
          <a:p>
            <a:pPr lvl="1"/>
            <a:endParaRPr lang="en-IN" dirty="0"/>
          </a:p>
        </p:txBody>
      </p:sp>
    </p:spTree>
    <p:extLst>
      <p:ext uri="{BB962C8B-B14F-4D97-AF65-F5344CB8AC3E}">
        <p14:creationId xmlns:p14="http://schemas.microsoft.com/office/powerpoint/2010/main" val="3055965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4548" y="366237"/>
            <a:ext cx="8629650" cy="231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672495" y="2695323"/>
            <a:ext cx="6673755" cy="369332"/>
          </a:xfrm>
          <a:prstGeom prst="rect">
            <a:avLst/>
          </a:prstGeom>
          <a:noFill/>
        </p:spPr>
        <p:txBody>
          <a:bodyPr wrap="square" rtlCol="0">
            <a:spAutoFit/>
          </a:bodyPr>
          <a:lstStyle/>
          <a:p>
            <a:pPr algn="ctr"/>
            <a:r>
              <a:rPr lang="en-IN" dirty="0"/>
              <a:t>Binary Phase Shift Keying (BPSK)</a:t>
            </a:r>
          </a:p>
        </p:txBody>
      </p:sp>
      <p:sp>
        <p:nvSpPr>
          <p:cNvPr id="6" name="TextBox 5"/>
          <p:cNvSpPr txBox="1"/>
          <p:nvPr/>
        </p:nvSpPr>
        <p:spPr>
          <a:xfrm>
            <a:off x="654518" y="3294229"/>
            <a:ext cx="11415561" cy="3162854"/>
          </a:xfrm>
          <a:prstGeom prst="rect">
            <a:avLst/>
          </a:prstGeom>
          <a:noFill/>
        </p:spPr>
        <p:txBody>
          <a:bodyPr wrap="square" rtlCol="0">
            <a:spAutoFit/>
          </a:bodyPr>
          <a:lstStyle/>
          <a:p>
            <a:pPr marL="320040"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Less susceptible to noise when compared to ASK</a:t>
            </a:r>
          </a:p>
          <a:p>
            <a:pPr marL="777240" lvl="1"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Criterion for bit detection is the phase of the signal as noise can change the amplitude, but not phase</a:t>
            </a:r>
          </a:p>
          <a:p>
            <a:pPr marL="320040"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PSK is superior to FSK as we do not require two carrier signals</a:t>
            </a:r>
          </a:p>
          <a:p>
            <a:pPr marL="320040"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It needs more sophisticated hardware</a:t>
            </a:r>
          </a:p>
          <a:p>
            <a:pPr marL="320040" indent="-320040" defTabSz="914400">
              <a:lnSpc>
                <a:spcPct val="111000"/>
              </a:lnSpc>
              <a:spcBef>
                <a:spcPts val="930"/>
              </a:spcBef>
              <a:buFont typeface="Corbel" panose="020B0503020204020204" pitchFamily="34" charset="0"/>
              <a:buChar char="–"/>
            </a:pPr>
            <a:r>
              <a:rPr lang="en-IN" sz="2000" dirty="0">
                <a:solidFill>
                  <a:srgbClr val="00B050"/>
                </a:solidFill>
              </a:rPr>
              <a:t>Bandwidth</a:t>
            </a:r>
          </a:p>
          <a:p>
            <a:pPr marL="777240" lvl="1"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Bandwidth is same as that for binary ASK, but less than for BFSK</a:t>
            </a:r>
          </a:p>
          <a:p>
            <a:pPr marL="777240" lvl="1"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No bandwidth is wasted for separating two carrier signals</a:t>
            </a:r>
          </a:p>
        </p:txBody>
      </p:sp>
    </p:spTree>
    <p:extLst>
      <p:ext uri="{BB962C8B-B14F-4D97-AF65-F5344CB8AC3E}">
        <p14:creationId xmlns:p14="http://schemas.microsoft.com/office/powerpoint/2010/main" val="14757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812" y="360321"/>
            <a:ext cx="80803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711354" y="3142067"/>
            <a:ext cx="6769289" cy="369332"/>
          </a:xfrm>
          <a:prstGeom prst="rect">
            <a:avLst/>
          </a:prstGeom>
          <a:noFill/>
        </p:spPr>
        <p:txBody>
          <a:bodyPr wrap="square" rtlCol="0">
            <a:spAutoFit/>
          </a:bodyPr>
          <a:lstStyle/>
          <a:p>
            <a:pPr algn="ctr"/>
            <a:r>
              <a:rPr lang="en-IN" dirty="0"/>
              <a:t>Implementation of BPSK</a:t>
            </a:r>
          </a:p>
        </p:txBody>
      </p:sp>
      <p:sp>
        <p:nvSpPr>
          <p:cNvPr id="4" name="TextBox 3"/>
          <p:cNvSpPr txBox="1"/>
          <p:nvPr/>
        </p:nvSpPr>
        <p:spPr>
          <a:xfrm>
            <a:off x="1224199" y="4264279"/>
            <a:ext cx="8911988" cy="1348061"/>
          </a:xfrm>
          <a:prstGeom prst="rect">
            <a:avLst/>
          </a:prstGeom>
          <a:noFill/>
        </p:spPr>
        <p:txBody>
          <a:bodyPr wrap="square" rtlCol="0">
            <a:spAutoFit/>
          </a:bodyPr>
          <a:lstStyle/>
          <a:p>
            <a:pPr marL="320040"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Polar NRZ signal is multiplied by the carrier frequency</a:t>
            </a:r>
          </a:p>
          <a:p>
            <a:pPr marL="320040"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The 1 bit (positive voltage) is represented by a phase starting at 0</a:t>
            </a:r>
            <a:r>
              <a:rPr lang="en-IN" sz="2000" baseline="30000" dirty="0">
                <a:solidFill>
                  <a:schemeClr val="tx2">
                    <a:lumMod val="75000"/>
                    <a:lumOff val="25000"/>
                  </a:schemeClr>
                </a:solidFill>
              </a:rPr>
              <a:t>0</a:t>
            </a:r>
          </a:p>
          <a:p>
            <a:pPr marL="320040" indent="-320040" defTabSz="914400">
              <a:lnSpc>
                <a:spcPct val="111000"/>
              </a:lnSpc>
              <a:spcBef>
                <a:spcPts val="930"/>
              </a:spcBef>
              <a:buFont typeface="Corbel" panose="020B0503020204020204" pitchFamily="34" charset="0"/>
              <a:buChar char="–"/>
            </a:pPr>
            <a:r>
              <a:rPr lang="en-IN" sz="2000" dirty="0">
                <a:solidFill>
                  <a:schemeClr val="tx2">
                    <a:lumMod val="75000"/>
                    <a:lumOff val="25000"/>
                  </a:schemeClr>
                </a:solidFill>
              </a:rPr>
              <a:t>The 0 bit (negative voltage) is represented by a  phase starting at 180</a:t>
            </a:r>
            <a:r>
              <a:rPr lang="en-IN" sz="2000" baseline="30000" dirty="0">
                <a:solidFill>
                  <a:schemeClr val="tx2">
                    <a:lumMod val="75000"/>
                    <a:lumOff val="25000"/>
                  </a:schemeClr>
                </a:solidFill>
              </a:rPr>
              <a:t>0</a:t>
            </a:r>
          </a:p>
        </p:txBody>
      </p:sp>
    </p:spTree>
    <p:extLst>
      <p:ext uri="{BB962C8B-B14F-4D97-AF65-F5344CB8AC3E}">
        <p14:creationId xmlns:p14="http://schemas.microsoft.com/office/powerpoint/2010/main" val="3340856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6729" y="255895"/>
            <a:ext cx="7732547" cy="5234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148919" y="5909481"/>
            <a:ext cx="6741994" cy="369332"/>
          </a:xfrm>
          <a:prstGeom prst="rect">
            <a:avLst/>
          </a:prstGeom>
          <a:noFill/>
        </p:spPr>
        <p:txBody>
          <a:bodyPr wrap="square" rtlCol="0">
            <a:spAutoFit/>
          </a:bodyPr>
          <a:lstStyle/>
          <a:p>
            <a:pPr algn="ctr"/>
            <a:r>
              <a:rPr lang="en-IN" dirty="0"/>
              <a:t>QPSK and its implementation </a:t>
            </a:r>
          </a:p>
        </p:txBody>
      </p:sp>
    </p:spTree>
    <p:extLst>
      <p:ext uri="{BB962C8B-B14F-4D97-AF65-F5344CB8AC3E}">
        <p14:creationId xmlns:p14="http://schemas.microsoft.com/office/powerpoint/2010/main" val="3442671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0559" y="896414"/>
            <a:ext cx="8748215" cy="2355260"/>
          </a:xfrm>
          <a:prstGeom prst="rect">
            <a:avLst/>
          </a:prstGeom>
        </p:spPr>
        <p:txBody>
          <a:bodyPr wrap="square">
            <a:spAutoFit/>
          </a:bodyPr>
          <a:lstStyle/>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To increase the bit rate, we can code 2 or more bits onto one signal element.</a:t>
            </a:r>
          </a:p>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In QPSK, we parallelize the bit stream so that every two incoming bits are split up and PSK a carrier frequency. One carrier frequency is phase shifted 90</a:t>
            </a:r>
            <a:r>
              <a:rPr lang="en-US" sz="2000" baseline="30000" dirty="0">
                <a:solidFill>
                  <a:schemeClr val="tx2">
                    <a:lumMod val="75000"/>
                    <a:lumOff val="25000"/>
                  </a:schemeClr>
                </a:solidFill>
              </a:rPr>
              <a:t>o</a:t>
            </a:r>
            <a:r>
              <a:rPr lang="en-US" sz="2000" dirty="0">
                <a:solidFill>
                  <a:schemeClr val="tx2">
                    <a:lumMod val="75000"/>
                    <a:lumOff val="25000"/>
                  </a:schemeClr>
                </a:solidFill>
              </a:rPr>
              <a:t> from the other - in quadrature.</a:t>
            </a:r>
          </a:p>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The two </a:t>
            </a:r>
            <a:r>
              <a:rPr lang="en-US" sz="2000" dirty="0" err="1">
                <a:solidFill>
                  <a:schemeClr val="tx2">
                    <a:lumMod val="75000"/>
                    <a:lumOff val="25000"/>
                  </a:schemeClr>
                </a:solidFill>
              </a:rPr>
              <a:t>PSKed</a:t>
            </a:r>
            <a:r>
              <a:rPr lang="en-US" sz="2000" dirty="0">
                <a:solidFill>
                  <a:schemeClr val="tx2">
                    <a:lumMod val="75000"/>
                    <a:lumOff val="25000"/>
                  </a:schemeClr>
                </a:solidFill>
              </a:rPr>
              <a:t> signals are then added to produce one of 4 signal elements. L = 4 here.</a:t>
            </a:r>
          </a:p>
        </p:txBody>
      </p:sp>
      <p:sp>
        <p:nvSpPr>
          <p:cNvPr id="3" name="Rectangle 2"/>
          <p:cNvSpPr/>
          <p:nvPr/>
        </p:nvSpPr>
        <p:spPr>
          <a:xfrm>
            <a:off x="1232848" y="3392438"/>
            <a:ext cx="8702722" cy="369332"/>
          </a:xfrm>
          <a:prstGeom prst="rect">
            <a:avLst/>
          </a:prstGeom>
        </p:spPr>
        <p:txBody>
          <a:bodyPr wrap="square">
            <a:spAutoFit/>
          </a:bodyPr>
          <a:lstStyle/>
          <a:p>
            <a:pPr algn="just"/>
            <a:r>
              <a:rPr lang="en-US" b="1" i="1" dirty="0">
                <a:latin typeface="Times New Roman" panose="02020603050405020304" pitchFamily="18" charset="0"/>
              </a:rPr>
              <a:t>Find the bandwidth for a signal transmitting at 12 Mbps for QPSK. The value of d = 0.</a:t>
            </a:r>
          </a:p>
        </p:txBody>
      </p:sp>
      <p:sp>
        <p:nvSpPr>
          <p:cNvPr id="4" name="Rectangle 3"/>
          <p:cNvSpPr/>
          <p:nvPr/>
        </p:nvSpPr>
        <p:spPr>
          <a:xfrm>
            <a:off x="2092657" y="3902534"/>
            <a:ext cx="8416117" cy="1429622"/>
          </a:xfrm>
          <a:prstGeom prst="rect">
            <a:avLst/>
          </a:prstGeom>
        </p:spPr>
        <p:txBody>
          <a:bodyPr wrap="square">
            <a:spAutoFit/>
          </a:bodyPr>
          <a:lstStyle/>
          <a:p>
            <a:pPr algn="just">
              <a:lnSpc>
                <a:spcPct val="150000"/>
              </a:lnSpc>
            </a:pPr>
            <a:r>
              <a:rPr lang="en-US" sz="2000" dirty="0">
                <a:solidFill>
                  <a:schemeClr val="tx2">
                    <a:lumMod val="75000"/>
                    <a:lumOff val="25000"/>
                  </a:schemeClr>
                </a:solidFill>
              </a:rPr>
              <a:t>For QPSK, 2 bits is carried by one signal element. This means that r = 2. So the signal rate (baud rate) is S = N × (1/r) = 6 </a:t>
            </a:r>
            <a:r>
              <a:rPr lang="en-US" sz="2000" dirty="0" err="1">
                <a:solidFill>
                  <a:schemeClr val="tx2">
                    <a:lumMod val="75000"/>
                    <a:lumOff val="25000"/>
                  </a:schemeClr>
                </a:solidFill>
              </a:rPr>
              <a:t>Mbaud</a:t>
            </a:r>
            <a:r>
              <a:rPr lang="en-US" sz="2000" dirty="0">
                <a:solidFill>
                  <a:schemeClr val="tx2">
                    <a:lumMod val="75000"/>
                    <a:lumOff val="25000"/>
                  </a:schemeClr>
                </a:solidFill>
              </a:rPr>
              <a:t>. With a value of d = 0, we have B = S = 6 </a:t>
            </a:r>
            <a:r>
              <a:rPr lang="en-US" sz="2000" dirty="0" err="1">
                <a:solidFill>
                  <a:schemeClr val="tx2">
                    <a:lumMod val="75000"/>
                    <a:lumOff val="25000"/>
                  </a:schemeClr>
                </a:solidFill>
              </a:rPr>
              <a:t>MHz.</a:t>
            </a:r>
            <a:endParaRPr lang="en-US" sz="2000" dirty="0">
              <a:solidFill>
                <a:schemeClr val="tx2">
                  <a:lumMod val="75000"/>
                  <a:lumOff val="25000"/>
                </a:schemeClr>
              </a:solidFill>
            </a:endParaRPr>
          </a:p>
        </p:txBody>
      </p:sp>
    </p:spTree>
    <p:extLst>
      <p:ext uri="{BB962C8B-B14F-4D97-AF65-F5344CB8AC3E}">
        <p14:creationId xmlns:p14="http://schemas.microsoft.com/office/powerpoint/2010/main" val="291537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960" y="378702"/>
            <a:ext cx="5603875" cy="364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970293" y="3659032"/>
            <a:ext cx="4053385" cy="369332"/>
          </a:xfrm>
          <a:prstGeom prst="rect">
            <a:avLst/>
          </a:prstGeom>
          <a:noFill/>
        </p:spPr>
        <p:txBody>
          <a:bodyPr wrap="square" rtlCol="0">
            <a:spAutoFit/>
          </a:bodyPr>
          <a:lstStyle/>
          <a:p>
            <a:r>
              <a:rPr lang="en-IN" dirty="0"/>
              <a:t>Concept of a Constellation Diagram</a:t>
            </a:r>
          </a:p>
        </p:txBody>
      </p:sp>
      <p:sp>
        <p:nvSpPr>
          <p:cNvPr id="4" name="Rectangle 3"/>
          <p:cNvSpPr/>
          <p:nvPr/>
        </p:nvSpPr>
        <p:spPr>
          <a:xfrm>
            <a:off x="2106303" y="4287125"/>
            <a:ext cx="9466997" cy="1689693"/>
          </a:xfrm>
          <a:prstGeom prst="rect">
            <a:avLst/>
          </a:prstGeom>
        </p:spPr>
        <p:txBody>
          <a:bodyPr wrap="square">
            <a:spAutoFit/>
          </a:bodyPr>
          <a:lstStyle/>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A constellation diagram helps us to define the amplitude and phase of a signal when we are using two carriers, one in quadrature of the other</a:t>
            </a:r>
          </a:p>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The X-axis represents the in-phase carrier and the Y-axis represents quadrature carrier</a:t>
            </a:r>
          </a:p>
          <a:p>
            <a:pPr marL="320040" indent="-320040" defTabSz="914400">
              <a:lnSpc>
                <a:spcPct val="111000"/>
              </a:lnSpc>
              <a:spcBef>
                <a:spcPts val="930"/>
              </a:spcBef>
              <a:buFont typeface="Corbel" panose="020B0503020204020204" pitchFamily="34" charset="0"/>
              <a:buChar char="–"/>
            </a:pPr>
            <a:r>
              <a:rPr lang="en-US" sz="2000" dirty="0">
                <a:solidFill>
                  <a:schemeClr val="tx2">
                    <a:lumMod val="75000"/>
                    <a:lumOff val="25000"/>
                  </a:schemeClr>
                </a:solidFill>
              </a:rPr>
              <a:t>Useful when we are dealing with multilevel ASK, PSK or QAM</a:t>
            </a:r>
          </a:p>
        </p:txBody>
      </p:sp>
    </p:spTree>
    <p:extLst>
      <p:ext uri="{BB962C8B-B14F-4D97-AF65-F5344CB8AC3E}">
        <p14:creationId xmlns:p14="http://schemas.microsoft.com/office/powerpoint/2010/main" val="2597453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6686" y="116076"/>
            <a:ext cx="9671713" cy="369332"/>
          </a:xfrm>
          <a:prstGeom prst="rect">
            <a:avLst/>
          </a:prstGeom>
        </p:spPr>
        <p:txBody>
          <a:bodyPr wrap="square">
            <a:spAutoFit/>
          </a:bodyPr>
          <a:lstStyle/>
          <a:p>
            <a:pPr algn="just"/>
            <a:r>
              <a:rPr lang="en-US" b="1" i="1" dirty="0">
                <a:latin typeface="Times New Roman" panose="02020603050405020304" pitchFamily="18" charset="0"/>
              </a:rPr>
              <a:t>Show the constellation diagrams for an ASK (OOK), BPSK, and QPSK signals.</a:t>
            </a:r>
          </a:p>
        </p:txBody>
      </p:sp>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827" y="659107"/>
            <a:ext cx="8135937"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09182" y="2852106"/>
            <a:ext cx="9648967" cy="923330"/>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00B050"/>
                </a:solidFill>
              </a:rPr>
              <a:t>In ASK, we use only an in-phase carrier; so, the two points should be on the X axis</a:t>
            </a:r>
          </a:p>
          <a:p>
            <a:pPr marL="285750" indent="-285750">
              <a:buFont typeface="Arial" panose="020B0604020202020204" pitchFamily="34" charset="0"/>
              <a:buChar char="•"/>
            </a:pPr>
            <a:r>
              <a:rPr lang="en-IN" dirty="0">
                <a:solidFill>
                  <a:srgbClr val="00B050"/>
                </a:solidFill>
              </a:rPr>
              <a:t>Binary 0 has the amplitude of 0 V; binary 1 has an amplitude of 1 V</a:t>
            </a:r>
          </a:p>
          <a:p>
            <a:pPr marL="285750" indent="-285750">
              <a:buFont typeface="Arial" panose="020B0604020202020204" pitchFamily="34" charset="0"/>
              <a:buChar char="•"/>
            </a:pPr>
            <a:r>
              <a:rPr lang="en-IN" dirty="0">
                <a:solidFill>
                  <a:srgbClr val="00B050"/>
                </a:solidFill>
              </a:rPr>
              <a:t>The points are located at the origin and at 1 unit</a:t>
            </a:r>
          </a:p>
        </p:txBody>
      </p:sp>
      <p:sp>
        <p:nvSpPr>
          <p:cNvPr id="5" name="TextBox 4"/>
          <p:cNvSpPr txBox="1"/>
          <p:nvPr/>
        </p:nvSpPr>
        <p:spPr>
          <a:xfrm>
            <a:off x="122830" y="3775436"/>
            <a:ext cx="11764370" cy="1200329"/>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FF0000"/>
                </a:solidFill>
              </a:rPr>
              <a:t>BPSK uses only an in-phase carrier; however we use a polar NRZ signal for modulation</a:t>
            </a:r>
          </a:p>
          <a:p>
            <a:pPr marL="285750" indent="-285750">
              <a:buFont typeface="Arial" panose="020B0604020202020204" pitchFamily="34" charset="0"/>
              <a:buChar char="•"/>
            </a:pPr>
            <a:r>
              <a:rPr lang="en-IN" dirty="0">
                <a:solidFill>
                  <a:srgbClr val="FF0000"/>
                </a:solidFill>
              </a:rPr>
              <a:t>Creates two types of signal elements, one with amplitude 1 and the other with amplitude -1</a:t>
            </a:r>
          </a:p>
          <a:p>
            <a:pPr marL="285750" indent="-285750">
              <a:buFont typeface="Arial" panose="020B0604020202020204" pitchFamily="34" charset="0"/>
              <a:buChar char="•"/>
            </a:pPr>
            <a:r>
              <a:rPr lang="en-IN" dirty="0">
                <a:solidFill>
                  <a:srgbClr val="FF0000"/>
                </a:solidFill>
              </a:rPr>
              <a:t>BPSK creates two different signal elements, one with amplitude 1 V and in phase and the other with amplitude 1 V and 180</a:t>
            </a:r>
            <a:r>
              <a:rPr lang="en-IN" baseline="30000" dirty="0">
                <a:solidFill>
                  <a:srgbClr val="FF0000"/>
                </a:solidFill>
              </a:rPr>
              <a:t>0</a:t>
            </a:r>
            <a:r>
              <a:rPr lang="en-IN" dirty="0">
                <a:solidFill>
                  <a:srgbClr val="FF0000"/>
                </a:solidFill>
              </a:rPr>
              <a:t> out of phase</a:t>
            </a:r>
          </a:p>
        </p:txBody>
      </p:sp>
      <p:sp>
        <p:nvSpPr>
          <p:cNvPr id="6" name="TextBox 5"/>
          <p:cNvSpPr txBox="1"/>
          <p:nvPr/>
        </p:nvSpPr>
        <p:spPr>
          <a:xfrm>
            <a:off x="122830" y="5145206"/>
            <a:ext cx="11900848" cy="923330"/>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00B050"/>
                </a:solidFill>
              </a:rPr>
              <a:t>QPSK uses two carriers, one in-phase and the other quadrature</a:t>
            </a:r>
          </a:p>
          <a:p>
            <a:pPr marL="285750" indent="-285750">
              <a:buFont typeface="Arial" panose="020B0604020202020204" pitchFamily="34" charset="0"/>
              <a:buChar char="•"/>
            </a:pPr>
            <a:r>
              <a:rPr lang="en-IN" dirty="0">
                <a:solidFill>
                  <a:srgbClr val="00B050"/>
                </a:solidFill>
              </a:rPr>
              <a:t>Point representing 11 is made of two combined signal elements, both with an amplitude of 1 V</a:t>
            </a:r>
          </a:p>
          <a:p>
            <a:pPr marL="285750" indent="-285750">
              <a:buFont typeface="Arial" panose="020B0604020202020204" pitchFamily="34" charset="0"/>
              <a:buChar char="•"/>
            </a:pPr>
            <a:r>
              <a:rPr lang="en-IN" dirty="0">
                <a:solidFill>
                  <a:srgbClr val="00B050"/>
                </a:solidFill>
              </a:rPr>
              <a:t>One element is represented by an in-phase carrier, the other by a quadrature carrier</a:t>
            </a:r>
          </a:p>
        </p:txBody>
      </p:sp>
    </p:spTree>
    <p:extLst>
      <p:ext uri="{BB962C8B-B14F-4D97-AF65-F5344CB8AC3E}">
        <p14:creationId xmlns:p14="http://schemas.microsoft.com/office/powerpoint/2010/main" val="261956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52" y="5582047"/>
            <a:ext cx="12192000" cy="46166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IN" sz="2400" dirty="0"/>
              <a:t>Quadrature Amplitude Modulation is a combination of ASK and PSK</a:t>
            </a:r>
          </a:p>
        </p:txBody>
      </p:sp>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148" y="694756"/>
            <a:ext cx="86106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720451" y="2784143"/>
            <a:ext cx="6741994" cy="369332"/>
          </a:xfrm>
          <a:prstGeom prst="rect">
            <a:avLst/>
          </a:prstGeom>
          <a:noFill/>
        </p:spPr>
        <p:txBody>
          <a:bodyPr wrap="square" rtlCol="0">
            <a:spAutoFit/>
          </a:bodyPr>
          <a:lstStyle/>
          <a:p>
            <a:pPr algn="ctr"/>
            <a:r>
              <a:rPr lang="en-IN" dirty="0"/>
              <a:t>Constellation Diagrams for some QAMs</a:t>
            </a:r>
          </a:p>
        </p:txBody>
      </p:sp>
    </p:spTree>
    <p:extLst>
      <p:ext uri="{BB962C8B-B14F-4D97-AF65-F5344CB8AC3E}">
        <p14:creationId xmlns:p14="http://schemas.microsoft.com/office/powerpoint/2010/main" val="288526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0365" rIns="0" bIns="0" rtlCol="0">
            <a:spAutoFit/>
          </a:bodyPr>
          <a:lstStyle/>
          <a:p>
            <a:pPr marL="1494155">
              <a:lnSpc>
                <a:spcPct val="100000"/>
              </a:lnSpc>
              <a:spcBef>
                <a:spcPts val="105"/>
              </a:spcBef>
            </a:pPr>
            <a:r>
              <a:rPr dirty="0"/>
              <a:t>8-</a:t>
            </a:r>
            <a:r>
              <a:rPr spc="-25" dirty="0"/>
              <a:t>QAM</a:t>
            </a:r>
          </a:p>
        </p:txBody>
      </p:sp>
      <p:pic>
        <p:nvPicPr>
          <p:cNvPr id="3" name="object 3"/>
          <p:cNvPicPr/>
          <p:nvPr/>
        </p:nvPicPr>
        <p:blipFill>
          <a:blip r:embed="rId2" cstate="print"/>
          <a:stretch>
            <a:fillRect/>
          </a:stretch>
        </p:blipFill>
        <p:spPr>
          <a:xfrm>
            <a:off x="2179320" y="1773935"/>
            <a:ext cx="8125968" cy="401421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6148" rIns="0" bIns="0" rtlCol="0">
            <a:spAutoFit/>
          </a:bodyPr>
          <a:lstStyle/>
          <a:p>
            <a:pPr marL="12700">
              <a:lnSpc>
                <a:spcPct val="100000"/>
              </a:lnSpc>
              <a:spcBef>
                <a:spcPts val="105"/>
              </a:spcBef>
            </a:pPr>
            <a:r>
              <a:rPr dirty="0"/>
              <a:t>16-QAM</a:t>
            </a:r>
            <a:r>
              <a:rPr spc="-10" dirty="0"/>
              <a:t> Constellations</a:t>
            </a:r>
          </a:p>
        </p:txBody>
      </p:sp>
      <p:pic>
        <p:nvPicPr>
          <p:cNvPr id="3" name="object 3"/>
          <p:cNvPicPr/>
          <p:nvPr/>
        </p:nvPicPr>
        <p:blipFill>
          <a:blip r:embed="rId2" cstate="print"/>
          <a:stretch>
            <a:fillRect/>
          </a:stretch>
        </p:blipFill>
        <p:spPr>
          <a:xfrm>
            <a:off x="3026664" y="1965960"/>
            <a:ext cx="5858255" cy="38526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77962" y="-725379"/>
            <a:ext cx="10058400" cy="1450757"/>
          </a:xfrm>
          <a:prstGeom prst="rect">
            <a:avLst/>
          </a:prstGeom>
        </p:spPr>
        <p:txBody>
          <a:bodyPr vert="horz" wrap="square" lIns="0" tIns="13335" rIns="0" bIns="0" rtlCol="0">
            <a:spAutoFit/>
          </a:bodyPr>
          <a:lstStyle/>
          <a:p>
            <a:pPr marL="125095">
              <a:lnSpc>
                <a:spcPct val="100000"/>
              </a:lnSpc>
              <a:spcBef>
                <a:spcPts val="105"/>
              </a:spcBef>
            </a:pPr>
            <a:r>
              <a:rPr u="none" dirty="0"/>
              <a:t>8-QAM</a:t>
            </a:r>
            <a:r>
              <a:rPr u="none" spc="-25" dirty="0"/>
              <a:t> </a:t>
            </a:r>
            <a:r>
              <a:rPr u="none" spc="-10" dirty="0"/>
              <a:t>Constellations</a:t>
            </a:r>
          </a:p>
        </p:txBody>
      </p:sp>
      <p:pic>
        <p:nvPicPr>
          <p:cNvPr id="4" name="object 4"/>
          <p:cNvPicPr/>
          <p:nvPr/>
        </p:nvPicPr>
        <p:blipFill>
          <a:blip r:embed="rId2" cstate="print"/>
          <a:stretch>
            <a:fillRect/>
          </a:stretch>
        </p:blipFill>
        <p:spPr>
          <a:xfrm>
            <a:off x="3749040" y="1165860"/>
            <a:ext cx="4693920" cy="45262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16-</a:t>
            </a:r>
            <a:r>
              <a:rPr dirty="0"/>
              <a:t>QAM</a:t>
            </a:r>
            <a:r>
              <a:rPr spc="-20" dirty="0"/>
              <a:t> </a:t>
            </a:r>
            <a:r>
              <a:rPr spc="-10" dirty="0"/>
              <a:t>Constellations</a:t>
            </a:r>
          </a:p>
        </p:txBody>
      </p:sp>
      <p:pic>
        <p:nvPicPr>
          <p:cNvPr id="3" name="object 3"/>
          <p:cNvPicPr/>
          <p:nvPr/>
        </p:nvPicPr>
        <p:blipFill>
          <a:blip r:embed="rId2" cstate="print"/>
          <a:stretch>
            <a:fillRect/>
          </a:stretch>
        </p:blipFill>
        <p:spPr>
          <a:xfrm>
            <a:off x="1569719" y="1770888"/>
            <a:ext cx="9022080" cy="4038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Analog-to-Analog Conversion</a:t>
            </a:r>
          </a:p>
        </p:txBody>
      </p:sp>
      <p:sp>
        <p:nvSpPr>
          <p:cNvPr id="3" name="Content Placeholder 2"/>
          <p:cNvSpPr>
            <a:spLocks noGrp="1"/>
          </p:cNvSpPr>
          <p:nvPr>
            <p:ph idx="1"/>
          </p:nvPr>
        </p:nvSpPr>
        <p:spPr>
          <a:xfrm>
            <a:off x="1487606" y="2438399"/>
            <a:ext cx="10216665" cy="4003343"/>
          </a:xfrm>
        </p:spPr>
        <p:txBody>
          <a:bodyPr>
            <a:normAutofit/>
          </a:bodyPr>
          <a:lstStyle/>
          <a:p>
            <a:r>
              <a:rPr lang="en-IN" dirty="0"/>
              <a:t>Also called </a:t>
            </a:r>
            <a:r>
              <a:rPr lang="en-IN" dirty="0" err="1"/>
              <a:t>Analog</a:t>
            </a:r>
            <a:r>
              <a:rPr lang="en-IN" dirty="0"/>
              <a:t> Modulation</a:t>
            </a:r>
          </a:p>
          <a:p>
            <a:pPr lvl="1"/>
            <a:r>
              <a:rPr lang="en-IN" dirty="0"/>
              <a:t>Representation of </a:t>
            </a:r>
            <a:r>
              <a:rPr lang="en-IN" dirty="0" err="1"/>
              <a:t>analog</a:t>
            </a:r>
            <a:r>
              <a:rPr lang="en-IN" dirty="0"/>
              <a:t> information by an </a:t>
            </a:r>
            <a:r>
              <a:rPr lang="en-IN" dirty="0" err="1"/>
              <a:t>analog</a:t>
            </a:r>
            <a:r>
              <a:rPr lang="en-IN" dirty="0"/>
              <a:t> signal</a:t>
            </a:r>
          </a:p>
          <a:p>
            <a:r>
              <a:rPr lang="en-IN" dirty="0"/>
              <a:t>Reason</a:t>
            </a:r>
          </a:p>
          <a:p>
            <a:pPr lvl="1"/>
            <a:r>
              <a:rPr lang="en-IN" dirty="0"/>
              <a:t>Modulation is needed if the medium is bandpass in nature or if only a bandpass channel is available</a:t>
            </a:r>
          </a:p>
          <a:p>
            <a:pPr lvl="1"/>
            <a:r>
              <a:rPr lang="en-IN" dirty="0" err="1"/>
              <a:t>Eg.</a:t>
            </a:r>
            <a:r>
              <a:rPr lang="en-IN" dirty="0"/>
              <a:t> Radio</a:t>
            </a:r>
          </a:p>
          <a:p>
            <a:pPr lvl="1"/>
            <a:r>
              <a:rPr lang="en-IN" dirty="0"/>
              <a:t>Government assigns a narrow bandwidth to each radio station</a:t>
            </a:r>
          </a:p>
          <a:p>
            <a:pPr lvl="1"/>
            <a:r>
              <a:rPr lang="en-IN" dirty="0"/>
              <a:t>The </a:t>
            </a:r>
            <a:r>
              <a:rPr lang="en-IN" dirty="0" err="1"/>
              <a:t>analog</a:t>
            </a:r>
            <a:r>
              <a:rPr lang="en-IN" dirty="0"/>
              <a:t> signal produced by each station is a low-pass signal, all in the same range</a:t>
            </a:r>
          </a:p>
          <a:p>
            <a:pPr lvl="1"/>
            <a:r>
              <a:rPr lang="en-IN" dirty="0"/>
              <a:t>To be able to listen to different stations, low pass signals need to be shifted, each to a different range</a:t>
            </a:r>
          </a:p>
        </p:txBody>
      </p:sp>
    </p:spTree>
    <p:extLst>
      <p:ext uri="{BB962C8B-B14F-4D97-AF65-F5344CB8AC3E}">
        <p14:creationId xmlns:p14="http://schemas.microsoft.com/office/powerpoint/2010/main" val="426227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372" y="1127940"/>
            <a:ext cx="839152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206685" y="3751931"/>
            <a:ext cx="5800299" cy="369332"/>
          </a:xfrm>
          <a:prstGeom prst="rect">
            <a:avLst/>
          </a:prstGeom>
          <a:noFill/>
        </p:spPr>
        <p:txBody>
          <a:bodyPr wrap="square" rtlCol="0">
            <a:spAutoFit/>
          </a:bodyPr>
          <a:lstStyle/>
          <a:p>
            <a:pPr algn="ctr"/>
            <a:r>
              <a:rPr lang="en-IN" dirty="0"/>
              <a:t>Types of </a:t>
            </a:r>
            <a:r>
              <a:rPr lang="en-IN" dirty="0" err="1"/>
              <a:t>analog</a:t>
            </a:r>
            <a:r>
              <a:rPr lang="en-IN" dirty="0"/>
              <a:t>-to-</a:t>
            </a:r>
            <a:r>
              <a:rPr lang="en-IN" dirty="0" err="1"/>
              <a:t>analog</a:t>
            </a:r>
            <a:r>
              <a:rPr lang="en-IN" dirty="0"/>
              <a:t> modulation</a:t>
            </a:r>
          </a:p>
        </p:txBody>
      </p:sp>
    </p:spTree>
    <p:extLst>
      <p:ext uri="{BB962C8B-B14F-4D97-AF65-F5344CB8AC3E}">
        <p14:creationId xmlns:p14="http://schemas.microsoft.com/office/powerpoint/2010/main" val="1459847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Analog-to-Analog Conversion: Amplitude Modulation (AM)</a:t>
            </a:r>
          </a:p>
        </p:txBody>
      </p:sp>
      <p:sp>
        <p:nvSpPr>
          <p:cNvPr id="3" name="Content Placeholder 2"/>
          <p:cNvSpPr>
            <a:spLocks noGrp="1"/>
          </p:cNvSpPr>
          <p:nvPr>
            <p:ph idx="1"/>
          </p:nvPr>
        </p:nvSpPr>
        <p:spPr>
          <a:xfrm>
            <a:off x="1187356" y="2438400"/>
            <a:ext cx="10516916" cy="3651504"/>
          </a:xfrm>
        </p:spPr>
        <p:txBody>
          <a:bodyPr>
            <a:normAutofit fontScale="92500" lnSpcReduction="20000"/>
          </a:bodyPr>
          <a:lstStyle/>
          <a:p>
            <a:pPr>
              <a:lnSpc>
                <a:spcPct val="150000"/>
              </a:lnSpc>
            </a:pPr>
            <a:r>
              <a:rPr lang="en-US" dirty="0"/>
              <a:t>A carrier signal is modulated only in amplitude value</a:t>
            </a:r>
          </a:p>
          <a:p>
            <a:pPr>
              <a:lnSpc>
                <a:spcPct val="150000"/>
              </a:lnSpc>
            </a:pPr>
            <a:r>
              <a:rPr lang="en-US" dirty="0"/>
              <a:t>The modulating signal is the envelope of the carrier</a:t>
            </a:r>
          </a:p>
          <a:p>
            <a:pPr>
              <a:lnSpc>
                <a:spcPct val="150000"/>
              </a:lnSpc>
            </a:pPr>
            <a:r>
              <a:rPr lang="en-US" dirty="0"/>
              <a:t>Frequency and phase of the carrier remain the same; only the amplitude changes to follow variations in the information</a:t>
            </a:r>
          </a:p>
          <a:p>
            <a:pPr>
              <a:lnSpc>
                <a:spcPct val="150000"/>
              </a:lnSpc>
            </a:pPr>
            <a:r>
              <a:rPr lang="en-US" dirty="0"/>
              <a:t>The required bandwidth is 2B, where B is the bandwidth of the modulating signal</a:t>
            </a:r>
          </a:p>
          <a:p>
            <a:pPr>
              <a:lnSpc>
                <a:spcPct val="150000"/>
              </a:lnSpc>
            </a:pPr>
            <a:r>
              <a:rPr lang="en-US" dirty="0"/>
              <a:t>Since on both sides of the carrier freq. f</a:t>
            </a:r>
            <a:r>
              <a:rPr lang="en-US" baseline="-25000" dirty="0"/>
              <a:t>c</a:t>
            </a:r>
            <a:r>
              <a:rPr lang="en-US" dirty="0"/>
              <a:t>, the spectrum is identical, we can discard one half, thus requiring a smaller bandwidth for transmission.</a:t>
            </a:r>
          </a:p>
          <a:p>
            <a:pPr>
              <a:lnSpc>
                <a:spcPct val="150000"/>
              </a:lnSpc>
            </a:pPr>
            <a:endParaRPr lang="en-IN" dirty="0"/>
          </a:p>
        </p:txBody>
      </p:sp>
    </p:spTree>
    <p:extLst>
      <p:ext uri="{BB962C8B-B14F-4D97-AF65-F5344CB8AC3E}">
        <p14:creationId xmlns:p14="http://schemas.microsoft.com/office/powerpoint/2010/main" val="1198870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9039" y="371642"/>
            <a:ext cx="8821737" cy="395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657600" y="4667534"/>
            <a:ext cx="5936776" cy="369332"/>
          </a:xfrm>
          <a:prstGeom prst="rect">
            <a:avLst/>
          </a:prstGeom>
          <a:noFill/>
        </p:spPr>
        <p:txBody>
          <a:bodyPr wrap="square" rtlCol="0">
            <a:spAutoFit/>
          </a:bodyPr>
          <a:lstStyle/>
          <a:p>
            <a:pPr algn="ctr"/>
            <a:r>
              <a:rPr lang="en-IN" dirty="0"/>
              <a:t>Amplitude Modulation</a:t>
            </a:r>
          </a:p>
        </p:txBody>
      </p:sp>
      <p:sp>
        <p:nvSpPr>
          <p:cNvPr id="6" name="TextBox 5"/>
          <p:cNvSpPr txBox="1"/>
          <p:nvPr/>
        </p:nvSpPr>
        <p:spPr>
          <a:xfrm>
            <a:off x="-4552" y="5582047"/>
            <a:ext cx="12192000" cy="83099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2400" dirty="0"/>
              <a:t>The total bandwidth required for AM can be determined from the bandwidth of the audio </a:t>
            </a:r>
            <a:br>
              <a:rPr lang="en-US" sz="2400" dirty="0"/>
            </a:br>
            <a:r>
              <a:rPr lang="en-US" sz="2400" dirty="0"/>
              <a:t>signal: B</a:t>
            </a:r>
            <a:r>
              <a:rPr lang="en-US" sz="2400" baseline="-25000" dirty="0"/>
              <a:t>AM</a:t>
            </a:r>
            <a:r>
              <a:rPr lang="en-US" sz="2400" dirty="0"/>
              <a:t> = 2B</a:t>
            </a:r>
            <a:endParaRPr lang="en-IN" sz="2400" dirty="0"/>
          </a:p>
        </p:txBody>
      </p:sp>
    </p:spTree>
    <p:extLst>
      <p:ext uri="{BB962C8B-B14F-4D97-AF65-F5344CB8AC3E}">
        <p14:creationId xmlns:p14="http://schemas.microsoft.com/office/powerpoint/2010/main" val="1678084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Analog-to-Analog Conversion: Amplitude Modulation (AM)</a:t>
            </a:r>
          </a:p>
        </p:txBody>
      </p:sp>
      <p:sp>
        <p:nvSpPr>
          <p:cNvPr id="3" name="Content Placeholder 2"/>
          <p:cNvSpPr>
            <a:spLocks noGrp="1"/>
          </p:cNvSpPr>
          <p:nvPr>
            <p:ph idx="1"/>
          </p:nvPr>
        </p:nvSpPr>
        <p:spPr>
          <a:xfrm>
            <a:off x="1097280" y="1737360"/>
            <a:ext cx="10516916" cy="3651504"/>
          </a:xfrm>
        </p:spPr>
        <p:txBody>
          <a:bodyPr>
            <a:normAutofit/>
          </a:bodyPr>
          <a:lstStyle/>
          <a:p>
            <a:pPr>
              <a:lnSpc>
                <a:spcPct val="100000"/>
              </a:lnSpc>
              <a:buFont typeface="Wingdings" panose="05000000000000000000" pitchFamily="2" charset="2"/>
              <a:buChar char="§"/>
            </a:pPr>
            <a:r>
              <a:rPr lang="en-US" dirty="0"/>
              <a:t>Assume the modulating signal is m(t) = A</a:t>
            </a:r>
            <a:r>
              <a:rPr lang="en-US" baseline="-25000" dirty="0"/>
              <a:t>m</a:t>
            </a:r>
            <a:r>
              <a:rPr lang="en-US" dirty="0"/>
              <a:t> * cos(2</a:t>
            </a:r>
            <a:r>
              <a:rPr lang="el-GR" dirty="0"/>
              <a:t>π</a:t>
            </a:r>
            <a:r>
              <a:rPr lang="en-IN" dirty="0" err="1"/>
              <a:t>f</a:t>
            </a:r>
            <a:r>
              <a:rPr lang="en-IN" baseline="-25000" dirty="0" err="1"/>
              <a:t>m</a:t>
            </a:r>
            <a:r>
              <a:rPr lang="en-IN" dirty="0" err="1"/>
              <a:t>t</a:t>
            </a:r>
            <a:r>
              <a:rPr lang="en-IN" dirty="0"/>
              <a:t>) and carrier signal is c(t)= </a:t>
            </a:r>
            <a:r>
              <a:rPr lang="en-US" dirty="0"/>
              <a:t>A</a:t>
            </a:r>
            <a:r>
              <a:rPr lang="en-US" baseline="-25000" dirty="0"/>
              <a:t>c</a:t>
            </a:r>
            <a:r>
              <a:rPr lang="en-US" dirty="0"/>
              <a:t> * cos(2</a:t>
            </a:r>
            <a:r>
              <a:rPr lang="el-GR" dirty="0"/>
              <a:t>π</a:t>
            </a:r>
            <a:r>
              <a:rPr lang="en-IN" dirty="0" err="1"/>
              <a:t>f</a:t>
            </a:r>
            <a:r>
              <a:rPr lang="en-IN" baseline="-25000" dirty="0" err="1"/>
              <a:t>c</a:t>
            </a:r>
            <a:r>
              <a:rPr lang="en-IN" dirty="0" err="1"/>
              <a:t>t</a:t>
            </a:r>
            <a:r>
              <a:rPr lang="en-IN" dirty="0"/>
              <a:t>) </a:t>
            </a:r>
          </a:p>
          <a:p>
            <a:pPr>
              <a:lnSpc>
                <a:spcPct val="100000"/>
              </a:lnSpc>
              <a:buFont typeface="Wingdings" panose="05000000000000000000" pitchFamily="2" charset="2"/>
              <a:buChar char="§"/>
            </a:pPr>
            <a:r>
              <a:rPr lang="en-IN" dirty="0"/>
              <a:t>Modulation index m = A</a:t>
            </a:r>
            <a:r>
              <a:rPr lang="en-IN" baseline="-25000" dirty="0"/>
              <a:t>m</a:t>
            </a:r>
            <a:r>
              <a:rPr lang="en-IN" dirty="0"/>
              <a:t> / A</a:t>
            </a:r>
            <a:r>
              <a:rPr lang="en-IN" baseline="-25000" dirty="0"/>
              <a:t>c</a:t>
            </a:r>
          </a:p>
          <a:p>
            <a:pPr>
              <a:lnSpc>
                <a:spcPct val="100000"/>
              </a:lnSpc>
              <a:buFont typeface="Wingdings" panose="05000000000000000000" pitchFamily="2" charset="2"/>
              <a:buChar char="§"/>
            </a:pPr>
            <a:r>
              <a:rPr lang="en-US" dirty="0"/>
              <a:t>The value of m decides the level of modulation.</a:t>
            </a:r>
          </a:p>
          <a:p>
            <a:pPr>
              <a:lnSpc>
                <a:spcPct val="150000"/>
              </a:lnSpc>
            </a:pPr>
            <a:endParaRPr lang="en-IN" dirty="0"/>
          </a:p>
        </p:txBody>
      </p:sp>
    </p:spTree>
    <p:extLst>
      <p:ext uri="{BB962C8B-B14F-4D97-AF65-F5344CB8AC3E}">
        <p14:creationId xmlns:p14="http://schemas.microsoft.com/office/powerpoint/2010/main" val="3778749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24" y="286604"/>
            <a:ext cx="10958456" cy="412644"/>
          </a:xfrm>
        </p:spPr>
        <p:txBody>
          <a:bodyPr>
            <a:normAutofit fontScale="90000"/>
          </a:bodyPr>
          <a:lstStyle/>
          <a:p>
            <a:r>
              <a:rPr lang="en-IN" dirty="0"/>
              <a:t>Amplitude Modulation (AM)</a:t>
            </a:r>
          </a:p>
        </p:txBody>
      </p:sp>
      <p:pic>
        <p:nvPicPr>
          <p:cNvPr id="4" name="Picture 3">
            <a:extLst>
              <a:ext uri="{FF2B5EF4-FFF2-40B4-BE49-F238E27FC236}">
                <a16:creationId xmlns:a16="http://schemas.microsoft.com/office/drawing/2014/main" id="{60FB91A1-E38E-4562-B218-4D9EA6D5F7F5}"/>
              </a:ext>
            </a:extLst>
          </p:cNvPr>
          <p:cNvPicPr>
            <a:picLocks noChangeAspect="1"/>
          </p:cNvPicPr>
          <p:nvPr/>
        </p:nvPicPr>
        <p:blipFill>
          <a:blip r:embed="rId2"/>
          <a:stretch>
            <a:fillRect/>
          </a:stretch>
        </p:blipFill>
        <p:spPr>
          <a:xfrm>
            <a:off x="7424386" y="-26893"/>
            <a:ext cx="4501343" cy="6231547"/>
          </a:xfrm>
          <a:prstGeom prst="rect">
            <a:avLst/>
          </a:prstGeom>
        </p:spPr>
      </p:pic>
      <p:graphicFrame>
        <p:nvGraphicFramePr>
          <p:cNvPr id="5" name="Table 5">
            <a:extLst>
              <a:ext uri="{FF2B5EF4-FFF2-40B4-BE49-F238E27FC236}">
                <a16:creationId xmlns:a16="http://schemas.microsoft.com/office/drawing/2014/main" id="{A50445F8-F59D-424D-A997-772AC545823F}"/>
              </a:ext>
            </a:extLst>
          </p:cNvPr>
          <p:cNvGraphicFramePr>
            <a:graphicFrameLocks noGrp="1"/>
          </p:cNvGraphicFramePr>
          <p:nvPr>
            <p:extLst>
              <p:ext uri="{D42A27DB-BD31-4B8C-83A1-F6EECF244321}">
                <p14:modId xmlns:p14="http://schemas.microsoft.com/office/powerpoint/2010/main" val="2446464648"/>
              </p:ext>
            </p:extLst>
          </p:nvPr>
        </p:nvGraphicFramePr>
        <p:xfrm>
          <a:off x="0" y="1750605"/>
          <a:ext cx="7342094" cy="2316480"/>
        </p:xfrm>
        <a:graphic>
          <a:graphicData uri="http://schemas.openxmlformats.org/drawingml/2006/table">
            <a:tbl>
              <a:tblPr firstRow="1" bandRow="1">
                <a:tableStyleId>{7DF18680-E054-41AD-8BC1-D1AEF772440D}</a:tableStyleId>
              </a:tblPr>
              <a:tblGrid>
                <a:gridCol w="1414631">
                  <a:extLst>
                    <a:ext uri="{9D8B030D-6E8A-4147-A177-3AD203B41FA5}">
                      <a16:colId xmlns:a16="http://schemas.microsoft.com/office/drawing/2014/main" val="2708094289"/>
                    </a:ext>
                  </a:extLst>
                </a:gridCol>
                <a:gridCol w="1414631">
                  <a:extLst>
                    <a:ext uri="{9D8B030D-6E8A-4147-A177-3AD203B41FA5}">
                      <a16:colId xmlns:a16="http://schemas.microsoft.com/office/drawing/2014/main" val="481209687"/>
                    </a:ext>
                  </a:extLst>
                </a:gridCol>
                <a:gridCol w="1706879">
                  <a:extLst>
                    <a:ext uri="{9D8B030D-6E8A-4147-A177-3AD203B41FA5}">
                      <a16:colId xmlns:a16="http://schemas.microsoft.com/office/drawing/2014/main" val="2914236454"/>
                    </a:ext>
                  </a:extLst>
                </a:gridCol>
                <a:gridCol w="1122383">
                  <a:extLst>
                    <a:ext uri="{9D8B030D-6E8A-4147-A177-3AD203B41FA5}">
                      <a16:colId xmlns:a16="http://schemas.microsoft.com/office/drawing/2014/main" val="4016948219"/>
                    </a:ext>
                  </a:extLst>
                </a:gridCol>
                <a:gridCol w="1683570">
                  <a:extLst>
                    <a:ext uri="{9D8B030D-6E8A-4147-A177-3AD203B41FA5}">
                      <a16:colId xmlns:a16="http://schemas.microsoft.com/office/drawing/2014/main" val="3455891295"/>
                    </a:ext>
                  </a:extLst>
                </a:gridCol>
              </a:tblGrid>
              <a:tr h="521472">
                <a:tc>
                  <a:txBody>
                    <a:bodyPr/>
                    <a:lstStyle/>
                    <a:p>
                      <a:pPr rtl="0" fontAlgn="ctr"/>
                      <a:r>
                        <a:rPr lang="en-IN" dirty="0">
                          <a:effectLst/>
                        </a:rPr>
                        <a:t>Type</a:t>
                      </a:r>
                    </a:p>
                  </a:txBody>
                  <a:tcPr marL="22860" marR="22860" marT="15240" marB="15240" anchor="ctr"/>
                </a:tc>
                <a:tc>
                  <a:txBody>
                    <a:bodyPr/>
                    <a:lstStyle/>
                    <a:p>
                      <a:pPr rtl="0" fontAlgn="ctr"/>
                      <a:r>
                        <a:rPr lang="en-IN" dirty="0">
                          <a:effectLst/>
                        </a:rPr>
                        <a:t>Condition</a:t>
                      </a:r>
                    </a:p>
                  </a:txBody>
                  <a:tcPr marL="22860" marR="22860" marT="15240" marB="15240" anchor="ctr"/>
                </a:tc>
                <a:tc>
                  <a:txBody>
                    <a:bodyPr/>
                    <a:lstStyle/>
                    <a:p>
                      <a:pPr rtl="0" fontAlgn="ctr"/>
                      <a:r>
                        <a:rPr lang="en-IN" dirty="0">
                          <a:effectLst/>
                        </a:rPr>
                        <a:t>Envelope at Minimum</a:t>
                      </a:r>
                    </a:p>
                  </a:txBody>
                  <a:tcPr marL="22860" marR="22860" marT="15240" marB="15240" anchor="ctr"/>
                </a:tc>
                <a:tc>
                  <a:txBody>
                    <a:bodyPr/>
                    <a:lstStyle/>
                    <a:p>
                      <a:pPr rtl="0" fontAlgn="ctr"/>
                      <a:r>
                        <a:rPr lang="en-IN" dirty="0">
                          <a:effectLst/>
                        </a:rPr>
                        <a:t>Distortion</a:t>
                      </a:r>
                    </a:p>
                  </a:txBody>
                  <a:tcPr marL="22860" marR="22860" marT="15240" marB="15240" anchor="ctr"/>
                </a:tc>
                <a:tc>
                  <a:txBody>
                    <a:bodyPr/>
                    <a:lstStyle/>
                    <a:p>
                      <a:pPr rtl="0" fontAlgn="ctr"/>
                      <a:r>
                        <a:rPr lang="en-IN" dirty="0">
                          <a:effectLst/>
                        </a:rPr>
                        <a:t>Recovery Method</a:t>
                      </a:r>
                    </a:p>
                  </a:txBody>
                  <a:tcPr marL="22860" marR="22860" marT="15240" marB="15240" anchor="ctr"/>
                </a:tc>
                <a:extLst>
                  <a:ext uri="{0D108BD9-81ED-4DB2-BD59-A6C34878D82A}">
                    <a16:rowId xmlns:a16="http://schemas.microsoft.com/office/drawing/2014/main" val="2104883260"/>
                  </a:ext>
                </a:extLst>
              </a:tr>
              <a:tr h="521472">
                <a:tc>
                  <a:txBody>
                    <a:bodyPr/>
                    <a:lstStyle/>
                    <a:p>
                      <a:pPr rtl="0" fontAlgn="ctr"/>
                      <a:r>
                        <a:rPr lang="en-IN">
                          <a:effectLst/>
                        </a:rPr>
                        <a:t>Under Modulation</a:t>
                      </a:r>
                    </a:p>
                  </a:txBody>
                  <a:tcPr marL="22860" marR="22860" marT="15240" marB="15240" anchor="ctr"/>
                </a:tc>
                <a:tc>
                  <a:txBody>
                    <a:bodyPr/>
                    <a:lstStyle/>
                    <a:p>
                      <a:pPr rtl="0" fontAlgn="ctr"/>
                      <a:r>
                        <a:rPr lang="en-IN">
                          <a:effectLst/>
                        </a:rPr>
                        <a:t>Am​&lt;Ac​ (m&lt;1)</a:t>
                      </a:r>
                    </a:p>
                  </a:txBody>
                  <a:tcPr marL="22860" marR="22860" marT="15240" marB="15240" anchor="ctr"/>
                </a:tc>
                <a:tc>
                  <a:txBody>
                    <a:bodyPr/>
                    <a:lstStyle/>
                    <a:p>
                      <a:pPr rtl="0" fontAlgn="ctr"/>
                      <a:r>
                        <a:rPr lang="en-IN">
                          <a:effectLst/>
                        </a:rPr>
                        <a:t>Never reaches zero</a:t>
                      </a:r>
                    </a:p>
                  </a:txBody>
                  <a:tcPr marL="22860" marR="22860" marT="15240" marB="15240" anchor="ctr"/>
                </a:tc>
                <a:tc>
                  <a:txBody>
                    <a:bodyPr/>
                    <a:lstStyle/>
                    <a:p>
                      <a:pPr rtl="0" fontAlgn="ctr"/>
                      <a:r>
                        <a:rPr lang="en-IN">
                          <a:effectLst/>
                        </a:rPr>
                        <a:t>None</a:t>
                      </a:r>
                    </a:p>
                  </a:txBody>
                  <a:tcPr marL="22860" marR="22860" marT="15240" marB="15240" anchor="ctr"/>
                </a:tc>
                <a:tc>
                  <a:txBody>
                    <a:bodyPr/>
                    <a:lstStyle/>
                    <a:p>
                      <a:pPr rtl="0" fontAlgn="ctr"/>
                      <a:r>
                        <a:rPr lang="en-IN">
                          <a:effectLst/>
                        </a:rPr>
                        <a:t>Simple Envelope Detector</a:t>
                      </a:r>
                    </a:p>
                  </a:txBody>
                  <a:tcPr marL="22860" marR="22860" marT="15240" marB="15240" anchor="ctr"/>
                </a:tc>
                <a:extLst>
                  <a:ext uri="{0D108BD9-81ED-4DB2-BD59-A6C34878D82A}">
                    <a16:rowId xmlns:a16="http://schemas.microsoft.com/office/drawing/2014/main" val="3007442129"/>
                  </a:ext>
                </a:extLst>
              </a:tr>
              <a:tr h="521472">
                <a:tc>
                  <a:txBody>
                    <a:bodyPr/>
                    <a:lstStyle/>
                    <a:p>
                      <a:pPr rtl="0" fontAlgn="ctr"/>
                      <a:r>
                        <a:rPr lang="en-IN">
                          <a:effectLst/>
                        </a:rPr>
                        <a:t>Ideal Modulation</a:t>
                      </a:r>
                    </a:p>
                  </a:txBody>
                  <a:tcPr marL="22860" marR="22860" marT="15240" marB="15240" anchor="ctr"/>
                </a:tc>
                <a:tc>
                  <a:txBody>
                    <a:bodyPr/>
                    <a:lstStyle/>
                    <a:p>
                      <a:pPr rtl="0" fontAlgn="ctr"/>
                      <a:r>
                        <a:rPr lang="en-IN">
                          <a:effectLst/>
                        </a:rPr>
                        <a:t>Am​=Ac​ (m=1)</a:t>
                      </a:r>
                    </a:p>
                  </a:txBody>
                  <a:tcPr marL="22860" marR="22860" marT="15240" marB="15240" anchor="ctr"/>
                </a:tc>
                <a:tc>
                  <a:txBody>
                    <a:bodyPr/>
                    <a:lstStyle/>
                    <a:p>
                      <a:pPr rtl="0" fontAlgn="ctr"/>
                      <a:r>
                        <a:rPr lang="en-IN">
                          <a:effectLst/>
                        </a:rPr>
                        <a:t>Exactly touches zero</a:t>
                      </a:r>
                    </a:p>
                  </a:txBody>
                  <a:tcPr marL="22860" marR="22860" marT="15240" marB="15240" anchor="ctr"/>
                </a:tc>
                <a:tc>
                  <a:txBody>
                    <a:bodyPr/>
                    <a:lstStyle/>
                    <a:p>
                      <a:pPr rtl="0" fontAlgn="ctr"/>
                      <a:r>
                        <a:rPr lang="en-IN" dirty="0">
                          <a:effectLst/>
                        </a:rPr>
                        <a:t>None</a:t>
                      </a:r>
                    </a:p>
                  </a:txBody>
                  <a:tcPr marL="22860" marR="22860" marT="15240" marB="15240" anchor="ctr"/>
                </a:tc>
                <a:tc>
                  <a:txBody>
                    <a:bodyPr/>
                    <a:lstStyle/>
                    <a:p>
                      <a:pPr rtl="0" fontAlgn="ctr"/>
                      <a:r>
                        <a:rPr lang="en-IN">
                          <a:effectLst/>
                        </a:rPr>
                        <a:t>Simple Envelope Detector</a:t>
                      </a:r>
                    </a:p>
                  </a:txBody>
                  <a:tcPr marL="22860" marR="22860" marT="15240" marB="15240" anchor="ctr"/>
                </a:tc>
                <a:extLst>
                  <a:ext uri="{0D108BD9-81ED-4DB2-BD59-A6C34878D82A}">
                    <a16:rowId xmlns:a16="http://schemas.microsoft.com/office/drawing/2014/main" val="2597117275"/>
                  </a:ext>
                </a:extLst>
              </a:tr>
              <a:tr h="521472">
                <a:tc>
                  <a:txBody>
                    <a:bodyPr/>
                    <a:lstStyle/>
                    <a:p>
                      <a:pPr rtl="0" fontAlgn="ctr"/>
                      <a:r>
                        <a:rPr lang="en-IN">
                          <a:effectLst/>
                        </a:rPr>
                        <a:t>Over Modulation</a:t>
                      </a:r>
                    </a:p>
                  </a:txBody>
                  <a:tcPr marL="22860" marR="22860" marT="15240" marB="15240" anchor="ctr"/>
                </a:tc>
                <a:tc>
                  <a:txBody>
                    <a:bodyPr/>
                    <a:lstStyle/>
                    <a:p>
                      <a:pPr rtl="0" fontAlgn="ctr"/>
                      <a:r>
                        <a:rPr lang="en-IN">
                          <a:effectLst/>
                        </a:rPr>
                        <a:t>Am​&gt;Ac​ (m&gt;1)</a:t>
                      </a:r>
                    </a:p>
                  </a:txBody>
                  <a:tcPr marL="22860" marR="22860" marT="15240" marB="15240" anchor="ctr"/>
                </a:tc>
                <a:tc>
                  <a:txBody>
                    <a:bodyPr/>
                    <a:lstStyle/>
                    <a:p>
                      <a:pPr rtl="0" fontAlgn="ctr"/>
                      <a:r>
                        <a:rPr lang="en-IN">
                          <a:effectLst/>
                        </a:rPr>
                        <a:t>Crosses zero (Phase Reversal)</a:t>
                      </a:r>
                    </a:p>
                  </a:txBody>
                  <a:tcPr marL="22860" marR="22860" marT="15240" marB="15240" anchor="ctr"/>
                </a:tc>
                <a:tc>
                  <a:txBody>
                    <a:bodyPr/>
                    <a:lstStyle/>
                    <a:p>
                      <a:pPr rtl="0" fontAlgn="ctr"/>
                      <a:r>
                        <a:rPr lang="en-IN">
                          <a:effectLst/>
                        </a:rPr>
                        <a:t>Severe (Clipping)</a:t>
                      </a:r>
                    </a:p>
                  </a:txBody>
                  <a:tcPr marL="22860" marR="22860" marT="15240" marB="15240" anchor="ctr"/>
                </a:tc>
                <a:tc>
                  <a:txBody>
                    <a:bodyPr/>
                    <a:lstStyle/>
                    <a:p>
                      <a:pPr rtl="0" fontAlgn="ctr"/>
                      <a:r>
                        <a:rPr lang="en-IN" dirty="0">
                          <a:effectLst/>
                        </a:rPr>
                        <a:t>Synchronous Detector only</a:t>
                      </a:r>
                    </a:p>
                  </a:txBody>
                  <a:tcPr marL="22860" marR="22860" marT="15240" marB="15240" anchor="ctr"/>
                </a:tc>
                <a:extLst>
                  <a:ext uri="{0D108BD9-81ED-4DB2-BD59-A6C34878D82A}">
                    <a16:rowId xmlns:a16="http://schemas.microsoft.com/office/drawing/2014/main" val="1713086406"/>
                  </a:ext>
                </a:extLst>
              </a:tr>
            </a:tbl>
          </a:graphicData>
        </a:graphic>
      </p:graphicFrame>
    </p:spTree>
    <p:extLst>
      <p:ext uri="{BB962C8B-B14F-4D97-AF65-F5344CB8AC3E}">
        <p14:creationId xmlns:p14="http://schemas.microsoft.com/office/powerpoint/2010/main" val="2218104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Analog-to-Analog Conversion: Amplitude Modulation (AM)</a:t>
            </a:r>
          </a:p>
        </p:txBody>
      </p:sp>
      <p:sp>
        <p:nvSpPr>
          <p:cNvPr id="3" name="Content Placeholder 2"/>
          <p:cNvSpPr>
            <a:spLocks noGrp="1"/>
          </p:cNvSpPr>
          <p:nvPr>
            <p:ph idx="1"/>
          </p:nvPr>
        </p:nvSpPr>
        <p:spPr>
          <a:xfrm>
            <a:off x="1097280" y="1737359"/>
            <a:ext cx="11094720" cy="4753087"/>
          </a:xfrm>
        </p:spPr>
        <p:txBody>
          <a:bodyPr>
            <a:normAutofit/>
          </a:bodyPr>
          <a:lstStyle/>
          <a:p>
            <a:pPr>
              <a:lnSpc>
                <a:spcPct val="100000"/>
              </a:lnSpc>
              <a:buFont typeface="Wingdings" panose="05000000000000000000" pitchFamily="2" charset="2"/>
              <a:buChar char="§"/>
            </a:pPr>
            <a:r>
              <a:rPr lang="en-US" dirty="0"/>
              <a:t>The fundamental definition of Amplitude Modulation is that the amplitude of the carrier signal is varied in direct proportion to the instantaneous amplitude of the modulating signal.</a:t>
            </a:r>
          </a:p>
          <a:p>
            <a:pPr>
              <a:lnSpc>
                <a:spcPct val="100000"/>
              </a:lnSpc>
              <a:buFont typeface="Wingdings" panose="05000000000000000000" pitchFamily="2" charset="2"/>
              <a:buChar char="§"/>
            </a:pPr>
            <a:r>
              <a:rPr lang="en-US" dirty="0"/>
              <a:t>The instantaneous amplitude of the modulated wave, let's call it A(t), becomes the sum of the unmodulated carrier amplitude and the message signal: </a:t>
            </a:r>
            <a:r>
              <a:rPr lang="fr-FR" dirty="0"/>
              <a:t>A(t) = </a:t>
            </a:r>
            <a:r>
              <a:rPr lang="fr-FR" dirty="0" err="1"/>
              <a:t>A</a:t>
            </a:r>
            <a:r>
              <a:rPr lang="fr-FR" baseline="-25000" dirty="0" err="1"/>
              <a:t>c</a:t>
            </a:r>
            <a:r>
              <a:rPr lang="fr-FR" dirty="0"/>
              <a:t> + m(t) = </a:t>
            </a:r>
            <a:r>
              <a:rPr lang="fr-FR" dirty="0" err="1"/>
              <a:t>A</a:t>
            </a:r>
            <a:r>
              <a:rPr lang="fr-FR" baseline="-25000" dirty="0" err="1"/>
              <a:t>c</a:t>
            </a:r>
            <a:r>
              <a:rPr lang="fr-FR" dirty="0"/>
              <a:t> + A</a:t>
            </a:r>
            <a:r>
              <a:rPr lang="fr-FR" baseline="-25000" dirty="0"/>
              <a:t>m</a:t>
            </a:r>
            <a:r>
              <a:rPr lang="fr-FR" dirty="0"/>
              <a:t> cos(2 </a:t>
            </a:r>
            <a:r>
              <a:rPr lang="el-GR" dirty="0"/>
              <a:t>π</a:t>
            </a:r>
            <a:r>
              <a:rPr lang="fr-FR" dirty="0"/>
              <a:t> </a:t>
            </a:r>
            <a:r>
              <a:rPr lang="fr-FR" dirty="0" err="1"/>
              <a:t>f</a:t>
            </a:r>
            <a:r>
              <a:rPr lang="fr-FR" baseline="-25000" dirty="0" err="1"/>
              <a:t>m</a:t>
            </a:r>
            <a:r>
              <a:rPr lang="fr-FR" dirty="0"/>
              <a:t> t)</a:t>
            </a:r>
          </a:p>
          <a:p>
            <a:pPr>
              <a:lnSpc>
                <a:spcPct val="100000"/>
              </a:lnSpc>
              <a:buFont typeface="Wingdings" panose="05000000000000000000" pitchFamily="2" charset="2"/>
              <a:buChar char="§"/>
            </a:pPr>
            <a:r>
              <a:rPr lang="fr-FR" dirty="0"/>
              <a:t>The carrier signal </a:t>
            </a:r>
            <a:r>
              <a:rPr lang="fr-FR" dirty="0" err="1"/>
              <a:t>with</a:t>
            </a:r>
            <a:r>
              <a:rPr lang="fr-FR" dirty="0"/>
              <a:t> time </a:t>
            </a:r>
            <a:r>
              <a:rPr lang="fr-FR" dirty="0" err="1"/>
              <a:t>varying</a:t>
            </a:r>
            <a:r>
              <a:rPr lang="fr-FR" dirty="0"/>
              <a:t> amplitude </a:t>
            </a:r>
            <a:r>
              <a:rPr lang="en-IN" dirty="0"/>
              <a:t>c(t)= </a:t>
            </a:r>
            <a:r>
              <a:rPr lang="en-US" dirty="0"/>
              <a:t>A(t) cos(2</a:t>
            </a:r>
            <a:r>
              <a:rPr lang="el-GR" dirty="0"/>
              <a:t>π</a:t>
            </a:r>
            <a:r>
              <a:rPr lang="en-IN" dirty="0" err="1"/>
              <a:t>f</a:t>
            </a:r>
            <a:r>
              <a:rPr lang="en-IN" baseline="-25000" dirty="0" err="1"/>
              <a:t>c</a:t>
            </a:r>
            <a:r>
              <a:rPr lang="en-IN" dirty="0" err="1"/>
              <a:t>t</a:t>
            </a:r>
            <a:r>
              <a:rPr lang="en-IN" dirty="0"/>
              <a:t>)</a:t>
            </a:r>
          </a:p>
          <a:p>
            <a:pPr marL="0" indent="0">
              <a:lnSpc>
                <a:spcPct val="100000"/>
              </a:lnSpc>
              <a:buNone/>
            </a:pPr>
            <a:r>
              <a:rPr lang="en-IN" dirty="0"/>
              <a:t>					  =[</a:t>
            </a:r>
            <a:r>
              <a:rPr lang="fr-FR" dirty="0" err="1"/>
              <a:t>A</a:t>
            </a:r>
            <a:r>
              <a:rPr lang="fr-FR" baseline="-25000" dirty="0" err="1"/>
              <a:t>c</a:t>
            </a:r>
            <a:r>
              <a:rPr lang="fr-FR" dirty="0"/>
              <a:t> + A</a:t>
            </a:r>
            <a:r>
              <a:rPr lang="fr-FR" baseline="-25000" dirty="0"/>
              <a:t>m</a:t>
            </a:r>
            <a:r>
              <a:rPr lang="fr-FR" dirty="0"/>
              <a:t> cos(2</a:t>
            </a:r>
            <a:r>
              <a:rPr lang="el-GR" dirty="0"/>
              <a:t>π</a:t>
            </a:r>
            <a:r>
              <a:rPr lang="fr-FR" dirty="0" err="1"/>
              <a:t>f</a:t>
            </a:r>
            <a:r>
              <a:rPr lang="fr-FR" baseline="-25000" dirty="0" err="1"/>
              <a:t>m</a:t>
            </a:r>
            <a:r>
              <a:rPr lang="fr-FR" dirty="0" err="1"/>
              <a:t>t</a:t>
            </a:r>
            <a:r>
              <a:rPr lang="fr-FR" dirty="0"/>
              <a:t>)] </a:t>
            </a:r>
            <a:r>
              <a:rPr lang="en-US" dirty="0"/>
              <a:t> cos(2</a:t>
            </a:r>
            <a:r>
              <a:rPr lang="el-GR" dirty="0"/>
              <a:t>π</a:t>
            </a:r>
            <a:r>
              <a:rPr lang="en-IN" dirty="0" err="1"/>
              <a:t>f</a:t>
            </a:r>
            <a:r>
              <a:rPr lang="en-IN" baseline="-25000" dirty="0" err="1"/>
              <a:t>c</a:t>
            </a:r>
            <a:r>
              <a:rPr lang="en-IN" dirty="0" err="1"/>
              <a:t>t</a:t>
            </a:r>
            <a:r>
              <a:rPr lang="en-IN" dirty="0"/>
              <a:t>) </a:t>
            </a:r>
          </a:p>
          <a:p>
            <a:pPr marL="0" indent="0">
              <a:lnSpc>
                <a:spcPct val="100000"/>
              </a:lnSpc>
              <a:buNone/>
            </a:pPr>
            <a:r>
              <a:rPr lang="en-IN" dirty="0"/>
              <a:t>					  =[</a:t>
            </a:r>
            <a:r>
              <a:rPr lang="fr-FR" dirty="0" err="1"/>
              <a:t>A</a:t>
            </a:r>
            <a:r>
              <a:rPr lang="fr-FR" baseline="-25000" dirty="0" err="1"/>
              <a:t>c</a:t>
            </a:r>
            <a:r>
              <a:rPr lang="fr-FR" dirty="0"/>
              <a:t> + m </a:t>
            </a:r>
            <a:r>
              <a:rPr lang="fr-FR" dirty="0" err="1"/>
              <a:t>A</a:t>
            </a:r>
            <a:r>
              <a:rPr lang="fr-FR" baseline="-25000" dirty="0" err="1"/>
              <a:t>c</a:t>
            </a:r>
            <a:r>
              <a:rPr lang="fr-FR" dirty="0"/>
              <a:t> cos(2</a:t>
            </a:r>
            <a:r>
              <a:rPr lang="el-GR" dirty="0"/>
              <a:t>π</a:t>
            </a:r>
            <a:r>
              <a:rPr lang="fr-FR" dirty="0" err="1"/>
              <a:t>f</a:t>
            </a:r>
            <a:r>
              <a:rPr lang="fr-FR" baseline="-25000" dirty="0" err="1"/>
              <a:t>m</a:t>
            </a:r>
            <a:r>
              <a:rPr lang="fr-FR" dirty="0" err="1"/>
              <a:t>t</a:t>
            </a:r>
            <a:r>
              <a:rPr lang="fr-FR" dirty="0"/>
              <a:t>)] </a:t>
            </a:r>
            <a:r>
              <a:rPr lang="en-US" dirty="0"/>
              <a:t> cos(2</a:t>
            </a:r>
            <a:r>
              <a:rPr lang="el-GR" dirty="0"/>
              <a:t>π</a:t>
            </a:r>
            <a:r>
              <a:rPr lang="en-IN" dirty="0" err="1"/>
              <a:t>f</a:t>
            </a:r>
            <a:r>
              <a:rPr lang="en-IN" baseline="-25000" dirty="0" err="1"/>
              <a:t>c</a:t>
            </a:r>
            <a:r>
              <a:rPr lang="en-IN" dirty="0" err="1"/>
              <a:t>t</a:t>
            </a:r>
            <a:r>
              <a:rPr lang="en-IN" dirty="0"/>
              <a:t>)</a:t>
            </a:r>
          </a:p>
          <a:p>
            <a:pPr marL="0" indent="0">
              <a:lnSpc>
                <a:spcPct val="100000"/>
              </a:lnSpc>
              <a:buNone/>
            </a:pPr>
            <a:r>
              <a:rPr lang="en-IN" dirty="0"/>
              <a:t>					  =</a:t>
            </a:r>
            <a:r>
              <a:rPr lang="fr-FR" dirty="0"/>
              <a:t> </a:t>
            </a:r>
            <a:r>
              <a:rPr lang="fr-FR" dirty="0" err="1"/>
              <a:t>A</a:t>
            </a:r>
            <a:r>
              <a:rPr lang="fr-FR" baseline="-25000" dirty="0" err="1"/>
              <a:t>c</a:t>
            </a:r>
            <a:r>
              <a:rPr lang="en-IN" dirty="0"/>
              <a:t>[</a:t>
            </a:r>
            <a:r>
              <a:rPr lang="fr-FR" dirty="0"/>
              <a:t>1+ m cos(2</a:t>
            </a:r>
            <a:r>
              <a:rPr lang="el-GR" dirty="0"/>
              <a:t>π</a:t>
            </a:r>
            <a:r>
              <a:rPr lang="fr-FR" dirty="0" err="1"/>
              <a:t>f</a:t>
            </a:r>
            <a:r>
              <a:rPr lang="fr-FR" baseline="-25000" dirty="0" err="1"/>
              <a:t>m</a:t>
            </a:r>
            <a:r>
              <a:rPr lang="fr-FR" dirty="0" err="1"/>
              <a:t>t</a:t>
            </a:r>
            <a:r>
              <a:rPr lang="fr-FR" dirty="0"/>
              <a:t>)] </a:t>
            </a:r>
            <a:r>
              <a:rPr lang="en-US" dirty="0"/>
              <a:t> cos(2</a:t>
            </a:r>
            <a:r>
              <a:rPr lang="el-GR" dirty="0"/>
              <a:t>π</a:t>
            </a:r>
            <a:r>
              <a:rPr lang="en-IN" dirty="0" err="1"/>
              <a:t>f</a:t>
            </a:r>
            <a:r>
              <a:rPr lang="en-IN" baseline="-25000" dirty="0" err="1"/>
              <a:t>c</a:t>
            </a:r>
            <a:r>
              <a:rPr lang="en-IN" dirty="0" err="1"/>
              <a:t>t</a:t>
            </a:r>
            <a:r>
              <a:rPr lang="en-IN" dirty="0"/>
              <a:t>)</a:t>
            </a:r>
          </a:p>
          <a:p>
            <a:pPr marL="0" indent="0">
              <a:lnSpc>
                <a:spcPct val="100000"/>
              </a:lnSpc>
              <a:buNone/>
            </a:pPr>
            <a:r>
              <a:rPr lang="en-IN" dirty="0"/>
              <a:t>					  =</a:t>
            </a:r>
            <a:r>
              <a:rPr lang="fr-FR" dirty="0"/>
              <a:t> </a:t>
            </a:r>
            <a:r>
              <a:rPr lang="fr-FR" dirty="0" err="1"/>
              <a:t>A</a:t>
            </a:r>
            <a:r>
              <a:rPr lang="fr-FR" baseline="-25000" dirty="0" err="1"/>
              <a:t>c</a:t>
            </a:r>
            <a:r>
              <a:rPr lang="fr-FR" baseline="-25000" dirty="0"/>
              <a:t> </a:t>
            </a:r>
            <a:r>
              <a:rPr lang="en-US" dirty="0"/>
              <a:t>cos(2</a:t>
            </a:r>
            <a:r>
              <a:rPr lang="el-GR" dirty="0"/>
              <a:t>π</a:t>
            </a:r>
            <a:r>
              <a:rPr lang="en-IN" dirty="0" err="1"/>
              <a:t>f</a:t>
            </a:r>
            <a:r>
              <a:rPr lang="en-IN" baseline="-25000" dirty="0" err="1"/>
              <a:t>c</a:t>
            </a:r>
            <a:r>
              <a:rPr lang="en-IN" dirty="0" err="1"/>
              <a:t>t</a:t>
            </a:r>
            <a:r>
              <a:rPr lang="en-IN" dirty="0"/>
              <a:t>) </a:t>
            </a:r>
            <a:r>
              <a:rPr lang="fr-FR" dirty="0"/>
              <a:t>+ </a:t>
            </a:r>
            <a:r>
              <a:rPr lang="fr-FR" dirty="0" err="1"/>
              <a:t>A</a:t>
            </a:r>
            <a:r>
              <a:rPr lang="fr-FR" baseline="-25000" dirty="0" err="1"/>
              <a:t>c</a:t>
            </a:r>
            <a:r>
              <a:rPr lang="fr-FR" baseline="-25000" dirty="0"/>
              <a:t> </a:t>
            </a:r>
            <a:r>
              <a:rPr lang="fr-FR" dirty="0"/>
              <a:t>m cos(2</a:t>
            </a:r>
            <a:r>
              <a:rPr lang="el-GR" dirty="0"/>
              <a:t>π</a:t>
            </a:r>
            <a:r>
              <a:rPr lang="fr-FR" dirty="0" err="1"/>
              <a:t>f</a:t>
            </a:r>
            <a:r>
              <a:rPr lang="fr-FR" baseline="-25000" dirty="0" err="1"/>
              <a:t>m</a:t>
            </a:r>
            <a:r>
              <a:rPr lang="fr-FR" dirty="0" err="1"/>
              <a:t>t</a:t>
            </a:r>
            <a:r>
              <a:rPr lang="fr-FR" dirty="0"/>
              <a:t>)</a:t>
            </a:r>
            <a:r>
              <a:rPr lang="en-US" dirty="0"/>
              <a:t> cos(2</a:t>
            </a:r>
            <a:r>
              <a:rPr lang="el-GR" dirty="0"/>
              <a:t>π</a:t>
            </a:r>
            <a:r>
              <a:rPr lang="en-IN" dirty="0" err="1"/>
              <a:t>f</a:t>
            </a:r>
            <a:r>
              <a:rPr lang="en-IN" baseline="-25000" dirty="0" err="1"/>
              <a:t>c</a:t>
            </a:r>
            <a:r>
              <a:rPr lang="en-IN" dirty="0" err="1"/>
              <a:t>t</a:t>
            </a:r>
            <a:r>
              <a:rPr lang="en-IN" dirty="0"/>
              <a:t>)</a:t>
            </a:r>
          </a:p>
          <a:p>
            <a:pPr marL="0" indent="0">
              <a:lnSpc>
                <a:spcPct val="100000"/>
              </a:lnSpc>
              <a:buNone/>
            </a:pPr>
            <a:r>
              <a:rPr lang="en-IN" dirty="0"/>
              <a:t>				  =</a:t>
            </a:r>
            <a:r>
              <a:rPr lang="fr-FR" dirty="0"/>
              <a:t> </a:t>
            </a:r>
            <a:r>
              <a:rPr lang="fr-FR" dirty="0" err="1"/>
              <a:t>A</a:t>
            </a:r>
            <a:r>
              <a:rPr lang="fr-FR" baseline="-25000" dirty="0" err="1"/>
              <a:t>c</a:t>
            </a:r>
            <a:r>
              <a:rPr lang="fr-FR" baseline="-25000" dirty="0"/>
              <a:t> </a:t>
            </a:r>
            <a:r>
              <a:rPr lang="en-US" dirty="0"/>
              <a:t>cos(2</a:t>
            </a:r>
            <a:r>
              <a:rPr lang="el-GR" dirty="0"/>
              <a:t>π</a:t>
            </a:r>
            <a:r>
              <a:rPr lang="en-IN" dirty="0" err="1"/>
              <a:t>f</a:t>
            </a:r>
            <a:r>
              <a:rPr lang="en-IN" baseline="-25000" dirty="0" err="1"/>
              <a:t>c</a:t>
            </a:r>
            <a:r>
              <a:rPr lang="en-IN" dirty="0" err="1"/>
              <a:t>t</a:t>
            </a:r>
            <a:r>
              <a:rPr lang="en-IN" dirty="0"/>
              <a:t>) </a:t>
            </a:r>
            <a:r>
              <a:rPr lang="fr-FR" dirty="0"/>
              <a:t>+ </a:t>
            </a:r>
            <a:r>
              <a:rPr lang="fr-FR" dirty="0" err="1"/>
              <a:t>A</a:t>
            </a:r>
            <a:r>
              <a:rPr lang="fr-FR" baseline="-25000" dirty="0" err="1"/>
              <a:t>c</a:t>
            </a:r>
            <a:r>
              <a:rPr lang="fr-FR" baseline="-25000" dirty="0"/>
              <a:t> </a:t>
            </a:r>
            <a:r>
              <a:rPr lang="fr-FR" dirty="0"/>
              <a:t>m/2 cos(2</a:t>
            </a:r>
            <a:r>
              <a:rPr lang="el-GR" dirty="0"/>
              <a:t>π</a:t>
            </a:r>
            <a:r>
              <a:rPr lang="en-IN" dirty="0"/>
              <a:t>(f</a:t>
            </a:r>
            <a:r>
              <a:rPr lang="en-IN" baseline="-25000" dirty="0"/>
              <a:t>c </a:t>
            </a:r>
            <a:r>
              <a:rPr lang="en-IN" dirty="0"/>
              <a:t>+</a:t>
            </a:r>
            <a:r>
              <a:rPr lang="fr-FR" dirty="0" err="1"/>
              <a:t>f</a:t>
            </a:r>
            <a:r>
              <a:rPr lang="fr-FR" baseline="-25000" dirty="0" err="1"/>
              <a:t>m</a:t>
            </a:r>
            <a:r>
              <a:rPr lang="fr-FR" dirty="0"/>
              <a:t>)t)</a:t>
            </a:r>
            <a:r>
              <a:rPr lang="en-US" dirty="0"/>
              <a:t> +</a:t>
            </a:r>
            <a:r>
              <a:rPr lang="fr-FR" dirty="0"/>
              <a:t> </a:t>
            </a:r>
            <a:r>
              <a:rPr lang="fr-FR" dirty="0" err="1"/>
              <a:t>A</a:t>
            </a:r>
            <a:r>
              <a:rPr lang="fr-FR" baseline="-25000" dirty="0" err="1"/>
              <a:t>c</a:t>
            </a:r>
            <a:r>
              <a:rPr lang="fr-FR" baseline="-25000" dirty="0"/>
              <a:t> </a:t>
            </a:r>
            <a:r>
              <a:rPr lang="fr-FR" dirty="0"/>
              <a:t>m/2</a:t>
            </a:r>
            <a:r>
              <a:rPr lang="en-US" dirty="0"/>
              <a:t> cos(</a:t>
            </a:r>
            <a:r>
              <a:rPr lang="fr-FR" dirty="0"/>
              <a:t>2</a:t>
            </a:r>
            <a:r>
              <a:rPr lang="el-GR" dirty="0"/>
              <a:t>π</a:t>
            </a:r>
            <a:r>
              <a:rPr lang="en-IN" dirty="0"/>
              <a:t>(f</a:t>
            </a:r>
            <a:r>
              <a:rPr lang="en-IN" baseline="-25000" dirty="0"/>
              <a:t>c</a:t>
            </a:r>
            <a:r>
              <a:rPr lang="en-IN" dirty="0"/>
              <a:t>-</a:t>
            </a:r>
            <a:r>
              <a:rPr lang="fr-FR" dirty="0" err="1"/>
              <a:t>f</a:t>
            </a:r>
            <a:r>
              <a:rPr lang="fr-FR" baseline="-25000" dirty="0" err="1"/>
              <a:t>m</a:t>
            </a:r>
            <a:r>
              <a:rPr lang="fr-FR" dirty="0"/>
              <a:t>)t</a:t>
            </a:r>
            <a:r>
              <a:rPr lang="en-IN" dirty="0"/>
              <a:t>)</a:t>
            </a:r>
          </a:p>
          <a:p>
            <a:pPr marL="0" indent="0">
              <a:lnSpc>
                <a:spcPct val="100000"/>
              </a:lnSpc>
              <a:buNone/>
            </a:pPr>
            <a:endParaRPr lang="en-IN" dirty="0"/>
          </a:p>
          <a:p>
            <a:pPr marL="0" indent="0">
              <a:lnSpc>
                <a:spcPct val="100000"/>
              </a:lnSpc>
              <a:buNone/>
            </a:pPr>
            <a:endParaRPr lang="en-IN" dirty="0"/>
          </a:p>
          <a:p>
            <a:pPr marL="0" indent="0">
              <a:lnSpc>
                <a:spcPct val="100000"/>
              </a:lnSpc>
              <a:buNone/>
            </a:pPr>
            <a:endParaRPr lang="en-IN" dirty="0"/>
          </a:p>
          <a:p>
            <a:pPr marL="0" indent="0">
              <a:lnSpc>
                <a:spcPct val="100000"/>
              </a:lnSpc>
              <a:buNone/>
            </a:pPr>
            <a:endParaRPr lang="en-IN" dirty="0"/>
          </a:p>
        </p:txBody>
      </p:sp>
      <p:sp>
        <p:nvSpPr>
          <p:cNvPr id="5" name="Rectangle 4">
            <a:extLst>
              <a:ext uri="{FF2B5EF4-FFF2-40B4-BE49-F238E27FC236}">
                <a16:creationId xmlns:a16="http://schemas.microsoft.com/office/drawing/2014/main" id="{66863A58-69B9-4E45-9CE9-FA7DEA1E4515}"/>
              </a:ext>
            </a:extLst>
          </p:cNvPr>
          <p:cNvSpPr/>
          <p:nvPr/>
        </p:nvSpPr>
        <p:spPr>
          <a:xfrm>
            <a:off x="5083671" y="5747393"/>
            <a:ext cx="1353312" cy="329184"/>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1C44A10-7A79-44A0-88AB-BCAADB6745D5}"/>
              </a:ext>
            </a:extLst>
          </p:cNvPr>
          <p:cNvSpPr/>
          <p:nvPr/>
        </p:nvSpPr>
        <p:spPr>
          <a:xfrm>
            <a:off x="6644640" y="5751289"/>
            <a:ext cx="2297719" cy="350611"/>
          </a:xfrm>
          <a:prstGeom prst="rect">
            <a:avLst/>
          </a:prstGeom>
          <a:noFill/>
          <a:ln w="285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B2E5507-9C71-40CE-AA9C-3EE92F800E6C}"/>
              </a:ext>
            </a:extLst>
          </p:cNvPr>
          <p:cNvSpPr/>
          <p:nvPr/>
        </p:nvSpPr>
        <p:spPr>
          <a:xfrm>
            <a:off x="9238266" y="5736679"/>
            <a:ext cx="2297719" cy="350611"/>
          </a:xfrm>
          <a:prstGeom prst="rect">
            <a:avLst/>
          </a:prstGeom>
          <a:noFill/>
          <a:ln w="285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6443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Analog-to-Analog Conversion: Amplitude Modulation (AM)</a:t>
            </a:r>
          </a:p>
        </p:txBody>
      </p:sp>
      <p:sp>
        <p:nvSpPr>
          <p:cNvPr id="3" name="Content Placeholder 2"/>
          <p:cNvSpPr>
            <a:spLocks noGrp="1"/>
          </p:cNvSpPr>
          <p:nvPr>
            <p:ph idx="1"/>
          </p:nvPr>
        </p:nvSpPr>
        <p:spPr>
          <a:xfrm>
            <a:off x="1097280" y="1737359"/>
            <a:ext cx="11094720" cy="4753087"/>
          </a:xfrm>
        </p:spPr>
        <p:txBody>
          <a:bodyPr>
            <a:normAutofit/>
          </a:bodyPr>
          <a:lstStyle/>
          <a:p>
            <a:pPr marL="0" indent="0">
              <a:lnSpc>
                <a:spcPct val="100000"/>
              </a:lnSpc>
              <a:buNone/>
            </a:pPr>
            <a:r>
              <a:rPr lang="en-IN" dirty="0"/>
              <a:t> c(t) =</a:t>
            </a:r>
            <a:r>
              <a:rPr lang="fr-FR" dirty="0"/>
              <a:t> </a:t>
            </a:r>
            <a:r>
              <a:rPr lang="fr-FR" dirty="0" err="1"/>
              <a:t>A</a:t>
            </a:r>
            <a:r>
              <a:rPr lang="fr-FR" baseline="-25000" dirty="0" err="1"/>
              <a:t>c</a:t>
            </a:r>
            <a:r>
              <a:rPr lang="fr-FR" baseline="-25000" dirty="0"/>
              <a:t> </a:t>
            </a:r>
            <a:r>
              <a:rPr lang="en-US" dirty="0"/>
              <a:t>cos(2</a:t>
            </a:r>
            <a:r>
              <a:rPr lang="el-GR" dirty="0"/>
              <a:t>π</a:t>
            </a:r>
            <a:r>
              <a:rPr lang="en-IN" dirty="0" err="1"/>
              <a:t>f</a:t>
            </a:r>
            <a:r>
              <a:rPr lang="en-IN" baseline="-25000" dirty="0" err="1"/>
              <a:t>c</a:t>
            </a:r>
            <a:r>
              <a:rPr lang="en-IN" dirty="0" err="1"/>
              <a:t>t</a:t>
            </a:r>
            <a:r>
              <a:rPr lang="en-IN" dirty="0"/>
              <a:t>) </a:t>
            </a:r>
            <a:r>
              <a:rPr lang="fr-FR" dirty="0"/>
              <a:t>+ </a:t>
            </a:r>
            <a:r>
              <a:rPr lang="fr-FR" dirty="0" err="1"/>
              <a:t>A</a:t>
            </a:r>
            <a:r>
              <a:rPr lang="fr-FR" baseline="-25000" dirty="0" err="1"/>
              <a:t>c</a:t>
            </a:r>
            <a:r>
              <a:rPr lang="fr-FR" baseline="-25000" dirty="0"/>
              <a:t> </a:t>
            </a:r>
            <a:r>
              <a:rPr lang="fr-FR" dirty="0"/>
              <a:t>m/2 cos(2</a:t>
            </a:r>
            <a:r>
              <a:rPr lang="el-GR" dirty="0"/>
              <a:t>π</a:t>
            </a:r>
            <a:r>
              <a:rPr lang="en-IN" dirty="0"/>
              <a:t>(f</a:t>
            </a:r>
            <a:r>
              <a:rPr lang="en-IN" baseline="-25000" dirty="0"/>
              <a:t>c </a:t>
            </a:r>
            <a:r>
              <a:rPr lang="en-IN" dirty="0"/>
              <a:t>+</a:t>
            </a:r>
            <a:r>
              <a:rPr lang="fr-FR" dirty="0" err="1"/>
              <a:t>f</a:t>
            </a:r>
            <a:r>
              <a:rPr lang="fr-FR" baseline="-25000" dirty="0" err="1"/>
              <a:t>m</a:t>
            </a:r>
            <a:r>
              <a:rPr lang="fr-FR" dirty="0"/>
              <a:t>)t)</a:t>
            </a:r>
            <a:r>
              <a:rPr lang="en-US" dirty="0"/>
              <a:t> +</a:t>
            </a:r>
            <a:r>
              <a:rPr lang="fr-FR" dirty="0"/>
              <a:t> </a:t>
            </a:r>
            <a:r>
              <a:rPr lang="fr-FR" dirty="0" err="1"/>
              <a:t>A</a:t>
            </a:r>
            <a:r>
              <a:rPr lang="fr-FR" baseline="-25000" dirty="0" err="1"/>
              <a:t>c</a:t>
            </a:r>
            <a:r>
              <a:rPr lang="fr-FR" baseline="-25000" dirty="0"/>
              <a:t> </a:t>
            </a:r>
            <a:r>
              <a:rPr lang="fr-FR" dirty="0"/>
              <a:t>m/2</a:t>
            </a:r>
            <a:r>
              <a:rPr lang="en-US" dirty="0"/>
              <a:t> cos(</a:t>
            </a:r>
            <a:r>
              <a:rPr lang="fr-FR" dirty="0"/>
              <a:t>2</a:t>
            </a:r>
            <a:r>
              <a:rPr lang="el-GR" dirty="0"/>
              <a:t>π</a:t>
            </a:r>
            <a:r>
              <a:rPr lang="en-IN" dirty="0"/>
              <a:t>(f</a:t>
            </a:r>
            <a:r>
              <a:rPr lang="en-IN" baseline="-25000" dirty="0"/>
              <a:t>c</a:t>
            </a:r>
            <a:r>
              <a:rPr lang="en-IN" dirty="0"/>
              <a:t>-</a:t>
            </a:r>
            <a:r>
              <a:rPr lang="fr-FR" dirty="0" err="1"/>
              <a:t>f</a:t>
            </a:r>
            <a:r>
              <a:rPr lang="fr-FR" baseline="-25000" dirty="0" err="1"/>
              <a:t>m</a:t>
            </a:r>
            <a:r>
              <a:rPr lang="fr-FR" dirty="0"/>
              <a:t>)t</a:t>
            </a:r>
            <a:r>
              <a:rPr lang="en-IN" dirty="0"/>
              <a:t>)</a:t>
            </a:r>
          </a:p>
          <a:p>
            <a:pPr>
              <a:lnSpc>
                <a:spcPct val="100000"/>
              </a:lnSpc>
              <a:buFont typeface="Wingdings" panose="05000000000000000000" pitchFamily="2" charset="2"/>
              <a:buChar char="§"/>
            </a:pPr>
            <a:r>
              <a:rPr lang="en-IN" dirty="0"/>
              <a:t> The upper sideband sits on frequency f</a:t>
            </a:r>
            <a:r>
              <a:rPr lang="en-IN" baseline="-25000" dirty="0"/>
              <a:t>c </a:t>
            </a:r>
            <a:r>
              <a:rPr lang="en-IN" dirty="0"/>
              <a:t>+</a:t>
            </a:r>
            <a:r>
              <a:rPr lang="fr-FR" dirty="0" err="1"/>
              <a:t>f</a:t>
            </a:r>
            <a:r>
              <a:rPr lang="fr-FR" baseline="-25000" dirty="0" err="1"/>
              <a:t>m</a:t>
            </a:r>
            <a:r>
              <a:rPr lang="fr-FR" baseline="-25000" dirty="0"/>
              <a:t> </a:t>
            </a:r>
            <a:r>
              <a:rPr lang="fr-FR" dirty="0"/>
              <a:t>and the </a:t>
            </a:r>
            <a:r>
              <a:rPr lang="fr-FR" dirty="0" err="1"/>
              <a:t>lower</a:t>
            </a:r>
            <a:r>
              <a:rPr lang="fr-FR" dirty="0"/>
              <a:t> </a:t>
            </a:r>
            <a:r>
              <a:rPr lang="fr-FR" dirty="0" err="1"/>
              <a:t>sideband</a:t>
            </a:r>
            <a:r>
              <a:rPr lang="fr-FR" dirty="0"/>
              <a:t> </a:t>
            </a:r>
            <a:r>
              <a:rPr lang="fr-FR" dirty="0" err="1"/>
              <a:t>sits</a:t>
            </a:r>
            <a:r>
              <a:rPr lang="fr-FR" dirty="0"/>
              <a:t> on </a:t>
            </a:r>
            <a:r>
              <a:rPr lang="en-IN" dirty="0"/>
              <a:t>f</a:t>
            </a:r>
            <a:r>
              <a:rPr lang="en-IN" baseline="-25000" dirty="0"/>
              <a:t>c </a:t>
            </a:r>
            <a:r>
              <a:rPr lang="en-IN" dirty="0"/>
              <a:t>–</a:t>
            </a:r>
            <a:r>
              <a:rPr lang="fr-FR" dirty="0" err="1"/>
              <a:t>f</a:t>
            </a:r>
            <a:r>
              <a:rPr lang="fr-FR" baseline="-25000" dirty="0" err="1"/>
              <a:t>m</a:t>
            </a:r>
            <a:endParaRPr lang="fr-FR" baseline="-25000" dirty="0"/>
          </a:p>
          <a:p>
            <a:pPr>
              <a:lnSpc>
                <a:spcPct val="100000"/>
              </a:lnSpc>
              <a:buFont typeface="Wingdings" panose="05000000000000000000" pitchFamily="2" charset="2"/>
              <a:buChar char="§"/>
            </a:pPr>
            <a:r>
              <a:rPr lang="fr-FR" dirty="0"/>
              <a:t> So the </a:t>
            </a:r>
            <a:r>
              <a:rPr lang="fr-FR" dirty="0" err="1"/>
              <a:t>bandwidth</a:t>
            </a:r>
            <a:r>
              <a:rPr lang="fr-FR" dirty="0"/>
              <a:t> </a:t>
            </a:r>
            <a:r>
              <a:rPr lang="fr-FR" dirty="0" err="1"/>
              <a:t>is</a:t>
            </a:r>
            <a:r>
              <a:rPr lang="fr-FR" dirty="0"/>
              <a:t> </a:t>
            </a:r>
            <a:r>
              <a:rPr lang="en-IN" dirty="0"/>
              <a:t>f</a:t>
            </a:r>
            <a:r>
              <a:rPr lang="en-IN" baseline="-25000" dirty="0"/>
              <a:t>c </a:t>
            </a:r>
            <a:r>
              <a:rPr lang="en-IN" dirty="0"/>
              <a:t>+</a:t>
            </a:r>
            <a:r>
              <a:rPr lang="fr-FR" dirty="0" err="1"/>
              <a:t>f</a:t>
            </a:r>
            <a:r>
              <a:rPr lang="fr-FR" baseline="-25000" dirty="0" err="1"/>
              <a:t>m</a:t>
            </a:r>
            <a:r>
              <a:rPr lang="fr-FR" dirty="0"/>
              <a:t> – (</a:t>
            </a:r>
            <a:r>
              <a:rPr lang="en-IN" dirty="0"/>
              <a:t>f</a:t>
            </a:r>
            <a:r>
              <a:rPr lang="en-IN" baseline="-25000" dirty="0"/>
              <a:t>c </a:t>
            </a:r>
            <a:r>
              <a:rPr lang="en-IN" dirty="0"/>
              <a:t>-</a:t>
            </a:r>
            <a:r>
              <a:rPr lang="fr-FR" dirty="0" err="1"/>
              <a:t>f</a:t>
            </a:r>
            <a:r>
              <a:rPr lang="fr-FR" baseline="-25000" dirty="0" err="1"/>
              <a:t>m</a:t>
            </a:r>
            <a:r>
              <a:rPr lang="fr-FR" dirty="0"/>
              <a:t>) = 2 </a:t>
            </a:r>
            <a:r>
              <a:rPr lang="fr-FR" dirty="0" err="1"/>
              <a:t>f</a:t>
            </a:r>
            <a:r>
              <a:rPr lang="fr-FR" baseline="-25000" dirty="0" err="1"/>
              <a:t>m</a:t>
            </a:r>
            <a:endParaRPr lang="en-IN" baseline="-25000" dirty="0"/>
          </a:p>
          <a:p>
            <a:pPr marL="0" indent="0">
              <a:lnSpc>
                <a:spcPct val="100000"/>
              </a:lnSpc>
              <a:buNone/>
            </a:pPr>
            <a:endParaRPr lang="en-IN" dirty="0"/>
          </a:p>
          <a:p>
            <a:pPr marL="0" indent="0">
              <a:lnSpc>
                <a:spcPct val="100000"/>
              </a:lnSpc>
              <a:buNone/>
            </a:pPr>
            <a:endParaRPr lang="en-IN" dirty="0"/>
          </a:p>
          <a:p>
            <a:pPr marL="0" indent="0">
              <a:lnSpc>
                <a:spcPct val="100000"/>
              </a:lnSpc>
              <a:buNone/>
            </a:pPr>
            <a:endParaRPr lang="en-IN" dirty="0"/>
          </a:p>
          <a:p>
            <a:pPr marL="0" indent="0">
              <a:lnSpc>
                <a:spcPct val="100000"/>
              </a:lnSpc>
              <a:buNone/>
            </a:pPr>
            <a:endParaRPr lang="en-IN" dirty="0"/>
          </a:p>
        </p:txBody>
      </p:sp>
    </p:spTree>
    <p:extLst>
      <p:ext uri="{BB962C8B-B14F-4D97-AF65-F5344CB8AC3E}">
        <p14:creationId xmlns:p14="http://schemas.microsoft.com/office/powerpoint/2010/main" val="3918390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99" y="1797769"/>
            <a:ext cx="6919913" cy="109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398126" y="3429000"/>
            <a:ext cx="5950424" cy="369332"/>
          </a:xfrm>
          <a:prstGeom prst="rect">
            <a:avLst/>
          </a:prstGeom>
          <a:noFill/>
        </p:spPr>
        <p:txBody>
          <a:bodyPr wrap="square" rtlCol="0">
            <a:spAutoFit/>
          </a:bodyPr>
          <a:lstStyle/>
          <a:p>
            <a:pPr algn="ctr"/>
            <a:r>
              <a:rPr lang="en-IN" dirty="0"/>
              <a:t>AM Radio Band Allocation</a:t>
            </a:r>
          </a:p>
        </p:txBody>
      </p:sp>
    </p:spTree>
    <p:extLst>
      <p:ext uri="{BB962C8B-B14F-4D97-AF65-F5344CB8AC3E}">
        <p14:creationId xmlns:p14="http://schemas.microsoft.com/office/powerpoint/2010/main" val="443629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Analog-to-Analog Conversion: Frequency Modulation (FM)</a:t>
            </a:r>
          </a:p>
        </p:txBody>
      </p:sp>
      <p:sp>
        <p:nvSpPr>
          <p:cNvPr id="3" name="Content Placeholder 2"/>
          <p:cNvSpPr>
            <a:spLocks noGrp="1"/>
          </p:cNvSpPr>
          <p:nvPr>
            <p:ph idx="1"/>
          </p:nvPr>
        </p:nvSpPr>
        <p:spPr/>
        <p:txBody>
          <a:bodyPr/>
          <a:lstStyle/>
          <a:p>
            <a:r>
              <a:rPr lang="en-US" dirty="0"/>
              <a:t>The modulating signal changes the frequency f</a:t>
            </a:r>
            <a:r>
              <a:rPr lang="en-US" baseline="-25000" dirty="0"/>
              <a:t>c</a:t>
            </a:r>
            <a:r>
              <a:rPr lang="en-US" dirty="0"/>
              <a:t> of the carrier signal</a:t>
            </a:r>
          </a:p>
          <a:p>
            <a:r>
              <a:rPr lang="en-US" dirty="0"/>
              <a:t>The bandwidth for FM is high</a:t>
            </a:r>
          </a:p>
          <a:p>
            <a:r>
              <a:rPr lang="en-US" dirty="0"/>
              <a:t>It is approximately 10x the signal frequency</a:t>
            </a:r>
          </a:p>
          <a:p>
            <a:r>
              <a:rPr lang="en-US" dirty="0"/>
              <a:t>Peak amplitude and phase of the carrier signal remain constant, but as the amplitude of the information changes, the frequency of the carrier changes correspondingly</a:t>
            </a:r>
          </a:p>
          <a:p>
            <a:endParaRPr lang="en-IN" dirty="0"/>
          </a:p>
        </p:txBody>
      </p:sp>
    </p:spTree>
    <p:extLst>
      <p:ext uri="{BB962C8B-B14F-4D97-AF65-F5344CB8AC3E}">
        <p14:creationId xmlns:p14="http://schemas.microsoft.com/office/powerpoint/2010/main" val="1486734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1728" y="216090"/>
            <a:ext cx="8839200" cy="433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657600" y="4681182"/>
            <a:ext cx="6264322" cy="369332"/>
          </a:xfrm>
          <a:prstGeom prst="rect">
            <a:avLst/>
          </a:prstGeom>
          <a:noFill/>
        </p:spPr>
        <p:txBody>
          <a:bodyPr wrap="square" rtlCol="0">
            <a:spAutoFit/>
          </a:bodyPr>
          <a:lstStyle/>
          <a:p>
            <a:pPr algn="ctr"/>
            <a:r>
              <a:rPr lang="en-IN" dirty="0"/>
              <a:t>Frequency Modulation</a:t>
            </a:r>
          </a:p>
        </p:txBody>
      </p:sp>
      <p:sp>
        <p:nvSpPr>
          <p:cNvPr id="6" name="TextBox 5"/>
          <p:cNvSpPr txBox="1"/>
          <p:nvPr/>
        </p:nvSpPr>
        <p:spPr>
          <a:xfrm>
            <a:off x="-4552" y="5582047"/>
            <a:ext cx="12192000" cy="83099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2400" dirty="0"/>
              <a:t>The total bandwidth required for FM can be determined from the bandwidth </a:t>
            </a:r>
            <a:br>
              <a:rPr lang="en-US" sz="2400" dirty="0"/>
            </a:br>
            <a:r>
              <a:rPr lang="en-US" sz="2400" dirty="0"/>
              <a:t>of the audio signal: B</a:t>
            </a:r>
            <a:r>
              <a:rPr lang="en-US" sz="2400" baseline="-25000" dirty="0"/>
              <a:t>FM</a:t>
            </a:r>
            <a:r>
              <a:rPr lang="en-US" sz="2400" dirty="0"/>
              <a:t> = 2(1 + β)B. Here </a:t>
            </a:r>
            <a:r>
              <a:rPr lang="en-US" sz="2400" dirty="0">
                <a:latin typeface="Symbol" panose="05050102010706020507" pitchFamily="18" charset="2"/>
                <a:sym typeface="Symbol" panose="05050102010706020507" pitchFamily="18" charset="2"/>
              </a:rPr>
              <a:t></a:t>
            </a:r>
            <a:r>
              <a:rPr lang="en-US" sz="2400" dirty="0"/>
              <a:t> is usually 4</a:t>
            </a:r>
            <a:endParaRPr lang="en-IN" sz="2400" dirty="0"/>
          </a:p>
        </p:txBody>
      </p:sp>
    </p:spTree>
    <p:extLst>
      <p:ext uri="{BB962C8B-B14F-4D97-AF65-F5344CB8AC3E}">
        <p14:creationId xmlns:p14="http://schemas.microsoft.com/office/powerpoint/2010/main" val="3377545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218384"/>
            <a:ext cx="10058400" cy="764957"/>
          </a:xfrm>
        </p:spPr>
        <p:txBody>
          <a:bodyPr/>
          <a:lstStyle/>
          <a:p>
            <a:r>
              <a:rPr lang="en-IN" dirty="0"/>
              <a:t>Frequency Modulation (FM)</a:t>
            </a:r>
          </a:p>
        </p:txBody>
      </p:sp>
      <p:sp>
        <p:nvSpPr>
          <p:cNvPr id="3" name="Content Placeholder 2"/>
          <p:cNvSpPr>
            <a:spLocks noGrp="1"/>
          </p:cNvSpPr>
          <p:nvPr>
            <p:ph idx="1"/>
          </p:nvPr>
        </p:nvSpPr>
        <p:spPr>
          <a:xfrm>
            <a:off x="449580" y="1827446"/>
            <a:ext cx="11547348" cy="4023360"/>
          </a:xfrm>
        </p:spPr>
        <p:txBody>
          <a:bodyPr/>
          <a:lstStyle/>
          <a:p>
            <a:r>
              <a:rPr lang="en-IN" dirty="0"/>
              <a:t>Assume the message signal is</a:t>
            </a:r>
          </a:p>
          <a:p>
            <a:r>
              <a:rPr lang="en-IN" dirty="0"/>
              <a:t>Carrier signal is  </a:t>
            </a:r>
          </a:p>
          <a:p>
            <a:r>
              <a:rPr lang="en-US" dirty="0"/>
              <a:t>In FM, the frequency of the carrier is not constant. </a:t>
            </a:r>
          </a:p>
          <a:p>
            <a:r>
              <a:rPr lang="en-US" dirty="0"/>
              <a:t>Define the instantaneous frequency, f</a:t>
            </a:r>
            <a:r>
              <a:rPr lang="en-US" baseline="-25000" dirty="0"/>
              <a:t>i</a:t>
            </a:r>
            <a:r>
              <a:rPr lang="en-US" dirty="0"/>
              <a:t>(t), as the base carrier frequency plus a shift that is directly proportional to the message signal:                                       where </a:t>
            </a:r>
            <a:r>
              <a:rPr lang="en-US" dirty="0" err="1"/>
              <a:t>k</a:t>
            </a:r>
            <a:r>
              <a:rPr lang="en-US" baseline="-25000" dirty="0" err="1"/>
              <a:t>f</a:t>
            </a:r>
            <a:r>
              <a:rPr lang="en-US" dirty="0"/>
              <a:t> is frequency sensitivity constant of the modulator, measured in Hertz per Volt (Hz/V). It determines how much the frequency shifts for every 1-volt change in the message signal.</a:t>
            </a:r>
          </a:p>
          <a:p>
            <a:endParaRPr lang="en-IN" dirty="0"/>
          </a:p>
        </p:txBody>
      </p:sp>
      <p:pic>
        <p:nvPicPr>
          <p:cNvPr id="4" name="Picture 3">
            <a:extLst>
              <a:ext uri="{FF2B5EF4-FFF2-40B4-BE49-F238E27FC236}">
                <a16:creationId xmlns:a16="http://schemas.microsoft.com/office/drawing/2014/main" id="{CFE322B4-980F-468C-9570-AD8972444F17}"/>
              </a:ext>
            </a:extLst>
          </p:cNvPr>
          <p:cNvPicPr>
            <a:picLocks noChangeAspect="1"/>
          </p:cNvPicPr>
          <p:nvPr/>
        </p:nvPicPr>
        <p:blipFill>
          <a:blip r:embed="rId2"/>
          <a:stretch>
            <a:fillRect/>
          </a:stretch>
        </p:blipFill>
        <p:spPr>
          <a:xfrm>
            <a:off x="2148268" y="2339510"/>
            <a:ext cx="4219575" cy="295275"/>
          </a:xfrm>
          <a:prstGeom prst="rect">
            <a:avLst/>
          </a:prstGeom>
        </p:spPr>
      </p:pic>
      <p:pic>
        <p:nvPicPr>
          <p:cNvPr id="5" name="Picture 4">
            <a:extLst>
              <a:ext uri="{FF2B5EF4-FFF2-40B4-BE49-F238E27FC236}">
                <a16:creationId xmlns:a16="http://schemas.microsoft.com/office/drawing/2014/main" id="{BACF9B00-D2B1-4823-9C23-264DA38EE132}"/>
              </a:ext>
            </a:extLst>
          </p:cNvPr>
          <p:cNvPicPr>
            <a:picLocks noChangeAspect="1"/>
          </p:cNvPicPr>
          <p:nvPr/>
        </p:nvPicPr>
        <p:blipFill>
          <a:blip r:embed="rId3"/>
          <a:stretch>
            <a:fillRect/>
          </a:stretch>
        </p:blipFill>
        <p:spPr>
          <a:xfrm>
            <a:off x="3505009" y="1882882"/>
            <a:ext cx="2676525" cy="295275"/>
          </a:xfrm>
          <a:prstGeom prst="rect">
            <a:avLst/>
          </a:prstGeom>
        </p:spPr>
      </p:pic>
      <p:pic>
        <p:nvPicPr>
          <p:cNvPr id="6" name="Picture 5">
            <a:extLst>
              <a:ext uri="{FF2B5EF4-FFF2-40B4-BE49-F238E27FC236}">
                <a16:creationId xmlns:a16="http://schemas.microsoft.com/office/drawing/2014/main" id="{26556C90-BB63-4703-A73E-F53EDECF207A}"/>
              </a:ext>
            </a:extLst>
          </p:cNvPr>
          <p:cNvPicPr>
            <a:picLocks noChangeAspect="1"/>
          </p:cNvPicPr>
          <p:nvPr/>
        </p:nvPicPr>
        <p:blipFill>
          <a:blip r:embed="rId4"/>
          <a:stretch>
            <a:fillRect/>
          </a:stretch>
        </p:blipFill>
        <p:spPr>
          <a:xfrm>
            <a:off x="2072259" y="3516038"/>
            <a:ext cx="2305050" cy="304800"/>
          </a:xfrm>
          <a:prstGeom prst="rect">
            <a:avLst/>
          </a:prstGeom>
        </p:spPr>
      </p:pic>
      <p:pic>
        <p:nvPicPr>
          <p:cNvPr id="7" name="Picture 6">
            <a:extLst>
              <a:ext uri="{FF2B5EF4-FFF2-40B4-BE49-F238E27FC236}">
                <a16:creationId xmlns:a16="http://schemas.microsoft.com/office/drawing/2014/main" id="{F06CF3A0-9D1A-4767-9B40-9AC0704B94BC}"/>
              </a:ext>
            </a:extLst>
          </p:cNvPr>
          <p:cNvPicPr>
            <a:picLocks noChangeAspect="1"/>
          </p:cNvPicPr>
          <p:nvPr/>
        </p:nvPicPr>
        <p:blipFill>
          <a:blip r:embed="rId5"/>
          <a:stretch>
            <a:fillRect/>
          </a:stretch>
        </p:blipFill>
        <p:spPr>
          <a:xfrm>
            <a:off x="2696908" y="4403006"/>
            <a:ext cx="3495675" cy="304800"/>
          </a:xfrm>
          <a:prstGeom prst="rect">
            <a:avLst/>
          </a:prstGeom>
        </p:spPr>
      </p:pic>
    </p:spTree>
    <p:extLst>
      <p:ext uri="{BB962C8B-B14F-4D97-AF65-F5344CB8AC3E}">
        <p14:creationId xmlns:p14="http://schemas.microsoft.com/office/powerpoint/2010/main" val="12305104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215382"/>
            <a:ext cx="10058400" cy="829701"/>
          </a:xfrm>
        </p:spPr>
        <p:txBody>
          <a:bodyPr/>
          <a:lstStyle/>
          <a:p>
            <a:r>
              <a:rPr lang="en-IN" dirty="0"/>
              <a:t>Frequency Modulation (FM)</a:t>
            </a:r>
          </a:p>
        </p:txBody>
      </p:sp>
      <p:sp>
        <p:nvSpPr>
          <p:cNvPr id="3" name="Content Placeholder 2"/>
          <p:cNvSpPr>
            <a:spLocks noGrp="1"/>
          </p:cNvSpPr>
          <p:nvPr>
            <p:ph idx="1"/>
          </p:nvPr>
        </p:nvSpPr>
        <p:spPr>
          <a:xfrm>
            <a:off x="429768" y="1809158"/>
            <a:ext cx="10835640" cy="4023360"/>
          </a:xfrm>
        </p:spPr>
        <p:txBody>
          <a:bodyPr/>
          <a:lstStyle/>
          <a:p>
            <a:r>
              <a:rPr lang="en-IN" dirty="0"/>
              <a:t>In general, </a:t>
            </a:r>
            <a:r>
              <a:rPr lang="en-US" dirty="0"/>
              <a:t>any sinusoidal signal is                                 , where </a:t>
            </a:r>
            <a:r>
              <a:rPr lang="el-GR" dirty="0"/>
              <a:t>θ</a:t>
            </a:r>
            <a:r>
              <a:rPr lang="en-US" baseline="-25000" dirty="0" err="1"/>
              <a:t>i</a:t>
            </a:r>
            <a:r>
              <a:rPr lang="en-US" dirty="0"/>
              <a:t>(t) is the total instantaneous phase angle.</a:t>
            </a:r>
          </a:p>
          <a:p>
            <a:r>
              <a:rPr lang="en-US" dirty="0"/>
              <a:t>A fundamental rule of physics and signals is that frequency is the rate of change of phase.</a:t>
            </a:r>
          </a:p>
          <a:p>
            <a:r>
              <a:rPr lang="en-US" dirty="0"/>
              <a:t>To find the total phase angle </a:t>
            </a:r>
            <a:r>
              <a:rPr lang="el-GR" dirty="0"/>
              <a:t>θ</a:t>
            </a:r>
            <a:r>
              <a:rPr lang="en-US" baseline="-25000" dirty="0" err="1"/>
              <a:t>i</a:t>
            </a:r>
            <a:r>
              <a:rPr lang="en-US" dirty="0"/>
              <a:t>(t), we must integrate the instantaneous angular frequency </a:t>
            </a:r>
            <a:r>
              <a:rPr lang="el-GR" dirty="0"/>
              <a:t>ω</a:t>
            </a:r>
            <a:r>
              <a:rPr lang="en-US" baseline="-25000" dirty="0" err="1"/>
              <a:t>i</a:t>
            </a:r>
            <a:r>
              <a:rPr lang="en-US" dirty="0"/>
              <a:t>(t) = 2</a:t>
            </a:r>
            <a:r>
              <a:rPr lang="el-GR" dirty="0"/>
              <a:t>π</a:t>
            </a:r>
            <a:r>
              <a:rPr lang="en-US" dirty="0"/>
              <a:t>f</a:t>
            </a:r>
            <a:r>
              <a:rPr lang="en-US" baseline="-25000" dirty="0"/>
              <a:t>i</a:t>
            </a:r>
            <a:r>
              <a:rPr lang="en-US" dirty="0"/>
              <a:t>(t) with respect to time: </a:t>
            </a:r>
          </a:p>
          <a:p>
            <a:endParaRPr lang="en-IN" dirty="0"/>
          </a:p>
        </p:txBody>
      </p:sp>
      <p:pic>
        <p:nvPicPr>
          <p:cNvPr id="8" name="Picture 7">
            <a:extLst>
              <a:ext uri="{FF2B5EF4-FFF2-40B4-BE49-F238E27FC236}">
                <a16:creationId xmlns:a16="http://schemas.microsoft.com/office/drawing/2014/main" id="{C7DA14D4-15B9-4D8C-BCF7-67DF3E69C26A}"/>
              </a:ext>
            </a:extLst>
          </p:cNvPr>
          <p:cNvPicPr>
            <a:picLocks noChangeAspect="1"/>
          </p:cNvPicPr>
          <p:nvPr/>
        </p:nvPicPr>
        <p:blipFill>
          <a:blip r:embed="rId2"/>
          <a:stretch>
            <a:fillRect/>
          </a:stretch>
        </p:blipFill>
        <p:spPr>
          <a:xfrm>
            <a:off x="3894297" y="1865480"/>
            <a:ext cx="2013966" cy="264546"/>
          </a:xfrm>
          <a:prstGeom prst="rect">
            <a:avLst/>
          </a:prstGeom>
        </p:spPr>
      </p:pic>
      <p:pic>
        <p:nvPicPr>
          <p:cNvPr id="10" name="Picture 9">
            <a:extLst>
              <a:ext uri="{FF2B5EF4-FFF2-40B4-BE49-F238E27FC236}">
                <a16:creationId xmlns:a16="http://schemas.microsoft.com/office/drawing/2014/main" id="{8E77E13E-8659-4BC2-9F13-B9052EAD8BB8}"/>
              </a:ext>
            </a:extLst>
          </p:cNvPr>
          <p:cNvPicPr>
            <a:picLocks noChangeAspect="1"/>
          </p:cNvPicPr>
          <p:nvPr/>
        </p:nvPicPr>
        <p:blipFill>
          <a:blip r:embed="rId3"/>
          <a:stretch>
            <a:fillRect/>
          </a:stretch>
        </p:blipFill>
        <p:spPr>
          <a:xfrm>
            <a:off x="2169795" y="3051942"/>
            <a:ext cx="2087091" cy="614802"/>
          </a:xfrm>
          <a:prstGeom prst="rect">
            <a:avLst/>
          </a:prstGeom>
        </p:spPr>
      </p:pic>
      <p:pic>
        <p:nvPicPr>
          <p:cNvPr id="11" name="Picture 10">
            <a:extLst>
              <a:ext uri="{FF2B5EF4-FFF2-40B4-BE49-F238E27FC236}">
                <a16:creationId xmlns:a16="http://schemas.microsoft.com/office/drawing/2014/main" id="{4562F197-C0B4-4459-93EA-54C6F059F34E}"/>
              </a:ext>
            </a:extLst>
          </p:cNvPr>
          <p:cNvPicPr>
            <a:picLocks noChangeAspect="1"/>
          </p:cNvPicPr>
          <p:nvPr/>
        </p:nvPicPr>
        <p:blipFill>
          <a:blip r:embed="rId4"/>
          <a:stretch>
            <a:fillRect/>
          </a:stretch>
        </p:blipFill>
        <p:spPr>
          <a:xfrm>
            <a:off x="2169795" y="3720254"/>
            <a:ext cx="4075557" cy="634718"/>
          </a:xfrm>
          <a:prstGeom prst="rect">
            <a:avLst/>
          </a:prstGeom>
        </p:spPr>
      </p:pic>
      <p:pic>
        <p:nvPicPr>
          <p:cNvPr id="13" name="Picture 12">
            <a:extLst>
              <a:ext uri="{FF2B5EF4-FFF2-40B4-BE49-F238E27FC236}">
                <a16:creationId xmlns:a16="http://schemas.microsoft.com/office/drawing/2014/main" id="{258E83C4-9C7F-4FC6-BCD1-3D62119F9F99}"/>
              </a:ext>
            </a:extLst>
          </p:cNvPr>
          <p:cNvPicPr>
            <a:picLocks noChangeAspect="1"/>
          </p:cNvPicPr>
          <p:nvPr/>
        </p:nvPicPr>
        <p:blipFill>
          <a:blip r:embed="rId5"/>
          <a:stretch>
            <a:fillRect/>
          </a:stretch>
        </p:blipFill>
        <p:spPr>
          <a:xfrm>
            <a:off x="2094167" y="4399338"/>
            <a:ext cx="4535234" cy="591214"/>
          </a:xfrm>
          <a:prstGeom prst="rect">
            <a:avLst/>
          </a:prstGeom>
        </p:spPr>
      </p:pic>
      <p:pic>
        <p:nvPicPr>
          <p:cNvPr id="14" name="Picture 13">
            <a:extLst>
              <a:ext uri="{FF2B5EF4-FFF2-40B4-BE49-F238E27FC236}">
                <a16:creationId xmlns:a16="http://schemas.microsoft.com/office/drawing/2014/main" id="{D7F4B94C-FE2F-45D6-9148-833A7675B864}"/>
              </a:ext>
            </a:extLst>
          </p:cNvPr>
          <p:cNvPicPr>
            <a:picLocks noChangeAspect="1"/>
          </p:cNvPicPr>
          <p:nvPr/>
        </p:nvPicPr>
        <p:blipFill>
          <a:blip r:embed="rId6"/>
          <a:stretch>
            <a:fillRect/>
          </a:stretch>
        </p:blipFill>
        <p:spPr>
          <a:xfrm>
            <a:off x="2118647" y="5034919"/>
            <a:ext cx="3898106" cy="620718"/>
          </a:xfrm>
          <a:prstGeom prst="rect">
            <a:avLst/>
          </a:prstGeom>
        </p:spPr>
      </p:pic>
      <p:pic>
        <p:nvPicPr>
          <p:cNvPr id="15" name="Picture 14">
            <a:extLst>
              <a:ext uri="{FF2B5EF4-FFF2-40B4-BE49-F238E27FC236}">
                <a16:creationId xmlns:a16="http://schemas.microsoft.com/office/drawing/2014/main" id="{505F85FB-92B0-4784-B670-1CEB84E1A5D1}"/>
              </a:ext>
            </a:extLst>
          </p:cNvPr>
          <p:cNvPicPr>
            <a:picLocks noChangeAspect="1"/>
          </p:cNvPicPr>
          <p:nvPr/>
        </p:nvPicPr>
        <p:blipFill>
          <a:blip r:embed="rId7"/>
          <a:stretch>
            <a:fillRect/>
          </a:stretch>
        </p:blipFill>
        <p:spPr>
          <a:xfrm>
            <a:off x="2118647" y="5719982"/>
            <a:ext cx="3294601" cy="569140"/>
          </a:xfrm>
          <a:prstGeom prst="rect">
            <a:avLst/>
          </a:prstGeom>
        </p:spPr>
      </p:pic>
    </p:spTree>
    <p:extLst>
      <p:ext uri="{BB962C8B-B14F-4D97-AF65-F5344CB8AC3E}">
        <p14:creationId xmlns:p14="http://schemas.microsoft.com/office/powerpoint/2010/main" val="2518141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08" y="241612"/>
            <a:ext cx="10058400" cy="730404"/>
          </a:xfrm>
        </p:spPr>
        <p:txBody>
          <a:bodyPr/>
          <a:lstStyle/>
          <a:p>
            <a:r>
              <a:rPr lang="en-IN" dirty="0"/>
              <a:t>Frequency Modulation (FM)</a:t>
            </a:r>
          </a:p>
        </p:txBody>
      </p:sp>
      <p:sp>
        <p:nvSpPr>
          <p:cNvPr id="3" name="Content Placeholder 2"/>
          <p:cNvSpPr>
            <a:spLocks noGrp="1"/>
          </p:cNvSpPr>
          <p:nvPr>
            <p:ph idx="1"/>
          </p:nvPr>
        </p:nvSpPr>
        <p:spPr>
          <a:xfrm>
            <a:off x="374332" y="1809158"/>
            <a:ext cx="11558587" cy="4023360"/>
          </a:xfrm>
        </p:spPr>
        <p:txBody>
          <a:bodyPr/>
          <a:lstStyle/>
          <a:p>
            <a:r>
              <a:rPr lang="en-US" dirty="0"/>
              <a:t>Maximum Frequency Deviation (</a:t>
            </a:r>
            <a:r>
              <a:rPr lang="el-GR" dirty="0"/>
              <a:t>Δ</a:t>
            </a:r>
            <a:r>
              <a:rPr lang="en-US" dirty="0"/>
              <a:t>f) is the maximum shift away from the center carrier frequency(                )</a:t>
            </a:r>
          </a:p>
          <a:p>
            <a:r>
              <a:rPr lang="en-US" dirty="0"/>
              <a:t> FM Modulation Index (</a:t>
            </a:r>
            <a:r>
              <a:rPr lang="el-GR" dirty="0"/>
              <a:t>β</a:t>
            </a:r>
            <a:r>
              <a:rPr lang="en-US" dirty="0"/>
              <a:t>) is the ratio of the maximum frequency deviation to the message frequency (                 )</a:t>
            </a:r>
          </a:p>
          <a:p>
            <a:endParaRPr lang="en-US" dirty="0"/>
          </a:p>
          <a:p>
            <a:endParaRPr lang="en-US" dirty="0"/>
          </a:p>
          <a:p>
            <a:endParaRPr lang="en-US" dirty="0"/>
          </a:p>
          <a:p>
            <a:r>
              <a:rPr lang="en-IN" dirty="0"/>
              <a:t>The general carrier equation                                 becomes, </a:t>
            </a:r>
          </a:p>
          <a:p>
            <a:r>
              <a:rPr lang="en-US" dirty="0"/>
              <a:t>The message signal’s contribution is embedded strictly inside the angle of the cosine function, making the amplitude A</a:t>
            </a:r>
            <a:r>
              <a:rPr lang="en-US" baseline="-25000" dirty="0"/>
              <a:t>c</a:t>
            </a:r>
            <a:r>
              <a:rPr lang="en-US" dirty="0"/>
              <a:t> perfectly constant.</a:t>
            </a:r>
          </a:p>
          <a:p>
            <a:r>
              <a:rPr lang="en-US" dirty="0"/>
              <a:t>Theoretically the bandwidth of FM is infinite, but practically using Carson’s rule, the BW is given as </a:t>
            </a:r>
            <a:endParaRPr lang="en-IN" dirty="0"/>
          </a:p>
        </p:txBody>
      </p:sp>
      <p:pic>
        <p:nvPicPr>
          <p:cNvPr id="4" name="Picture 3">
            <a:extLst>
              <a:ext uri="{FF2B5EF4-FFF2-40B4-BE49-F238E27FC236}">
                <a16:creationId xmlns:a16="http://schemas.microsoft.com/office/drawing/2014/main" id="{8D30AC9D-3B3D-4D6C-AEBA-5F6596365CE5}"/>
              </a:ext>
            </a:extLst>
          </p:cNvPr>
          <p:cNvPicPr>
            <a:picLocks noChangeAspect="1"/>
          </p:cNvPicPr>
          <p:nvPr/>
        </p:nvPicPr>
        <p:blipFill>
          <a:blip r:embed="rId2"/>
          <a:stretch>
            <a:fillRect/>
          </a:stretch>
        </p:blipFill>
        <p:spPr>
          <a:xfrm>
            <a:off x="10136505" y="1906905"/>
            <a:ext cx="1019175" cy="209550"/>
          </a:xfrm>
          <a:prstGeom prst="rect">
            <a:avLst/>
          </a:prstGeom>
        </p:spPr>
      </p:pic>
      <p:pic>
        <p:nvPicPr>
          <p:cNvPr id="5" name="Picture 4">
            <a:extLst>
              <a:ext uri="{FF2B5EF4-FFF2-40B4-BE49-F238E27FC236}">
                <a16:creationId xmlns:a16="http://schemas.microsoft.com/office/drawing/2014/main" id="{519633C2-57A6-496F-A101-7213D6755CFC}"/>
              </a:ext>
            </a:extLst>
          </p:cNvPr>
          <p:cNvPicPr>
            <a:picLocks noChangeAspect="1"/>
          </p:cNvPicPr>
          <p:nvPr/>
        </p:nvPicPr>
        <p:blipFill>
          <a:blip r:embed="rId3"/>
          <a:stretch>
            <a:fillRect/>
          </a:stretch>
        </p:blipFill>
        <p:spPr>
          <a:xfrm>
            <a:off x="10646092" y="2354961"/>
            <a:ext cx="1000125" cy="209550"/>
          </a:xfrm>
          <a:prstGeom prst="rect">
            <a:avLst/>
          </a:prstGeom>
        </p:spPr>
      </p:pic>
      <p:pic>
        <p:nvPicPr>
          <p:cNvPr id="6" name="Picture 5">
            <a:extLst>
              <a:ext uri="{FF2B5EF4-FFF2-40B4-BE49-F238E27FC236}">
                <a16:creationId xmlns:a16="http://schemas.microsoft.com/office/drawing/2014/main" id="{242A5970-5875-4B2B-ADCD-EF93C3C69EC8}"/>
              </a:ext>
            </a:extLst>
          </p:cNvPr>
          <p:cNvPicPr>
            <a:picLocks noChangeAspect="1"/>
          </p:cNvPicPr>
          <p:nvPr/>
        </p:nvPicPr>
        <p:blipFill>
          <a:blip r:embed="rId4"/>
          <a:stretch>
            <a:fillRect/>
          </a:stretch>
        </p:blipFill>
        <p:spPr>
          <a:xfrm>
            <a:off x="1456801" y="2685263"/>
            <a:ext cx="3298222" cy="573074"/>
          </a:xfrm>
          <a:prstGeom prst="rect">
            <a:avLst/>
          </a:prstGeom>
        </p:spPr>
      </p:pic>
      <p:pic>
        <p:nvPicPr>
          <p:cNvPr id="9" name="Picture 8">
            <a:extLst>
              <a:ext uri="{FF2B5EF4-FFF2-40B4-BE49-F238E27FC236}">
                <a16:creationId xmlns:a16="http://schemas.microsoft.com/office/drawing/2014/main" id="{C9501CBC-7477-4FA2-A414-9E098CA98080}"/>
              </a:ext>
            </a:extLst>
          </p:cNvPr>
          <p:cNvPicPr>
            <a:picLocks noChangeAspect="1"/>
          </p:cNvPicPr>
          <p:nvPr/>
        </p:nvPicPr>
        <p:blipFill>
          <a:blip r:embed="rId5"/>
          <a:stretch>
            <a:fillRect/>
          </a:stretch>
        </p:blipFill>
        <p:spPr>
          <a:xfrm>
            <a:off x="1401081" y="3450693"/>
            <a:ext cx="2988040" cy="260927"/>
          </a:xfrm>
          <a:prstGeom prst="rect">
            <a:avLst/>
          </a:prstGeom>
        </p:spPr>
      </p:pic>
      <p:pic>
        <p:nvPicPr>
          <p:cNvPr id="12" name="Picture 11">
            <a:extLst>
              <a:ext uri="{FF2B5EF4-FFF2-40B4-BE49-F238E27FC236}">
                <a16:creationId xmlns:a16="http://schemas.microsoft.com/office/drawing/2014/main" id="{5A8962F5-E01F-46AB-AC2D-8237D9EB3636}"/>
              </a:ext>
            </a:extLst>
          </p:cNvPr>
          <p:cNvPicPr>
            <a:picLocks noChangeAspect="1"/>
          </p:cNvPicPr>
          <p:nvPr/>
        </p:nvPicPr>
        <p:blipFill>
          <a:blip r:embed="rId6"/>
          <a:stretch>
            <a:fillRect/>
          </a:stretch>
        </p:blipFill>
        <p:spPr>
          <a:xfrm>
            <a:off x="3320035" y="4148235"/>
            <a:ext cx="1919477" cy="252135"/>
          </a:xfrm>
          <a:prstGeom prst="rect">
            <a:avLst/>
          </a:prstGeom>
        </p:spPr>
      </p:pic>
      <p:pic>
        <p:nvPicPr>
          <p:cNvPr id="16" name="Picture 15">
            <a:extLst>
              <a:ext uri="{FF2B5EF4-FFF2-40B4-BE49-F238E27FC236}">
                <a16:creationId xmlns:a16="http://schemas.microsoft.com/office/drawing/2014/main" id="{97E05D6A-1ED9-4DCC-AF44-2F465E99C1C8}"/>
              </a:ext>
            </a:extLst>
          </p:cNvPr>
          <p:cNvPicPr>
            <a:picLocks noChangeAspect="1"/>
          </p:cNvPicPr>
          <p:nvPr/>
        </p:nvPicPr>
        <p:blipFill>
          <a:blip r:embed="rId7"/>
          <a:stretch>
            <a:fillRect/>
          </a:stretch>
        </p:blipFill>
        <p:spPr>
          <a:xfrm>
            <a:off x="6316217" y="4115044"/>
            <a:ext cx="4034791" cy="257894"/>
          </a:xfrm>
          <a:prstGeom prst="rect">
            <a:avLst/>
          </a:prstGeom>
        </p:spPr>
      </p:pic>
      <p:pic>
        <p:nvPicPr>
          <p:cNvPr id="17" name="Picture 16">
            <a:extLst>
              <a:ext uri="{FF2B5EF4-FFF2-40B4-BE49-F238E27FC236}">
                <a16:creationId xmlns:a16="http://schemas.microsoft.com/office/drawing/2014/main" id="{BA6BE99B-7BD3-4214-AE59-C426524E84BE}"/>
              </a:ext>
            </a:extLst>
          </p:cNvPr>
          <p:cNvPicPr>
            <a:picLocks noChangeAspect="1"/>
          </p:cNvPicPr>
          <p:nvPr/>
        </p:nvPicPr>
        <p:blipFill>
          <a:blip r:embed="rId8"/>
          <a:stretch>
            <a:fillRect/>
          </a:stretch>
        </p:blipFill>
        <p:spPr>
          <a:xfrm>
            <a:off x="10351008" y="5345049"/>
            <a:ext cx="1657350" cy="209550"/>
          </a:xfrm>
          <a:prstGeom prst="rect">
            <a:avLst/>
          </a:prstGeom>
        </p:spPr>
      </p:pic>
      <p:pic>
        <p:nvPicPr>
          <p:cNvPr id="18" name="Picture 17">
            <a:extLst>
              <a:ext uri="{FF2B5EF4-FFF2-40B4-BE49-F238E27FC236}">
                <a16:creationId xmlns:a16="http://schemas.microsoft.com/office/drawing/2014/main" id="{5EB7BAEA-F070-43FF-BB69-981098B27071}"/>
              </a:ext>
            </a:extLst>
          </p:cNvPr>
          <p:cNvPicPr>
            <a:picLocks noChangeAspect="1"/>
          </p:cNvPicPr>
          <p:nvPr/>
        </p:nvPicPr>
        <p:blipFill>
          <a:blip r:embed="rId9"/>
          <a:stretch>
            <a:fillRect/>
          </a:stretch>
        </p:blipFill>
        <p:spPr>
          <a:xfrm>
            <a:off x="3959685" y="5719146"/>
            <a:ext cx="1590675" cy="209550"/>
          </a:xfrm>
          <a:prstGeom prst="rect">
            <a:avLst/>
          </a:prstGeom>
        </p:spPr>
      </p:pic>
    </p:spTree>
    <p:extLst>
      <p:ext uri="{BB962C8B-B14F-4D97-AF65-F5344CB8AC3E}">
        <p14:creationId xmlns:p14="http://schemas.microsoft.com/office/powerpoint/2010/main" val="2632261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 y="149443"/>
            <a:ext cx="10058400" cy="738879"/>
          </a:xfrm>
        </p:spPr>
        <p:txBody>
          <a:bodyPr/>
          <a:lstStyle/>
          <a:p>
            <a:r>
              <a:rPr lang="en-IN" dirty="0"/>
              <a:t>Frequency Modulation (FM)</a:t>
            </a:r>
          </a:p>
        </p:txBody>
      </p:sp>
      <p:sp>
        <p:nvSpPr>
          <p:cNvPr id="3" name="Content Placeholder 2"/>
          <p:cNvSpPr>
            <a:spLocks noGrp="1"/>
          </p:cNvSpPr>
          <p:nvPr>
            <p:ph idx="1"/>
          </p:nvPr>
        </p:nvSpPr>
        <p:spPr>
          <a:xfrm>
            <a:off x="374332" y="1809158"/>
            <a:ext cx="11558587" cy="4023360"/>
          </a:xfrm>
        </p:spPr>
        <p:txBody>
          <a:bodyPr/>
          <a:lstStyle/>
          <a:p>
            <a:pPr>
              <a:buFont typeface="Wingdings" panose="05000000000000000000" pitchFamily="2" charset="2"/>
              <a:buChar char="q"/>
            </a:pPr>
            <a:r>
              <a:rPr lang="en-IN" dirty="0"/>
              <a:t> </a:t>
            </a:r>
            <a:r>
              <a:rPr lang="en-US" b="1" dirty="0"/>
              <a:t>Narrowband FM (NBFM): </a:t>
            </a:r>
            <a:r>
              <a:rPr lang="en-US" dirty="0"/>
              <a:t>Occurs when the modulation index is very small (</a:t>
            </a:r>
            <a:r>
              <a:rPr lang="el-GR" dirty="0"/>
              <a:t>β</a:t>
            </a:r>
            <a:r>
              <a:rPr lang="en-IN" dirty="0"/>
              <a:t> &lt;&lt; </a:t>
            </a:r>
            <a:r>
              <a:rPr lang="en-US" dirty="0"/>
              <a:t>1).</a:t>
            </a:r>
          </a:p>
          <a:p>
            <a:pPr lvl="1">
              <a:buFont typeface="Wingdings" panose="05000000000000000000" pitchFamily="2" charset="2"/>
              <a:buChar char="q"/>
            </a:pPr>
            <a:r>
              <a:rPr lang="en-US" dirty="0"/>
              <a:t> The frequency deviation (</a:t>
            </a:r>
            <a:r>
              <a:rPr lang="el-GR" dirty="0"/>
              <a:t>Δ</a:t>
            </a:r>
            <a:r>
              <a:rPr lang="en-US" dirty="0"/>
              <a:t>f) is extremely small compared to f</a:t>
            </a:r>
            <a:r>
              <a:rPr lang="en-US" baseline="-25000" dirty="0"/>
              <a:t>m</a:t>
            </a:r>
            <a:r>
              <a:rPr lang="en-US" dirty="0"/>
              <a:t>.</a:t>
            </a:r>
          </a:p>
          <a:p>
            <a:pPr lvl="1">
              <a:buFont typeface="Wingdings" panose="05000000000000000000" pitchFamily="2" charset="2"/>
              <a:buChar char="q"/>
            </a:pPr>
            <a:r>
              <a:rPr lang="en-US" dirty="0"/>
              <a:t> Carson's rule simplifies to: BW ≈2f</a:t>
            </a:r>
            <a:r>
              <a:rPr lang="en-US" baseline="-25000" dirty="0"/>
              <a:t>m</a:t>
            </a:r>
            <a:r>
              <a:rPr lang="en-US" dirty="0"/>
              <a:t>.</a:t>
            </a:r>
          </a:p>
          <a:p>
            <a:pPr lvl="1">
              <a:buFont typeface="Wingdings" panose="05000000000000000000" pitchFamily="2" charset="2"/>
              <a:buChar char="q"/>
            </a:pPr>
            <a:r>
              <a:rPr lang="en-US" dirty="0"/>
              <a:t> Use Case: Walkie-talkies, marine radios, and amateur radio. It uses the same bandwidth as AM but offers better noise immunity.</a:t>
            </a:r>
          </a:p>
          <a:p>
            <a:pPr>
              <a:buFont typeface="Wingdings" panose="05000000000000000000" pitchFamily="2" charset="2"/>
              <a:buChar char="q"/>
            </a:pPr>
            <a:r>
              <a:rPr lang="en-US" dirty="0"/>
              <a:t> </a:t>
            </a:r>
            <a:r>
              <a:rPr lang="en-US" b="1" dirty="0"/>
              <a:t>Wideband FM (WBFM): </a:t>
            </a:r>
            <a:r>
              <a:rPr lang="en-US" dirty="0"/>
              <a:t>Occurs when the modulation index is large (</a:t>
            </a:r>
            <a:r>
              <a:rPr lang="el-GR" dirty="0"/>
              <a:t>β</a:t>
            </a:r>
            <a:r>
              <a:rPr lang="en-IN" dirty="0"/>
              <a:t> &gt;&gt;</a:t>
            </a:r>
            <a:r>
              <a:rPr lang="en-US" dirty="0"/>
              <a:t>1)</a:t>
            </a:r>
          </a:p>
          <a:p>
            <a:pPr lvl="1">
              <a:buFont typeface="Wingdings" panose="05000000000000000000" pitchFamily="2" charset="2"/>
              <a:buChar char="q"/>
            </a:pPr>
            <a:r>
              <a:rPr lang="en-US" dirty="0"/>
              <a:t> The frequency deviation (</a:t>
            </a:r>
            <a:r>
              <a:rPr lang="el-GR" dirty="0"/>
              <a:t>Δ</a:t>
            </a:r>
            <a:r>
              <a:rPr lang="en-US" dirty="0"/>
              <a:t>f) dominates the equation.</a:t>
            </a:r>
          </a:p>
          <a:p>
            <a:pPr lvl="1">
              <a:buFont typeface="Wingdings" panose="05000000000000000000" pitchFamily="2" charset="2"/>
              <a:buChar char="q"/>
            </a:pPr>
            <a:r>
              <a:rPr lang="en-US" dirty="0"/>
              <a:t> Carson's rule simplifies to: BW ≈ 2 </a:t>
            </a:r>
            <a:r>
              <a:rPr lang="el-GR" dirty="0"/>
              <a:t>Δ</a:t>
            </a:r>
            <a:r>
              <a:rPr lang="en-US" dirty="0"/>
              <a:t>f. </a:t>
            </a:r>
          </a:p>
          <a:p>
            <a:pPr lvl="1">
              <a:buFont typeface="Wingdings" panose="05000000000000000000" pitchFamily="2" charset="2"/>
              <a:buChar char="q"/>
            </a:pPr>
            <a:r>
              <a:rPr lang="en-US" dirty="0"/>
              <a:t> Use Case: Commercial FM radio and television audio. It consumes a lot of bandwidth but provides excellent, high-fidelity audio quality.</a:t>
            </a:r>
            <a:endParaRPr lang="en-IN" dirty="0"/>
          </a:p>
        </p:txBody>
      </p:sp>
    </p:spTree>
    <p:extLst>
      <p:ext uri="{BB962C8B-B14F-4D97-AF65-F5344CB8AC3E}">
        <p14:creationId xmlns:p14="http://schemas.microsoft.com/office/powerpoint/2010/main" val="33633292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8931" y="1737009"/>
            <a:ext cx="7934325"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944672" y="3244334"/>
            <a:ext cx="6632812" cy="369332"/>
          </a:xfrm>
          <a:prstGeom prst="rect">
            <a:avLst/>
          </a:prstGeom>
          <a:noFill/>
        </p:spPr>
        <p:txBody>
          <a:bodyPr wrap="square" rtlCol="0">
            <a:spAutoFit/>
          </a:bodyPr>
          <a:lstStyle/>
          <a:p>
            <a:pPr algn="ctr"/>
            <a:r>
              <a:rPr lang="en-IN" dirty="0"/>
              <a:t>FM Band Allocation</a:t>
            </a:r>
          </a:p>
        </p:txBody>
      </p:sp>
    </p:spTree>
    <p:extLst>
      <p:ext uri="{BB962C8B-B14F-4D97-AF65-F5344CB8AC3E}">
        <p14:creationId xmlns:p14="http://schemas.microsoft.com/office/powerpoint/2010/main" val="3883073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835" y="286603"/>
            <a:ext cx="10859845" cy="1450757"/>
          </a:xfrm>
        </p:spPr>
        <p:txBody>
          <a:bodyPr/>
          <a:lstStyle/>
          <a:p>
            <a:r>
              <a:rPr lang="en-IN" dirty="0"/>
              <a:t>Analog-to-Analog Conversion:</a:t>
            </a:r>
            <a:br>
              <a:rPr lang="en-IN" dirty="0"/>
            </a:br>
            <a:r>
              <a:rPr lang="en-IN" dirty="0"/>
              <a:t>Phase Modulation (PM)</a:t>
            </a:r>
          </a:p>
        </p:txBody>
      </p:sp>
      <p:sp>
        <p:nvSpPr>
          <p:cNvPr id="3" name="Content Placeholder 2"/>
          <p:cNvSpPr>
            <a:spLocks noGrp="1"/>
          </p:cNvSpPr>
          <p:nvPr>
            <p:ph idx="1"/>
          </p:nvPr>
        </p:nvSpPr>
        <p:spPr>
          <a:xfrm>
            <a:off x="295835" y="1845734"/>
            <a:ext cx="11591365" cy="4023360"/>
          </a:xfrm>
        </p:spPr>
        <p:txBody>
          <a:bodyPr>
            <a:noAutofit/>
          </a:bodyPr>
          <a:lstStyle/>
          <a:p>
            <a:pPr>
              <a:buFont typeface="Wingdings" panose="05000000000000000000" pitchFamily="2" charset="2"/>
              <a:buChar char="q"/>
            </a:pPr>
            <a:r>
              <a:rPr lang="en-US" sz="1800" dirty="0"/>
              <a:t> The modulating signal only changes the phase of the carrier signal</a:t>
            </a:r>
          </a:p>
          <a:p>
            <a:pPr>
              <a:buFont typeface="Wingdings" panose="05000000000000000000" pitchFamily="2" charset="2"/>
              <a:buChar char="q"/>
            </a:pPr>
            <a:r>
              <a:rPr lang="en-US" sz="1800" dirty="0"/>
              <a:t> When the phase of the carrier changes, the frequency also changes. This happens because </a:t>
            </a:r>
            <a:r>
              <a:rPr lang="en-US" sz="1800" i="1" dirty="0"/>
              <a:t>frequency</a:t>
            </a:r>
            <a:r>
              <a:rPr lang="en-US" sz="1800" dirty="0"/>
              <a:t> is the rate of change of </a:t>
            </a:r>
            <a:r>
              <a:rPr lang="en-US" sz="1800" i="1" dirty="0"/>
              <a:t>phase</a:t>
            </a:r>
            <a:r>
              <a:rPr lang="en-US" sz="1800" dirty="0"/>
              <a:t> with respect to time.</a:t>
            </a:r>
          </a:p>
          <a:p>
            <a:pPr>
              <a:buFont typeface="Wingdings" panose="05000000000000000000" pitchFamily="2" charset="2"/>
              <a:buChar char="q"/>
            </a:pPr>
            <a:r>
              <a:rPr lang="en-US" sz="1800" dirty="0"/>
              <a:t> Carrier signal                                             can be written as</a:t>
            </a:r>
          </a:p>
          <a:p>
            <a:pPr>
              <a:buFont typeface="Wingdings" panose="05000000000000000000" pitchFamily="2" charset="2"/>
              <a:buChar char="q"/>
            </a:pPr>
            <a:r>
              <a:rPr lang="en-US" sz="1800" dirty="0"/>
              <a:t> Instantaneous phase  </a:t>
            </a:r>
          </a:p>
          <a:p>
            <a:pPr marL="0" indent="0">
              <a:buNone/>
            </a:pPr>
            <a:r>
              <a:rPr lang="en-US" sz="1800" dirty="0"/>
              <a:t>Where </a:t>
            </a:r>
            <a:r>
              <a:rPr lang="en-US" sz="1800" dirty="0" err="1"/>
              <a:t>k</a:t>
            </a:r>
            <a:r>
              <a:rPr lang="en-US" sz="1800" baseline="-25000" dirty="0" err="1"/>
              <a:t>p</a:t>
            </a:r>
            <a:r>
              <a:rPr lang="en-US" sz="1800" dirty="0"/>
              <a:t> phase sensitivity constant of the modulator. It is measured in radians per volt (rad/V).</a:t>
            </a:r>
          </a:p>
          <a:p>
            <a:pPr>
              <a:buFont typeface="Wingdings" panose="05000000000000000000" pitchFamily="2" charset="2"/>
              <a:buChar char="q"/>
            </a:pPr>
            <a:r>
              <a:rPr lang="en-US" sz="1800" dirty="0"/>
              <a:t> Maximum Phase Deviation (</a:t>
            </a:r>
            <a:r>
              <a:rPr lang="el-GR" sz="1800" dirty="0"/>
              <a:t>Δ</a:t>
            </a:r>
            <a:r>
              <a:rPr lang="az-Cyrl-AZ" sz="1800" dirty="0"/>
              <a:t>Ф</a:t>
            </a:r>
            <a:r>
              <a:rPr lang="en-US" sz="1800" dirty="0"/>
              <a:t>) is the maximum possible phase shift away from the unmodulated carrier's phase. It depends entirely on the message amplitude and the sensitivity constant. </a:t>
            </a:r>
          </a:p>
          <a:p>
            <a:pPr>
              <a:buFont typeface="Wingdings" panose="05000000000000000000" pitchFamily="2" charset="2"/>
              <a:buChar char="q"/>
            </a:pPr>
            <a:r>
              <a:rPr lang="en-US" sz="1800" dirty="0"/>
              <a:t> PM Modulation Index </a:t>
            </a:r>
          </a:p>
          <a:p>
            <a:pPr>
              <a:buFont typeface="Wingdings" panose="05000000000000000000" pitchFamily="2" charset="2"/>
              <a:buChar char="q"/>
            </a:pPr>
            <a:r>
              <a:rPr lang="en-US" sz="1800" dirty="0"/>
              <a:t> Unlike FM, where the modulation index </a:t>
            </a:r>
            <a:r>
              <a:rPr lang="el-GR" sz="1800" dirty="0"/>
              <a:t>β</a:t>
            </a:r>
            <a:r>
              <a:rPr lang="en-IN" sz="1800" dirty="0"/>
              <a:t> </a:t>
            </a:r>
            <a:r>
              <a:rPr lang="en-US" sz="1800" dirty="0"/>
              <a:t>is divided by </a:t>
            </a:r>
            <a:r>
              <a:rPr lang="en-US" sz="1800" dirty="0" err="1"/>
              <a:t>f</a:t>
            </a:r>
            <a:r>
              <a:rPr lang="en-US" sz="1800" baseline="-25000" dirty="0" err="1"/>
              <a:t>m</a:t>
            </a:r>
            <a:r>
              <a:rPr lang="en-US" sz="1800" dirty="0"/>
              <a:t>, the PM modulation index </a:t>
            </a:r>
            <a:r>
              <a:rPr lang="el-GR" sz="1800" dirty="0"/>
              <a:t>β</a:t>
            </a:r>
            <a:r>
              <a:rPr lang="en-US" sz="1800" baseline="-25000" dirty="0"/>
              <a:t>p</a:t>
            </a:r>
            <a:r>
              <a:rPr lang="en-US" sz="1800" dirty="0"/>
              <a:t> is completely independent of the message frequency.</a:t>
            </a:r>
          </a:p>
          <a:p>
            <a:pPr>
              <a:buFont typeface="Wingdings" panose="05000000000000000000" pitchFamily="2" charset="2"/>
              <a:buChar char="q"/>
            </a:pPr>
            <a:r>
              <a:rPr lang="en-IN" sz="1800" dirty="0"/>
              <a:t> Final PM Equation  </a:t>
            </a:r>
          </a:p>
        </p:txBody>
      </p:sp>
      <p:pic>
        <p:nvPicPr>
          <p:cNvPr id="6" name="Picture 5">
            <a:extLst>
              <a:ext uri="{FF2B5EF4-FFF2-40B4-BE49-F238E27FC236}">
                <a16:creationId xmlns:a16="http://schemas.microsoft.com/office/drawing/2014/main" id="{19376FDB-5E18-482F-8E4B-6486C67B0AEF}"/>
              </a:ext>
            </a:extLst>
          </p:cNvPr>
          <p:cNvPicPr>
            <a:picLocks noChangeAspect="1"/>
          </p:cNvPicPr>
          <p:nvPr/>
        </p:nvPicPr>
        <p:blipFill>
          <a:blip r:embed="rId2"/>
          <a:stretch>
            <a:fillRect/>
          </a:stretch>
        </p:blipFill>
        <p:spPr>
          <a:xfrm>
            <a:off x="1842516" y="2971905"/>
            <a:ext cx="2362200" cy="295275"/>
          </a:xfrm>
          <a:prstGeom prst="rect">
            <a:avLst/>
          </a:prstGeom>
        </p:spPr>
      </p:pic>
      <p:pic>
        <p:nvPicPr>
          <p:cNvPr id="7" name="Picture 6">
            <a:extLst>
              <a:ext uri="{FF2B5EF4-FFF2-40B4-BE49-F238E27FC236}">
                <a16:creationId xmlns:a16="http://schemas.microsoft.com/office/drawing/2014/main" id="{58E69AAF-12AF-4DF7-9274-9BA88128E16E}"/>
              </a:ext>
            </a:extLst>
          </p:cNvPr>
          <p:cNvPicPr>
            <a:picLocks noChangeAspect="1"/>
          </p:cNvPicPr>
          <p:nvPr/>
        </p:nvPicPr>
        <p:blipFill>
          <a:blip r:embed="rId3"/>
          <a:stretch>
            <a:fillRect/>
          </a:stretch>
        </p:blipFill>
        <p:spPr>
          <a:xfrm>
            <a:off x="5874258" y="2971905"/>
            <a:ext cx="2171700" cy="295275"/>
          </a:xfrm>
          <a:prstGeom prst="rect">
            <a:avLst/>
          </a:prstGeom>
        </p:spPr>
      </p:pic>
      <p:pic>
        <p:nvPicPr>
          <p:cNvPr id="8" name="Picture 7">
            <a:extLst>
              <a:ext uri="{FF2B5EF4-FFF2-40B4-BE49-F238E27FC236}">
                <a16:creationId xmlns:a16="http://schemas.microsoft.com/office/drawing/2014/main" id="{DF949CA2-7F21-4301-A40D-8068F53266CB}"/>
              </a:ext>
            </a:extLst>
          </p:cNvPr>
          <p:cNvPicPr>
            <a:picLocks noChangeAspect="1"/>
          </p:cNvPicPr>
          <p:nvPr/>
        </p:nvPicPr>
        <p:blipFill>
          <a:blip r:embed="rId4"/>
          <a:stretch>
            <a:fillRect/>
          </a:stretch>
        </p:blipFill>
        <p:spPr>
          <a:xfrm>
            <a:off x="2446021" y="3429000"/>
            <a:ext cx="2290572" cy="259005"/>
          </a:xfrm>
          <a:prstGeom prst="rect">
            <a:avLst/>
          </a:prstGeom>
        </p:spPr>
      </p:pic>
      <p:pic>
        <p:nvPicPr>
          <p:cNvPr id="9" name="Picture 8">
            <a:extLst>
              <a:ext uri="{FF2B5EF4-FFF2-40B4-BE49-F238E27FC236}">
                <a16:creationId xmlns:a16="http://schemas.microsoft.com/office/drawing/2014/main" id="{C031101E-9334-402D-B335-3C33FBC18E26}"/>
              </a:ext>
            </a:extLst>
          </p:cNvPr>
          <p:cNvPicPr>
            <a:picLocks noChangeAspect="1"/>
          </p:cNvPicPr>
          <p:nvPr/>
        </p:nvPicPr>
        <p:blipFill>
          <a:blip r:embed="rId5"/>
          <a:stretch>
            <a:fillRect/>
          </a:stretch>
        </p:blipFill>
        <p:spPr>
          <a:xfrm>
            <a:off x="5173041" y="3427647"/>
            <a:ext cx="3427476" cy="268822"/>
          </a:xfrm>
          <a:prstGeom prst="rect">
            <a:avLst/>
          </a:prstGeom>
        </p:spPr>
      </p:pic>
      <p:pic>
        <p:nvPicPr>
          <p:cNvPr id="10" name="Picture 9">
            <a:extLst>
              <a:ext uri="{FF2B5EF4-FFF2-40B4-BE49-F238E27FC236}">
                <a16:creationId xmlns:a16="http://schemas.microsoft.com/office/drawing/2014/main" id="{C1F9A70D-AFF8-420A-9EF1-AB61903C9742}"/>
              </a:ext>
            </a:extLst>
          </p:cNvPr>
          <p:cNvPicPr>
            <a:picLocks noChangeAspect="1"/>
          </p:cNvPicPr>
          <p:nvPr/>
        </p:nvPicPr>
        <p:blipFill>
          <a:blip r:embed="rId6"/>
          <a:stretch>
            <a:fillRect/>
          </a:stretch>
        </p:blipFill>
        <p:spPr>
          <a:xfrm>
            <a:off x="5985827" y="4553818"/>
            <a:ext cx="1187133" cy="246987"/>
          </a:xfrm>
          <a:prstGeom prst="rect">
            <a:avLst/>
          </a:prstGeom>
        </p:spPr>
      </p:pic>
      <p:pic>
        <p:nvPicPr>
          <p:cNvPr id="11" name="Picture 10">
            <a:extLst>
              <a:ext uri="{FF2B5EF4-FFF2-40B4-BE49-F238E27FC236}">
                <a16:creationId xmlns:a16="http://schemas.microsoft.com/office/drawing/2014/main" id="{64193295-28A4-49AB-A147-FD2E9C89BC82}"/>
              </a:ext>
            </a:extLst>
          </p:cNvPr>
          <p:cNvPicPr>
            <a:picLocks noChangeAspect="1"/>
          </p:cNvPicPr>
          <p:nvPr/>
        </p:nvPicPr>
        <p:blipFill>
          <a:blip r:embed="rId7"/>
          <a:stretch>
            <a:fillRect/>
          </a:stretch>
        </p:blipFill>
        <p:spPr>
          <a:xfrm>
            <a:off x="2587180" y="4931415"/>
            <a:ext cx="1900872" cy="256658"/>
          </a:xfrm>
          <a:prstGeom prst="rect">
            <a:avLst/>
          </a:prstGeom>
        </p:spPr>
      </p:pic>
      <p:pic>
        <p:nvPicPr>
          <p:cNvPr id="12" name="Picture 11">
            <a:extLst>
              <a:ext uri="{FF2B5EF4-FFF2-40B4-BE49-F238E27FC236}">
                <a16:creationId xmlns:a16="http://schemas.microsoft.com/office/drawing/2014/main" id="{181B7FB7-EC1A-4B57-AFCD-6E1FE900047D}"/>
              </a:ext>
            </a:extLst>
          </p:cNvPr>
          <p:cNvPicPr>
            <a:picLocks noChangeAspect="1"/>
          </p:cNvPicPr>
          <p:nvPr/>
        </p:nvPicPr>
        <p:blipFill>
          <a:blip r:embed="rId8"/>
          <a:stretch>
            <a:fillRect/>
          </a:stretch>
        </p:blipFill>
        <p:spPr>
          <a:xfrm>
            <a:off x="2344548" y="6013735"/>
            <a:ext cx="4168012" cy="267824"/>
          </a:xfrm>
          <a:prstGeom prst="rect">
            <a:avLst/>
          </a:prstGeom>
        </p:spPr>
      </p:pic>
    </p:spTree>
    <p:extLst>
      <p:ext uri="{BB962C8B-B14F-4D97-AF65-F5344CB8AC3E}">
        <p14:creationId xmlns:p14="http://schemas.microsoft.com/office/powerpoint/2010/main" val="2455754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9028" y="549323"/>
            <a:ext cx="8775700"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466531" y="4899546"/>
            <a:ext cx="6305266" cy="369332"/>
          </a:xfrm>
          <a:prstGeom prst="rect">
            <a:avLst/>
          </a:prstGeom>
          <a:noFill/>
        </p:spPr>
        <p:txBody>
          <a:bodyPr wrap="square" rtlCol="0">
            <a:spAutoFit/>
          </a:bodyPr>
          <a:lstStyle/>
          <a:p>
            <a:pPr algn="ctr"/>
            <a:r>
              <a:rPr lang="en-IN" dirty="0"/>
              <a:t>Phase Modulation</a:t>
            </a:r>
          </a:p>
        </p:txBody>
      </p:sp>
      <p:sp>
        <p:nvSpPr>
          <p:cNvPr id="6" name="TextBox 5"/>
          <p:cNvSpPr txBox="1"/>
          <p:nvPr/>
        </p:nvSpPr>
        <p:spPr>
          <a:xfrm>
            <a:off x="-4552" y="5582047"/>
            <a:ext cx="12192000" cy="1200329"/>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2400" dirty="0"/>
              <a:t>The total bandwidth required for PM can be determined from the bandwidth </a:t>
            </a:r>
            <a:br>
              <a:rPr lang="en-US" sz="2400" dirty="0"/>
            </a:br>
            <a:r>
              <a:rPr lang="en-US" sz="2400" dirty="0"/>
              <a:t>and maximum amplitude of the modulating signal: B</a:t>
            </a:r>
            <a:r>
              <a:rPr lang="en-US" sz="2400" baseline="-25000" dirty="0"/>
              <a:t>PM</a:t>
            </a:r>
            <a:r>
              <a:rPr lang="en-US" sz="2400" dirty="0"/>
              <a:t> = 2(1 + β)B.</a:t>
            </a:r>
          </a:p>
          <a:p>
            <a:pPr algn="ctr"/>
            <a:r>
              <a:rPr lang="en-US" sz="2400" dirty="0"/>
              <a:t>Here </a:t>
            </a:r>
            <a:r>
              <a:rPr lang="en-US" sz="2400" dirty="0">
                <a:latin typeface="Symbol" panose="05050102010706020507" pitchFamily="18" charset="2"/>
                <a:sym typeface="Symbol" panose="05050102010706020507" pitchFamily="18" charset="2"/>
              </a:rPr>
              <a:t></a:t>
            </a:r>
            <a:r>
              <a:rPr lang="en-US" sz="2400" dirty="0"/>
              <a:t> = 2 most often</a:t>
            </a:r>
            <a:endParaRPr lang="en-IN" sz="2400" dirty="0"/>
          </a:p>
        </p:txBody>
      </p:sp>
    </p:spTree>
    <p:extLst>
      <p:ext uri="{BB962C8B-B14F-4D97-AF65-F5344CB8AC3E}">
        <p14:creationId xmlns:p14="http://schemas.microsoft.com/office/powerpoint/2010/main" val="3488318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279" y="4635378"/>
            <a:ext cx="8770571" cy="1560716"/>
          </a:xfrm>
        </p:spPr>
        <p:txBody>
          <a:bodyPr/>
          <a:lstStyle/>
          <a:p>
            <a:r>
              <a:rPr lang="en-IN" dirty="0"/>
              <a:t>Thank you!!!</a:t>
            </a:r>
          </a:p>
        </p:txBody>
      </p:sp>
    </p:spTree>
    <p:extLst>
      <p:ext uri="{BB962C8B-B14F-4D97-AF65-F5344CB8AC3E}">
        <p14:creationId xmlns:p14="http://schemas.microsoft.com/office/powerpoint/2010/main" val="28476650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B02027-A435-48C5-A0A1-462C4B4312DC}"/>
              </a:ext>
            </a:extLst>
          </p:cNvPr>
          <p:cNvSpPr>
            <a:spLocks noGrp="1"/>
          </p:cNvSpPr>
          <p:nvPr>
            <p:ph type="title"/>
          </p:nvPr>
        </p:nvSpPr>
        <p:spPr/>
        <p:txBody>
          <a:bodyPr/>
          <a:lstStyle/>
          <a:p>
            <a:endParaRPr lang="en-IN"/>
          </a:p>
        </p:txBody>
      </p:sp>
      <p:pic>
        <p:nvPicPr>
          <p:cNvPr id="8" name="Picture 7">
            <a:extLst>
              <a:ext uri="{FF2B5EF4-FFF2-40B4-BE49-F238E27FC236}">
                <a16:creationId xmlns:a16="http://schemas.microsoft.com/office/drawing/2014/main" id="{0010609C-DF80-487A-9A3F-6908FDB2893B}"/>
              </a:ext>
            </a:extLst>
          </p:cNvPr>
          <p:cNvPicPr>
            <a:picLocks noChangeAspect="1"/>
          </p:cNvPicPr>
          <p:nvPr/>
        </p:nvPicPr>
        <p:blipFill>
          <a:blip r:embed="rId2"/>
          <a:stretch>
            <a:fillRect/>
          </a:stretch>
        </p:blipFill>
        <p:spPr>
          <a:xfrm>
            <a:off x="0" y="245579"/>
            <a:ext cx="12192000" cy="6366841"/>
          </a:xfrm>
          <a:prstGeom prst="rect">
            <a:avLst/>
          </a:prstGeom>
        </p:spPr>
      </p:pic>
    </p:spTree>
    <p:extLst>
      <p:ext uri="{BB962C8B-B14F-4D97-AF65-F5344CB8AC3E}">
        <p14:creationId xmlns:p14="http://schemas.microsoft.com/office/powerpoint/2010/main" val="118394275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1448</TotalTime>
  <Words>3280</Words>
  <Application>Microsoft Office PowerPoint</Application>
  <PresentationFormat>Widescreen</PresentationFormat>
  <Paragraphs>238</Paragraphs>
  <Slides>48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Arial</vt:lpstr>
      <vt:lpstr>Bookman Old Style</vt:lpstr>
      <vt:lpstr>Calibri</vt:lpstr>
      <vt:lpstr>Corbel</vt:lpstr>
      <vt:lpstr>Garamond</vt:lpstr>
      <vt:lpstr>Symbol</vt:lpstr>
      <vt:lpstr>Times</vt:lpstr>
      <vt:lpstr>Times New Roman</vt:lpstr>
      <vt:lpstr>Wingdings</vt:lpstr>
      <vt:lpstr>Retrospect</vt:lpstr>
      <vt:lpstr>Ch 5: Analog Transmission</vt:lpstr>
      <vt:lpstr>Introduction</vt:lpstr>
      <vt:lpstr>Digital-to-Analog Conversion</vt:lpstr>
      <vt:lpstr>PowerPoint Presentation</vt:lpstr>
      <vt:lpstr>Digital-to-Analog Conversion: Aspects</vt:lpstr>
      <vt:lpstr>PowerPoint Presentation</vt:lpstr>
      <vt:lpstr>Digital-to-Analog Conversion: Aspects</vt:lpstr>
      <vt:lpstr>Digital-to-analog conversion: Amplitude Shift Keying (ASK)</vt:lpstr>
      <vt:lpstr>PowerPoint Presentation</vt:lpstr>
      <vt:lpstr>PowerPoint Presentation</vt:lpstr>
      <vt:lpstr>PowerPoint Presentation</vt:lpstr>
      <vt:lpstr>Digital-to-Analog Conversion: Frequency Shift Keying (FSK)</vt:lpstr>
      <vt:lpstr>PowerPoint Presentation</vt:lpstr>
      <vt:lpstr>PowerPoint Presentation</vt:lpstr>
      <vt:lpstr>PowerPoint Presentation</vt:lpstr>
      <vt:lpstr>PowerPoint Presentation</vt:lpstr>
      <vt:lpstr>Digital-to-analog Conversion: Phase Shift Keying (PSK)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8-QAM</vt:lpstr>
      <vt:lpstr>16-QAM Constellations</vt:lpstr>
      <vt:lpstr>8-QAM Constellations</vt:lpstr>
      <vt:lpstr>16-QAM Constellations</vt:lpstr>
      <vt:lpstr>Analog-to-Analog Conversion</vt:lpstr>
      <vt:lpstr>PowerPoint Presentation</vt:lpstr>
      <vt:lpstr>Analog-to-Analog Conversion: Amplitude Modulation (AM)</vt:lpstr>
      <vt:lpstr>PowerPoint Presentation</vt:lpstr>
      <vt:lpstr>Analog-to-Analog Conversion: Amplitude Modulation (AM)</vt:lpstr>
      <vt:lpstr>Amplitude Modulation (AM)</vt:lpstr>
      <vt:lpstr>Analog-to-Analog Conversion: Amplitude Modulation (AM)</vt:lpstr>
      <vt:lpstr>Analog-to-Analog Conversion: Amplitude Modulation (AM)</vt:lpstr>
      <vt:lpstr>PowerPoint Presentation</vt:lpstr>
      <vt:lpstr>Analog-to-Analog Conversion: Frequency Modulation (FM)</vt:lpstr>
      <vt:lpstr>PowerPoint Presentation</vt:lpstr>
      <vt:lpstr>Frequency Modulation (FM)</vt:lpstr>
      <vt:lpstr>Frequency Modulation (FM)</vt:lpstr>
      <vt:lpstr>Frequency Modulation (FM)</vt:lpstr>
      <vt:lpstr>Frequency Modulation (FM)</vt:lpstr>
      <vt:lpstr>PowerPoint Presentation</vt:lpstr>
      <vt:lpstr>Analog-to-Analog Conversion: Phase Modulation (PM)</vt:lpstr>
      <vt:lpstr>PowerPoint Presentation</vt:lpstr>
      <vt:lpstr>Thank you!!!</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Transmission</dc:title>
  <dc:creator>Administrator</dc:creator>
  <cp:lastModifiedBy>Deep Joshi</cp:lastModifiedBy>
  <cp:revision>281</cp:revision>
  <dcterms:created xsi:type="dcterms:W3CDTF">2020-09-05T09:47:01Z</dcterms:created>
  <dcterms:modified xsi:type="dcterms:W3CDTF">2026-04-19T04:16:01Z</dcterms:modified>
</cp:coreProperties>
</file>
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4" r:id="rId5"/>
    <p:sldId id="266" r:id="rId6"/>
    <p:sldId id="267" r:id="rId7"/>
    <p:sldId id="265" r:id="rId8"/>
    <p:sldId id="268" r:id="rId9"/>
    <p:sldId id="269" r:id="rId10"/>
    <p:sldId id="270" r:id="rId11"/>
    <p:sldId id="271" r:id="rId12"/>
    <p:sldId id="280" r:id="rId13"/>
    <p:sldId id="282" r:id="rId14"/>
    <p:sldId id="279" r:id="rId15"/>
    <p:sldId id="283" r:id="rId16"/>
    <p:sldId id="278" r:id="rId17"/>
    <p:sldId id="284" r:id="rId18"/>
    <p:sldId id="276" r:id="rId19"/>
    <p:sldId id="277" r:id="rId20"/>
    <p:sldId id="275" r:id="rId21"/>
    <p:sldId id="273" r:id="rId22"/>
    <p:sldId id="274" r:id="rId23"/>
    <p:sldId id="272" r:id="rId24"/>
    <p:sldId id="285" r:id="rId25"/>
    <p:sldId id="281" r:id="rId26"/>
    <p:sldId id="291" r:id="rId27"/>
    <p:sldId id="286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8" r:id="rId43"/>
    <p:sldId id="314" r:id="rId44"/>
    <p:sldId id="315" r:id="rId45"/>
    <p:sldId id="30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E96E-DF81-F5D8-F466-1909316BF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402B6-F4C6-8E12-E9BC-8C9C797BA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5DE10-7034-883E-07F6-866D4A70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FF31D-FBF9-7CA7-A1BE-87582299E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CF5A0-3AC7-2640-200A-7A58B287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745C-0BA8-BB55-252C-B6127BC0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33337-CA1C-78CD-E17C-B462BE93D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CC7ED-2EEA-60AD-4DA8-9FAD99A9D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A2FC9-0158-535C-BF2F-F06281E8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F8FB5-9188-2878-36AD-79F015CA0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3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4588E-C625-01A8-9735-9043266E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55A1E-1B60-75B6-9C14-6C9087A34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7664E-F2C1-8FB8-0F09-837CD3B9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D6446-41D7-7C0A-2745-20B18C04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90F53-72FC-2770-CBCB-C36A9DF6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2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5CFE-9FB6-DCDE-D2D7-8C4EC425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F1AB6-B75F-BECA-A00D-85689A416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43BAD-6277-677D-96C2-693A3487F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5381E-DF1C-1EE5-16B4-AE46EAAE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4BFD7-F5E0-6332-DE83-0B3B73A6B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4D58B-36DB-CCD3-A640-75D0CB1F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84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08EC5-F3F1-FF3A-67BC-43F6FEC1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94AFC-B7EF-771C-26F2-993321F78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64D53-0C24-8103-ECE2-DD6D8D485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3410E-394B-6144-BCDB-CC2227114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E090B-C6B1-42CD-8210-B4B161DA8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D1923-0868-B042-22A2-6868D20D3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09EE8-6527-69EA-DEC2-3CA49D2F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6EF7AF-BA96-4114-23AE-08B82C99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6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4A0B-F8D7-B26F-E443-50DD83BE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D11DCA-BDB5-71A8-46B3-F07B577F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D0BD7-B1CE-9192-C37D-6851EF1B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2E1EB-89E5-B916-B594-73EA3C3F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4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3CCB8-D050-BAA0-C264-22F5B6D79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82D28-E6D8-E2BD-D0D8-DCED383E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80FEE-78A1-2E2B-FC1B-DF0FD77ED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3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19958-68B4-E043-E057-33C75516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EC5CB-EBAB-41C3-8D38-9F06F9AC3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13A25-81FE-5F1E-E35E-A75E7E277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3D5A4-5FDC-5EC5-46CC-E43DA307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CE057-E828-EC98-BE46-4D6B46FF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AD459-AE62-D6E8-1324-ADA5463A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2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C4A8-E75E-40DB-E1EA-86E3B80E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96F3F-E2EE-A8F0-631D-983F9E24E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641CD-6B92-FE74-0FF0-D748CBEB6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49F92-0FCF-0D4E-FDE0-4085B379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68C90-2814-703E-9242-649B3477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DA044-6EF7-F602-45DC-8D8E9E2D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54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C6A09-E03B-BC8D-3EA9-7BE61688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2C1DC-B9C8-581B-DBBE-D65780140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76350-212D-9A55-FDA0-5FB10636F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4DEE0-E764-30B9-D5F7-E06A3E8F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1FC98-D1D1-DA9F-40BF-148DB0D7F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4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BCE93B-0ADB-E72F-8CDC-2B2C1D93E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6091F-16B5-A282-6F90-33F0639C0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CE9C6-C7A6-4CB3-1C63-330AE38F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C527D-7164-67B1-A3E2-6B8C2A22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A68DA-F9FA-9533-95B1-B57E147B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2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7F793-ABF1-EDB4-F9BE-653AB3A0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CFE8E-7F92-7D35-39CA-29BD802FD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19D4D-1319-DDB4-831F-143DF7F79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A0C69-A3FC-0B41-879C-8FE4077927C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1E350-D6E1-AB23-C54D-ED5B23C42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CACB-CE47-EE02-CA91-8978707CC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E7DAD-3780-274B-9ADD-B334F4B06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2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EBEE-F04C-9EA3-E16A-E3CAE36F7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1634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latin typeface="Papyrus" panose="020B0602040200020303" pitchFamily="34" charset="77"/>
                <a:cs typeface="Aldhabi" panose="020F0502020204030204" pitchFamily="34" charset="0"/>
              </a:rPr>
              <a:t>Chapter 2</a:t>
            </a:r>
            <a:br>
              <a:rPr lang="en-US" b="1" dirty="0">
                <a:latin typeface="Papyrus" panose="020B0602040200020303" pitchFamily="34" charset="77"/>
                <a:cs typeface="Aldhabi" panose="020F0502020204030204" pitchFamily="34" charset="0"/>
              </a:rPr>
            </a:br>
            <a:r>
              <a:rPr lang="en-US" b="1" dirty="0">
                <a:latin typeface="Papyrus" panose="020B0602040200020303" pitchFamily="34" charset="77"/>
                <a:cs typeface="Aldhabi" panose="020F0502020204030204" pitchFamily="34" charset="0"/>
              </a:rPr>
              <a:t>Network</a:t>
            </a:r>
            <a:r>
              <a:rPr lang="en-US" b="1" dirty="0">
                <a:latin typeface="Papyrus" panose="020B0602040200020303" pitchFamily="34" charset="77"/>
                <a:cs typeface="Amasis MT Pro" panose="020F0502020204030204" pitchFamily="34" charset="0"/>
              </a:rPr>
              <a:t> Models</a:t>
            </a:r>
          </a:p>
        </p:txBody>
      </p:sp>
    </p:spTree>
    <p:extLst>
      <p:ext uri="{BB962C8B-B14F-4D97-AF65-F5344CB8AC3E}">
        <p14:creationId xmlns:p14="http://schemas.microsoft.com/office/powerpoint/2010/main" val="122163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D3D6-1D55-1634-08CF-D4FA9B2B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Biome" panose="020B0503030204020804" pitchFamily="34" charset="0"/>
                <a:cs typeface="Biome" panose="020B0503030204020804" pitchFamily="34" charset="0"/>
              </a:rPr>
              <a:t>Introduction</a:t>
            </a:r>
            <a:endParaRPr lang="en-US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553FD-B17B-6CA0-F42A-8CD11F352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13" y="1835564"/>
            <a:ext cx="10204174" cy="4351338"/>
          </a:xfrm>
        </p:spPr>
        <p:txBody>
          <a:bodyPr/>
          <a:lstStyle/>
          <a:p>
            <a:pPr algn="just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communication and networking, protocol defines the rules that all communicating parties must follow</a:t>
            </a:r>
          </a:p>
          <a:p>
            <a:pPr algn="just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parties include</a:t>
            </a:r>
          </a:p>
          <a:p>
            <a:pPr lvl="1" algn="just"/>
            <a:r>
              <a:rPr lang="en-IN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Sender</a:t>
            </a:r>
          </a:p>
          <a:p>
            <a:pPr lvl="1" algn="just"/>
            <a:r>
              <a:rPr lang="en-IN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</a:t>
            </a:r>
          </a:p>
          <a:p>
            <a:pPr lvl="1" algn="just"/>
            <a:r>
              <a:rPr lang="en-IN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devices</a:t>
            </a:r>
          </a:p>
          <a:p>
            <a:pPr algn="just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Simple communication may need only one simple protocol.</a:t>
            </a:r>
          </a:p>
          <a:p>
            <a:pPr algn="just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Complex communication needs to divide tasks between different layers.</a:t>
            </a:r>
          </a:p>
          <a:p>
            <a:pPr lvl="1"/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 need a protocol at each layer</a:t>
            </a:r>
          </a:p>
          <a:p>
            <a:pPr lvl="2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Protocol layering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95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073" y="1205792"/>
            <a:ext cx="7575853" cy="2223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86129" y="3168202"/>
            <a:ext cx="664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 single-layer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078" y="4375998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Set of rules Maria and Ann would follow: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Greet each other when they meet.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Know that they should confine their vocabulary to the level of their friendship.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Refrain from speaking when the other party is speaking.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Exchange some nice words when they leave.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E0881-F23C-8094-955E-0C877162C936}"/>
              </a:ext>
            </a:extLst>
          </p:cNvPr>
          <p:cNvSpPr txBox="1">
            <a:spLocks/>
          </p:cNvSpPr>
          <p:nvPr/>
        </p:nvSpPr>
        <p:spPr>
          <a:xfrm>
            <a:off x="838199" y="54301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59309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1CB0-945F-495E-4F61-5CF20129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Layered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B3596-5C4B-A06D-1D6F-D7BAEAE2F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280451" cy="4351338"/>
          </a:xfrm>
        </p:spPr>
        <p:txBody>
          <a:bodyPr>
            <a:normAutofit/>
          </a:bodyPr>
          <a:lstStyle/>
          <a:p>
            <a:pPr algn="just"/>
            <a:endParaRPr lang="en-IN" sz="2000" dirty="0">
              <a:effectLst/>
              <a:latin typeface="Times"/>
            </a:endParaRPr>
          </a:p>
          <a:p>
            <a:pPr algn="just"/>
            <a:endParaRPr lang="en-IN" sz="2000" dirty="0">
              <a:latin typeface="Times"/>
            </a:endParaRPr>
          </a:p>
          <a:p>
            <a:pPr algn="just"/>
            <a:endParaRPr lang="en-IN" sz="2000" dirty="0">
              <a:effectLst/>
              <a:latin typeface="Times"/>
            </a:endParaRPr>
          </a:p>
          <a:p>
            <a:pPr algn="just"/>
            <a:endParaRPr lang="en-IN" sz="2000" dirty="0">
              <a:latin typeface="Times"/>
            </a:endParaRPr>
          </a:p>
          <a:p>
            <a:pPr algn="just"/>
            <a:r>
              <a:rPr lang="en-IN" sz="2000" dirty="0">
                <a:effectLst/>
                <a:latin typeface="Times"/>
              </a:rPr>
              <a:t>We use the concept of layers in our daily life. </a:t>
            </a:r>
          </a:p>
          <a:p>
            <a:pPr algn="just"/>
            <a:r>
              <a:rPr lang="en-IN" sz="2000" dirty="0">
                <a:latin typeface="Times"/>
              </a:rPr>
              <a:t>L</a:t>
            </a:r>
            <a:r>
              <a:rPr lang="en-IN" sz="2000" dirty="0">
                <a:effectLst/>
                <a:latin typeface="Times"/>
              </a:rPr>
              <a:t>et us consider two friends who communicate through postal mail. </a:t>
            </a:r>
            <a:endParaRPr lang="en-IN" sz="3200" dirty="0"/>
          </a:p>
          <a:p>
            <a:pPr algn="just"/>
            <a:endParaRPr lang="en-IN" sz="3200" dirty="0"/>
          </a:p>
          <a:p>
            <a:pPr algn="just"/>
            <a:endParaRPr lang="en-US" sz="3200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599B2AE-A466-759F-DD8D-8578624FC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08" y="1572970"/>
            <a:ext cx="5979865" cy="5147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152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1CB0-945F-495E-4F61-5CF20129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Layered Communication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BE19E7-83D2-C966-D8B0-4B1E9112B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8342" y="1587085"/>
            <a:ext cx="8775316" cy="477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9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1CB0-945F-495E-4F61-5CF20129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Protocol Layering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570D35-3CDC-AF6F-2BE2-42EA52E8A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"/>
              </a:rPr>
              <a:t>Enables us to </a:t>
            </a:r>
            <a:r>
              <a:rPr lang="en-IN" sz="2400" b="1" dirty="0">
                <a:latin typeface="Times"/>
              </a:rPr>
              <a:t>divide a complex task </a:t>
            </a:r>
            <a:r>
              <a:rPr lang="en-IN" sz="2400" dirty="0">
                <a:latin typeface="Times"/>
              </a:rPr>
              <a:t>into several smaller and simpler tasks.</a:t>
            </a:r>
          </a:p>
          <a:p>
            <a:pPr algn="just"/>
            <a:r>
              <a:rPr lang="en-IN" sz="2400" dirty="0">
                <a:latin typeface="Times"/>
              </a:rPr>
              <a:t>Modular implementation (</a:t>
            </a:r>
            <a:r>
              <a:rPr lang="en-IN" sz="2400" b="1" dirty="0">
                <a:latin typeface="Times"/>
              </a:rPr>
              <a:t>Modularity</a:t>
            </a:r>
            <a:r>
              <a:rPr lang="en-IN" sz="2400" dirty="0">
                <a:latin typeface="Times"/>
              </a:rPr>
              <a:t>) enables layered replacements.</a:t>
            </a:r>
          </a:p>
          <a:p>
            <a:pPr algn="just"/>
            <a:r>
              <a:rPr lang="en-IN" sz="2400" dirty="0">
                <a:latin typeface="Times"/>
              </a:rPr>
              <a:t>Layer is </a:t>
            </a:r>
            <a:r>
              <a:rPr lang="en-IN" sz="2400" b="1" dirty="0">
                <a:latin typeface="Times"/>
              </a:rPr>
              <a:t>black box </a:t>
            </a:r>
            <a:r>
              <a:rPr lang="en-IN" sz="2400" dirty="0">
                <a:latin typeface="Times"/>
              </a:rPr>
              <a:t>with inputs and outputs, without concern about how inputs are changed to outputs.</a:t>
            </a:r>
          </a:p>
          <a:p>
            <a:pPr algn="just"/>
            <a:r>
              <a:rPr lang="en-US" sz="2400" b="1" dirty="0">
                <a:latin typeface="Times"/>
              </a:rPr>
              <a:t>Principles</a:t>
            </a:r>
            <a:r>
              <a:rPr lang="en-US" sz="2400" dirty="0">
                <a:latin typeface="Times"/>
              </a:rPr>
              <a:t> of protocol layering:</a:t>
            </a:r>
          </a:p>
          <a:p>
            <a:pPr lvl="1" algn="just"/>
            <a:r>
              <a:rPr lang="en-IN" sz="2000" b="1" dirty="0">
                <a:latin typeface="Times"/>
              </a:rPr>
              <a:t>Bidirectional</a:t>
            </a:r>
            <a:r>
              <a:rPr lang="en-IN" sz="2000" dirty="0">
                <a:latin typeface="Times"/>
              </a:rPr>
              <a:t> communication needed to make each layer so that it is able to perform two opposite tasks, one in each direction.</a:t>
            </a:r>
          </a:p>
          <a:p>
            <a:pPr lvl="1" algn="just"/>
            <a:r>
              <a:rPr lang="en-IN" sz="2000" dirty="0">
                <a:latin typeface="Times"/>
              </a:rPr>
              <a:t>Two objects under each layer at both sites should be </a:t>
            </a:r>
            <a:r>
              <a:rPr lang="en-IN" sz="2000" b="1" dirty="0">
                <a:latin typeface="Times"/>
              </a:rPr>
              <a:t>identical.</a:t>
            </a:r>
          </a:p>
        </p:txBody>
      </p:sp>
    </p:spTree>
    <p:extLst>
      <p:ext uri="{BB962C8B-B14F-4D97-AF65-F5344CB8AC3E}">
        <p14:creationId xmlns:p14="http://schemas.microsoft.com/office/powerpoint/2010/main" val="266806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E702-3893-570D-B39C-B3DC1B64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Layered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1B870-72DD-4B6A-E0E2-64609AE0B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at the sending site uses the services of the layer immediately below it.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sender at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layer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services of the middle layer.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layer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services of the lower layer.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layer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services of the carrier.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layered model that dominated data communications and networking literature before 1990 was the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Systems Interconnection (OSI)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654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E702-3893-570D-B39C-B3DC1B64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Biome" panose="020B0503030204020804" pitchFamily="34" charset="0"/>
                <a:cs typeface="Biome" panose="020B0503030204020804" pitchFamily="34" charset="0"/>
              </a:rPr>
              <a:t>OSI Model</a:t>
            </a:r>
            <a:endParaRPr lang="en-US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1B870-72DD-4B6A-E0E2-64609AE0B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3452" cy="4351338"/>
          </a:xfrm>
        </p:spPr>
        <p:txBody>
          <a:bodyPr>
            <a:norm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first introduced in the late 1970s.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system is 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of protocols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allow any two different systems to communicate regardless of their underlying architecture.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is not a protocol; it is a model for understanding and designing a network architecture that is flexible, robust, and interoperable.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seven layers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of which defines a part of the process of moving information across a network.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3DE0401A-AF66-0C68-426E-134D949D7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835" y="1336994"/>
            <a:ext cx="4714965" cy="4839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838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E702-3893-570D-B39C-B3DC1B64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Biome" panose="020B0503030204020804" pitchFamily="34" charset="0"/>
                <a:cs typeface="Biome" panose="020B0503030204020804" pitchFamily="34" charset="0"/>
              </a:rPr>
              <a:t>OSI Model</a:t>
            </a:r>
            <a:endParaRPr lang="en-US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1B870-72DD-4B6A-E0E2-64609AE0B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message travels from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 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may pass through many intermediate nodes.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machines, </a:t>
            </a: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one machine communicates with </a:t>
            </a: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another machine.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communication is governed by an agreed-upon series of rules and conventions called </a:t>
            </a: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processes on each machine that communicate at a given layer are called </a:t>
            </a: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peer-to-peer processes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6434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E702-3893-570D-B39C-B3DC1B64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OSI Model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1244FB7-0416-6524-BC19-507620FCEE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322" y="746997"/>
            <a:ext cx="7981121" cy="5860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E4B47A-EF3F-4204-F848-1A05B1B60BD8}"/>
              </a:ext>
            </a:extLst>
          </p:cNvPr>
          <p:cNvSpPr txBox="1"/>
          <p:nvPr/>
        </p:nvSpPr>
        <p:spPr>
          <a:xfrm>
            <a:off x="1004266" y="1275189"/>
            <a:ext cx="26959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Peer-to-peer process</a:t>
            </a:r>
          </a:p>
        </p:txBody>
      </p:sp>
    </p:spTree>
    <p:extLst>
      <p:ext uri="{BB962C8B-B14F-4D97-AF65-F5344CB8AC3E}">
        <p14:creationId xmlns:p14="http://schemas.microsoft.com/office/powerpoint/2010/main" val="3733289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E702-3893-570D-B39C-B3DC1B64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OSI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4B47A-EF3F-4204-F848-1A05B1B60BD8}"/>
              </a:ext>
            </a:extLst>
          </p:cNvPr>
          <p:cNvSpPr txBox="1"/>
          <p:nvPr/>
        </p:nvSpPr>
        <p:spPr>
          <a:xfrm>
            <a:off x="733010" y="3261630"/>
            <a:ext cx="26959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Biome" panose="020B0503030204020804" pitchFamily="34" charset="0"/>
                <a:cs typeface="Biome" panose="020B0503030204020804" pitchFamily="34" charset="0"/>
              </a:rPr>
              <a:t>Exchange using OSI model</a:t>
            </a:r>
            <a:endParaRPr lang="en-US" sz="2400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9BE91DF8-B9E0-BA92-D8EE-049A12B2C7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453" y="1407237"/>
            <a:ext cx="7823295" cy="496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DA96E6-B05C-55A1-7B82-452639735538}"/>
              </a:ext>
            </a:extLst>
          </p:cNvPr>
          <p:cNvSpPr txBox="1"/>
          <p:nvPr/>
        </p:nvSpPr>
        <p:spPr>
          <a:xfrm>
            <a:off x="733010" y="1275189"/>
            <a:ext cx="34597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Encapsulation at each layer</a:t>
            </a:r>
          </a:p>
        </p:txBody>
      </p:sp>
    </p:spTree>
    <p:extLst>
      <p:ext uri="{BB962C8B-B14F-4D97-AF65-F5344CB8AC3E}">
        <p14:creationId xmlns:p14="http://schemas.microsoft.com/office/powerpoint/2010/main" val="2169251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60" y="196159"/>
            <a:ext cx="11449878" cy="1325563"/>
          </a:xfrm>
        </p:spPr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Layers in OSI Model: 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EFBE-FC91-4A33-D6AD-B2F6B11F2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5208103"/>
            <a:ext cx="10820400" cy="1054591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layer enables the user, whether human or software, to access the network.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user interfaces and support for services.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4D9AB-8E1F-469E-5B91-A8311A489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664" y="1344420"/>
            <a:ext cx="6874671" cy="3476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3168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D787B3-E8E5-4119-9BE7-E8830943B3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36632" r="-55" b="36982"/>
          <a:stretch/>
        </p:blipFill>
        <p:spPr>
          <a:xfrm>
            <a:off x="1201675" y="731520"/>
            <a:ext cx="9944380" cy="567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2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60" y="196159"/>
            <a:ext cx="11449878" cy="1325563"/>
          </a:xfrm>
        </p:spPr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Layers in OSI Model: 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EFBE-FC91-4A33-D6AD-B2F6B11F2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4672434"/>
            <a:ext cx="10820400" cy="211384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presentation layer is concerned with the syntax and semantics of the information exchanged between two systems.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presentation layer is responsible for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(different coding systems), compression, and encryption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data formats (EBCDIC ↔ ASCII, UTF‑8 ↔ UTF‑16).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cross‑platform compatibility.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A2412C2-4E70-9D7D-7CE3-A897A66B8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604" y="1521722"/>
            <a:ext cx="7706791" cy="26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3075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65C5FC-B654-4814-BD9A-160B205F4F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" t="36772" r="553" b="37263"/>
          <a:stretch/>
        </p:blipFill>
        <p:spPr>
          <a:xfrm>
            <a:off x="1171687" y="644382"/>
            <a:ext cx="9848625" cy="556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38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Layers in OSI Model: Session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EFBE-FC91-4A33-D6AD-B2F6B11F2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8" y="4305582"/>
            <a:ext cx="11506201" cy="2552418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services provided by the first three layers (physical, data link, and network) are not sufficient for some processes.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Establishes, manages, and terminates sessions between applications on different devices.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 dialog control: decides whether communication is half-duplex or full-duplex.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synchronization: inserts checkpoints in long data streams so transmission can resume from a known state if interrupted.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responsibilities: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 authorization, dialog control and synchronization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0482D-48C7-4B22-AB79-AB4D67A1F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119" y="1386435"/>
            <a:ext cx="6017761" cy="2794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5982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F60B1C-AE7B-4CFD-8BA3-3CA0564B02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44" t="40124" r="553" b="39231"/>
          <a:stretch/>
        </p:blipFill>
        <p:spPr>
          <a:xfrm>
            <a:off x="1350745" y="296596"/>
            <a:ext cx="8912994" cy="5618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067013-8889-46D7-A540-D95BB35A86C2}"/>
              </a:ext>
            </a:extLst>
          </p:cNvPr>
          <p:cNvSpPr txBox="1"/>
          <p:nvPr/>
        </p:nvSpPr>
        <p:spPr>
          <a:xfrm>
            <a:off x="1551672" y="5915072"/>
            <a:ext cx="9088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 network session is a temporary and interactive information interchange between two or more devices communicating over a network.</a:t>
            </a:r>
            <a:endParaRPr lang="en-US" b="1" dirty="0">
              <a:solidFill>
                <a:srgbClr val="C0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448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Layers in OSI Model: 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EFBE-FC91-4A33-D6AD-B2F6B11F2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4305582"/>
            <a:ext cx="10820400" cy="2284061"/>
          </a:xfrm>
        </p:spPr>
        <p:txBody>
          <a:bodyPr>
            <a:norm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transport layer is responsible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process-to-process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 of the entire message.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is an application program running on a host.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Whereas the network layer oversees source-to-destination delivery of individual packets, it does not recognize any relationship between those packets.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responsibilities: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point addressing, segmentation and reassembly, connection management, congestion control, and end-to-end flow control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550363D-75CC-9206-0F1E-76272A767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802" y="1465651"/>
            <a:ext cx="6802395" cy="2284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9523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Layers in OSI Model: Transport Layer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BAF3EED-FBDA-F192-DF60-122DDBCFEA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595" y="2175581"/>
            <a:ext cx="8818810" cy="3595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1736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Layers in OSI Model: Network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EFBE-FC91-4A33-D6AD-B2F6B11F2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4305582"/>
            <a:ext cx="10820400" cy="2284061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layer is responsible for the 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source-to-destination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 of a packet, possibly across multiple networks (links).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DLL oversees the delivery of the packet </a:t>
            </a:r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two systems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same network (links)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systems are connected to the same link, there is usually no need for a network layer.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responsibilities: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addressing and routing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550363D-75CC-9206-0F1E-76272A767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802" y="1465651"/>
            <a:ext cx="6802395" cy="2284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8966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Layers in OSI Model: Data Link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EFBE-FC91-4A33-D6AD-B2F6B11F2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6184"/>
            <a:ext cx="10661374" cy="1967949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link layer is responsible for </a:t>
            </a:r>
            <a:r>
              <a:rPr lang="en-I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frames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one hop (node) to the next.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layer transforms the physical layer, a raw transmission facility, to a </a:t>
            </a:r>
            <a:r>
              <a:rPr lang="en-I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link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the physical layer appear </a:t>
            </a:r>
            <a:r>
              <a:rPr lang="en-I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error-free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upper layer (network layer).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responsibilities: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framing, physical addressing, flow control, error control, </a:t>
            </a:r>
            <a:r>
              <a:rPr lang="en-IN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and medium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lang="en-IN" sz="2200" i="1" dirty="0">
                <a:latin typeface="Times" panose="02020603050405020304" pitchFamily="18" charset="0"/>
                <a:cs typeface="Times" panose="02020603050405020304" pitchFamily="18" charset="0"/>
              </a:rPr>
              <a:t>control (</a:t>
            </a:r>
            <a:r>
              <a:rPr lang="en-US" sz="2200" b="0" i="1" dirty="0">
                <a:solidFill>
                  <a:srgbClr val="202124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prevent data collision)</a:t>
            </a:r>
            <a:r>
              <a:rPr lang="en-IN" sz="2200" i="1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sz="2200" b="0" i="1" u="none" strike="noStrike" baseline="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Hop-to-hop delivery</a:t>
            </a:r>
            <a:endParaRPr lang="en-IN" sz="2200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28E314F-AEEB-A9B7-78AB-6EADB0279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305" y="1587841"/>
            <a:ext cx="6831389" cy="2268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7723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Layers in OSI Model: Data Link Layer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BC1C1A-23C0-93C2-203B-0172B9DF32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207" y="1467816"/>
            <a:ext cx="6774577" cy="4947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3952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Layers in OSI Model: Physical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EFBE-FC91-4A33-D6AD-B2F6B11F2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1755"/>
            <a:ext cx="10661374" cy="1967949"/>
          </a:xfrm>
        </p:spPr>
        <p:txBody>
          <a:bodyPr>
            <a:norm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layer is responsible for the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of bits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one hop (node) to the next.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deals with the mechanical and electrical specifications of the interface and transmission medium.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concerned with the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rate, synchronization of bits, line configuration, physical topology, and transmission mode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8ADEDDB-699C-B88E-ACB2-AF58D93B6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242" y="1690688"/>
            <a:ext cx="7633290" cy="2437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0429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7C101A-11FD-49EE-B6CF-155B2809A3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63" r="13869"/>
          <a:stretch/>
        </p:blipFill>
        <p:spPr>
          <a:xfrm>
            <a:off x="1875097" y="153658"/>
            <a:ext cx="7988686" cy="43544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A7051E-61C7-4DA1-B7B3-2BF50D190C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281" b="37965"/>
          <a:stretch/>
        </p:blipFill>
        <p:spPr>
          <a:xfrm>
            <a:off x="7560653" y="4741798"/>
            <a:ext cx="4154899" cy="196254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D706AE-0921-4F76-BF96-149A93F81D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63" t="39018" r="4809" b="40491"/>
          <a:stretch/>
        </p:blipFill>
        <p:spPr>
          <a:xfrm>
            <a:off x="516556" y="4803752"/>
            <a:ext cx="4154900" cy="190059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812278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307-7897-4747-0719-FDE8798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60" y="196159"/>
            <a:ext cx="11449878" cy="1325563"/>
          </a:xfrm>
        </p:spPr>
        <p:txBody>
          <a:bodyPr/>
          <a:lstStyle/>
          <a:p>
            <a:r>
              <a:rPr lang="en-US" b="1" dirty="0">
                <a:latin typeface="Biome" panose="020B0503030204020804" pitchFamily="34" charset="0"/>
                <a:cs typeface="Biome" panose="020B0503030204020804" pitchFamily="34" charset="0"/>
              </a:rPr>
              <a:t>OSI Model: Layers Summary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2DB98B0-3B47-C54E-9626-4DBC4CFD2E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889" y="1634392"/>
            <a:ext cx="9670220" cy="440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6759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77888" y="429567"/>
            <a:ext cx="10655166" cy="1320800"/>
          </a:xfrm>
        </p:spPr>
        <p:txBody>
          <a:bodyPr>
            <a:normAutofit/>
          </a:bodyPr>
          <a:lstStyle/>
          <a:p>
            <a:pPr algn="ctr"/>
            <a:r>
              <a:rPr lang="en-IN" sz="38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Layered Architecture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77888" y="1452282"/>
            <a:ext cx="11054136" cy="5235389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Transmission Control Protocol / Internet Protocol (TCP/IP)</a:t>
            </a:r>
          </a:p>
          <a:p>
            <a:pPr lvl="1"/>
            <a:r>
              <a:rPr lang="en-IN" sz="2800" dirty="0">
                <a:latin typeface="+mj-lt"/>
              </a:rPr>
              <a:t>Protocol suite used in the Internet today</a:t>
            </a:r>
          </a:p>
          <a:p>
            <a:pPr lvl="1"/>
            <a:r>
              <a:rPr lang="en-IN" sz="2800" dirty="0">
                <a:latin typeface="+mj-lt"/>
              </a:rPr>
              <a:t>Hierarchical protocol made up of interactive modules, each of which provides a specific functionality</a:t>
            </a:r>
          </a:p>
          <a:p>
            <a:pPr lvl="2"/>
            <a:r>
              <a:rPr lang="en-IN" sz="2800" dirty="0">
                <a:latin typeface="+mj-lt"/>
              </a:rPr>
              <a:t>Each upper-level protocol is supported by the services provided by one or more lower-level protocols</a:t>
            </a:r>
          </a:p>
          <a:p>
            <a:r>
              <a:rPr lang="en-IN" dirty="0">
                <a:latin typeface="+mj-lt"/>
              </a:rPr>
              <a:t> The original TCP/IP protocol suite was defined as four software layers built upon the hardware</a:t>
            </a:r>
          </a:p>
          <a:p>
            <a:pPr lvl="1"/>
            <a:r>
              <a:rPr lang="en-IN" sz="2800" dirty="0">
                <a:latin typeface="+mj-lt"/>
              </a:rPr>
              <a:t>Host-to-network, internet, transport, and application</a:t>
            </a:r>
          </a:p>
          <a:p>
            <a:r>
              <a:rPr lang="en-IN" dirty="0">
                <a:latin typeface="+mj-lt"/>
              </a:rPr>
              <a:t>Today, TCP/IP is thought of as a five-layer model</a:t>
            </a:r>
          </a:p>
        </p:txBody>
      </p:sp>
    </p:spTree>
    <p:extLst>
      <p:ext uri="{BB962C8B-B14F-4D97-AF65-F5344CB8AC3E}">
        <p14:creationId xmlns:p14="http://schemas.microsoft.com/office/powerpoint/2010/main" val="3059163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46F9AE-1AE1-4B32-81DF-21757BB388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052" b="37404"/>
          <a:stretch/>
        </p:blipFill>
        <p:spPr>
          <a:xfrm>
            <a:off x="362551" y="250256"/>
            <a:ext cx="5745744" cy="3178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080FC-9272-4F7F-9CFA-5DE383F9F8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94" t="38737" r="4506" b="37824"/>
          <a:stretch/>
        </p:blipFill>
        <p:spPr>
          <a:xfrm>
            <a:off x="6285297" y="3421177"/>
            <a:ext cx="5649062" cy="333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39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59" y="551507"/>
            <a:ext cx="8658225" cy="533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0531" y="5937161"/>
            <a:ext cx="48295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latin typeface="+mj-lt"/>
              </a:rPr>
              <a:t>Communication through an Internet</a:t>
            </a:r>
          </a:p>
        </p:txBody>
      </p:sp>
    </p:spTree>
    <p:extLst>
      <p:ext uri="{BB962C8B-B14F-4D97-AF65-F5344CB8AC3E}">
        <p14:creationId xmlns:p14="http://schemas.microsoft.com/office/powerpoint/2010/main" val="3015769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063" y="120203"/>
            <a:ext cx="8809149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Layers in the TCP/IP Protocol Suite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654" y="1441003"/>
            <a:ext cx="8963964" cy="43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4005" y="5975797"/>
            <a:ext cx="79076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latin typeface="+mj-lt"/>
              </a:rPr>
              <a:t>Logical connections between layers of the TCP/IP protocol suite</a:t>
            </a:r>
          </a:p>
        </p:txBody>
      </p:sp>
    </p:spTree>
    <p:extLst>
      <p:ext uri="{BB962C8B-B14F-4D97-AF65-F5344CB8AC3E}">
        <p14:creationId xmlns:p14="http://schemas.microsoft.com/office/powerpoint/2010/main" val="1798410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605305"/>
            <a:ext cx="9180061" cy="51000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14164" y="6040194"/>
            <a:ext cx="5409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+mj-lt"/>
              </a:rPr>
              <a:t>Identical objects in the TCP/IP Protocol Suite</a:t>
            </a:r>
          </a:p>
        </p:txBody>
      </p:sp>
    </p:spTree>
    <p:extLst>
      <p:ext uri="{BB962C8B-B14F-4D97-AF65-F5344CB8AC3E}">
        <p14:creationId xmlns:p14="http://schemas.microsoft.com/office/powerpoint/2010/main" val="3831123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48" y="480811"/>
            <a:ext cx="11707904" cy="998365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Description of each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048" y="1703294"/>
            <a:ext cx="11797552" cy="4969455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+mj-lt"/>
              </a:rPr>
              <a:t>Physical Layer</a:t>
            </a:r>
          </a:p>
          <a:p>
            <a:pPr lvl="1" algn="just"/>
            <a:r>
              <a:rPr lang="en-IN" sz="2800" dirty="0">
                <a:latin typeface="+mj-lt"/>
              </a:rPr>
              <a:t>Responsible for carrying individual bits in a frame across the link</a:t>
            </a:r>
          </a:p>
          <a:p>
            <a:pPr lvl="1" algn="just"/>
            <a:r>
              <a:rPr lang="en-IN" sz="2800" dirty="0">
                <a:latin typeface="+mj-lt"/>
              </a:rPr>
              <a:t>At the Physical Layer, communication is logical communication as</a:t>
            </a:r>
          </a:p>
          <a:p>
            <a:pPr lvl="2" algn="just"/>
            <a:r>
              <a:rPr lang="en-IN" sz="2800" dirty="0">
                <a:latin typeface="+mj-lt"/>
              </a:rPr>
              <a:t>There is another hidden layer, the transmission medium, which transmits signals</a:t>
            </a:r>
          </a:p>
          <a:p>
            <a:pPr lvl="2" algn="just"/>
            <a:r>
              <a:rPr lang="en-IN" sz="2800" dirty="0">
                <a:latin typeface="+mj-lt"/>
              </a:rPr>
              <a:t>Bits received in a frame from the data-link layer are transformed and sent through the transmission media</a:t>
            </a:r>
          </a:p>
          <a:p>
            <a:pPr lvl="2" algn="just"/>
            <a:r>
              <a:rPr lang="en-IN" sz="2800" dirty="0">
                <a:latin typeface="+mj-lt"/>
              </a:rPr>
              <a:t>Several protocols transform bits into a signal</a:t>
            </a:r>
          </a:p>
        </p:txBody>
      </p:sp>
    </p:spTree>
    <p:extLst>
      <p:ext uri="{BB962C8B-B14F-4D97-AF65-F5344CB8AC3E}">
        <p14:creationId xmlns:p14="http://schemas.microsoft.com/office/powerpoint/2010/main" val="33933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42" y="287628"/>
            <a:ext cx="11544482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Description of each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542" y="1608428"/>
            <a:ext cx="11678952" cy="5273899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+mj-lt"/>
              </a:rPr>
              <a:t>Data-link Layer</a:t>
            </a:r>
          </a:p>
          <a:p>
            <a:pPr lvl="1" algn="just"/>
            <a:r>
              <a:rPr lang="en-IN" sz="2600" dirty="0">
                <a:latin typeface="+mj-lt"/>
              </a:rPr>
              <a:t> The Internet is made up of several links (LANs and WANs) connected by routers</a:t>
            </a:r>
          </a:p>
          <a:p>
            <a:pPr lvl="1" algn="just"/>
            <a:r>
              <a:rPr lang="en-IN" sz="2600" dirty="0">
                <a:latin typeface="+mj-lt"/>
              </a:rPr>
              <a:t>Overlapping sets of links between host and destination</a:t>
            </a:r>
          </a:p>
          <a:p>
            <a:pPr lvl="1" algn="just"/>
            <a:r>
              <a:rPr lang="en-IN" sz="2600" dirty="0">
                <a:latin typeface="+mj-lt"/>
              </a:rPr>
              <a:t>Routers choose the best links</a:t>
            </a:r>
          </a:p>
          <a:p>
            <a:pPr lvl="2" algn="just"/>
            <a:r>
              <a:rPr lang="en-IN" sz="2400" dirty="0">
                <a:latin typeface="+mj-lt"/>
              </a:rPr>
              <a:t>Data-link layer takes the datagram and moves it across the link using various protocols for the specific type of link</a:t>
            </a:r>
          </a:p>
          <a:p>
            <a:pPr lvl="1" algn="just"/>
            <a:r>
              <a:rPr lang="en-IN" sz="2600" dirty="0">
                <a:latin typeface="+mj-lt"/>
              </a:rPr>
              <a:t>Takes a datagram and encapsulates it in a packet called a frame</a:t>
            </a:r>
          </a:p>
          <a:p>
            <a:pPr lvl="1" algn="just"/>
            <a:r>
              <a:rPr lang="en-IN" sz="2600" dirty="0">
                <a:latin typeface="+mj-lt"/>
              </a:rPr>
              <a:t>Link layer provides complete error detection and correction, or only error correction</a:t>
            </a:r>
          </a:p>
        </p:txBody>
      </p:sp>
    </p:spTree>
    <p:extLst>
      <p:ext uri="{BB962C8B-B14F-4D97-AF65-F5344CB8AC3E}">
        <p14:creationId xmlns:p14="http://schemas.microsoft.com/office/powerpoint/2010/main" val="6205957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18" y="287628"/>
            <a:ext cx="11259670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Description of each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518" y="1608428"/>
            <a:ext cx="11627223" cy="5074276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+mj-lt"/>
              </a:rPr>
              <a:t>Network Layer</a:t>
            </a:r>
          </a:p>
          <a:p>
            <a:pPr lvl="1" algn="just"/>
            <a:r>
              <a:rPr lang="en-IN" sz="2600" dirty="0">
                <a:latin typeface="+mj-lt"/>
              </a:rPr>
              <a:t>Responsible for creating a connection between the source computer and the destination computer</a:t>
            </a:r>
          </a:p>
          <a:p>
            <a:pPr lvl="1" algn="just"/>
            <a:r>
              <a:rPr lang="en-IN" sz="2600" dirty="0">
                <a:latin typeface="+mj-lt"/>
              </a:rPr>
              <a:t>Communication is host-to-host</a:t>
            </a:r>
          </a:p>
          <a:p>
            <a:pPr lvl="1" algn="just"/>
            <a:r>
              <a:rPr lang="en-IN" sz="2600" dirty="0">
                <a:latin typeface="+mj-lt"/>
              </a:rPr>
              <a:t>Separate network layer to have a modular implementation</a:t>
            </a:r>
          </a:p>
          <a:p>
            <a:pPr lvl="1" algn="just"/>
            <a:r>
              <a:rPr lang="en-IN" sz="2600" dirty="0">
                <a:latin typeface="+mj-lt"/>
              </a:rPr>
              <a:t>Internet Protocol</a:t>
            </a:r>
          </a:p>
          <a:p>
            <a:pPr lvl="2" algn="just"/>
            <a:r>
              <a:rPr lang="en-IN" sz="2400" dirty="0">
                <a:latin typeface="+mj-lt"/>
              </a:rPr>
              <a:t>Routing</a:t>
            </a:r>
          </a:p>
          <a:p>
            <a:pPr lvl="2" algn="just"/>
            <a:r>
              <a:rPr lang="en-IN" sz="2400" dirty="0">
                <a:latin typeface="+mj-lt"/>
              </a:rPr>
              <a:t>defines the format of datagram, the structure of addresses, and routes packets from source to destination</a:t>
            </a:r>
          </a:p>
          <a:p>
            <a:pPr lvl="2" algn="just"/>
            <a:r>
              <a:rPr lang="en-IN" sz="2400" dirty="0">
                <a:latin typeface="+mj-lt"/>
              </a:rPr>
              <a:t>Connectionless protocol</a:t>
            </a:r>
          </a:p>
          <a:p>
            <a:pPr lvl="2" algn="just"/>
            <a:r>
              <a:rPr lang="en-IN" sz="2400" dirty="0">
                <a:latin typeface="+mj-lt"/>
              </a:rPr>
              <a:t>No flow control, error control, and congestion control</a:t>
            </a:r>
          </a:p>
        </p:txBody>
      </p:sp>
    </p:spTree>
    <p:extLst>
      <p:ext uri="{BB962C8B-B14F-4D97-AF65-F5344CB8AC3E}">
        <p14:creationId xmlns:p14="http://schemas.microsoft.com/office/powerpoint/2010/main" val="445257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024" y="287628"/>
            <a:ext cx="11259670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Description of each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023" y="1555805"/>
            <a:ext cx="11322423" cy="5024192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</a:pPr>
            <a:r>
              <a:rPr lang="en-IN" sz="3200" dirty="0">
                <a:latin typeface="+mj-lt"/>
              </a:rPr>
              <a:t>Network Layer</a:t>
            </a:r>
          </a:p>
          <a:p>
            <a:pPr lvl="1" algn="just">
              <a:lnSpc>
                <a:spcPct val="100000"/>
              </a:lnSpc>
            </a:pPr>
            <a:r>
              <a:rPr lang="en-IN" sz="2800" dirty="0">
                <a:latin typeface="+mj-lt"/>
              </a:rPr>
              <a:t>Includes unicast and multicast routing protocols</a:t>
            </a:r>
          </a:p>
          <a:p>
            <a:pPr lvl="1" algn="just">
              <a:lnSpc>
                <a:spcPct val="100000"/>
              </a:lnSpc>
            </a:pPr>
            <a:r>
              <a:rPr lang="en-IN" sz="2800" dirty="0">
                <a:latin typeface="+mj-lt"/>
              </a:rPr>
              <a:t>Creates forwarding tables for routers to help them in the routing process</a:t>
            </a:r>
          </a:p>
          <a:p>
            <a:pPr lvl="1" algn="just">
              <a:lnSpc>
                <a:spcPct val="100000"/>
              </a:lnSpc>
            </a:pPr>
            <a:r>
              <a:rPr lang="en-IN" sz="2800" dirty="0">
                <a:latin typeface="+mj-lt"/>
              </a:rPr>
              <a:t>Other protocols that help IP in delivery</a:t>
            </a:r>
          </a:p>
          <a:p>
            <a:pPr lvl="2" algn="just">
              <a:lnSpc>
                <a:spcPct val="100000"/>
              </a:lnSpc>
            </a:pPr>
            <a:r>
              <a:rPr lang="en-IN" sz="2800" b="1" dirty="0">
                <a:latin typeface="+mj-lt"/>
              </a:rPr>
              <a:t>Internet Control Message Protocol (ICMP) </a:t>
            </a:r>
            <a:r>
              <a:rPr lang="en-IN" sz="2800" dirty="0">
                <a:latin typeface="+mj-lt"/>
              </a:rPr>
              <a:t>helps IP to report some problems when routing a packet</a:t>
            </a:r>
          </a:p>
          <a:p>
            <a:pPr lvl="2" algn="just">
              <a:lnSpc>
                <a:spcPct val="100000"/>
              </a:lnSpc>
            </a:pPr>
            <a:r>
              <a:rPr lang="en-IN" sz="2800" b="1" dirty="0">
                <a:latin typeface="+mj-lt"/>
              </a:rPr>
              <a:t>Internet Group Management Protocol (IGMP) </a:t>
            </a:r>
            <a:r>
              <a:rPr lang="en-IN" sz="2800" dirty="0">
                <a:latin typeface="+mj-lt"/>
              </a:rPr>
              <a:t>helps IP in multicasting</a:t>
            </a:r>
          </a:p>
          <a:p>
            <a:pPr lvl="2" algn="just">
              <a:lnSpc>
                <a:spcPct val="100000"/>
              </a:lnSpc>
            </a:pPr>
            <a:r>
              <a:rPr lang="en-IN" sz="2800" b="1" dirty="0">
                <a:latin typeface="+mj-lt"/>
              </a:rPr>
              <a:t>Dynamic Host Configuration Protocol (DHCP) </a:t>
            </a:r>
            <a:r>
              <a:rPr lang="en-IN" sz="2800" dirty="0">
                <a:latin typeface="+mj-lt"/>
              </a:rPr>
              <a:t>helps IP to get network-layer address for a host</a:t>
            </a:r>
          </a:p>
          <a:p>
            <a:pPr lvl="2" algn="just">
              <a:lnSpc>
                <a:spcPct val="100000"/>
              </a:lnSpc>
            </a:pPr>
            <a:r>
              <a:rPr lang="en-IN" sz="2800" b="1" dirty="0">
                <a:latin typeface="+mj-lt"/>
              </a:rPr>
              <a:t>Address Resolution Protocol (ARP) </a:t>
            </a:r>
            <a:r>
              <a:rPr lang="en-IN" sz="2800" dirty="0">
                <a:latin typeface="+mj-lt"/>
              </a:rPr>
              <a:t>helps IP to find the link layer address of a host or router when its network layer address is given</a:t>
            </a:r>
          </a:p>
        </p:txBody>
      </p:sp>
    </p:spTree>
    <p:extLst>
      <p:ext uri="{BB962C8B-B14F-4D97-AF65-F5344CB8AC3E}">
        <p14:creationId xmlns:p14="http://schemas.microsoft.com/office/powerpoint/2010/main" val="11015168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376" y="287628"/>
            <a:ext cx="11403106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Description of each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376" y="1608428"/>
            <a:ext cx="11519647" cy="5249572"/>
          </a:xfrm>
        </p:spPr>
        <p:txBody>
          <a:bodyPr>
            <a:normAutofit/>
          </a:bodyPr>
          <a:lstStyle/>
          <a:p>
            <a:r>
              <a:rPr lang="en-IN" sz="2500" dirty="0">
                <a:latin typeface="+mj-lt"/>
              </a:rPr>
              <a:t>Transport Layer (I/II)</a:t>
            </a:r>
          </a:p>
          <a:p>
            <a:pPr lvl="1"/>
            <a:r>
              <a:rPr lang="en-IN" sz="2500" dirty="0">
                <a:latin typeface="+mj-lt"/>
              </a:rPr>
              <a:t>Gets a message from the application program and delivers it to the corresponding application program on the destination host</a:t>
            </a:r>
          </a:p>
          <a:p>
            <a:pPr lvl="1"/>
            <a:r>
              <a:rPr lang="en-IN" sz="2500" dirty="0">
                <a:latin typeface="+mj-lt"/>
              </a:rPr>
              <a:t>Independent of the application layer</a:t>
            </a:r>
          </a:p>
          <a:p>
            <a:pPr lvl="1"/>
            <a:r>
              <a:rPr lang="en-IN" sz="2500" dirty="0">
                <a:latin typeface="+mj-lt"/>
              </a:rPr>
              <a:t>Transmission Control Protocol (TCP)</a:t>
            </a:r>
          </a:p>
          <a:p>
            <a:pPr lvl="2"/>
            <a:r>
              <a:rPr lang="en-IN" sz="2500" dirty="0">
                <a:latin typeface="+mj-lt"/>
              </a:rPr>
              <a:t> Connection-oriented protocol</a:t>
            </a:r>
          </a:p>
          <a:p>
            <a:pPr lvl="2"/>
            <a:r>
              <a:rPr lang="en-IN" sz="2500" dirty="0">
                <a:latin typeface="+mj-lt"/>
              </a:rPr>
              <a:t>Establishes a logical connection between transport layers at two hosts before transferring data</a:t>
            </a:r>
          </a:p>
          <a:p>
            <a:pPr lvl="2"/>
            <a:r>
              <a:rPr lang="en-IN" sz="2500" dirty="0">
                <a:latin typeface="+mj-lt"/>
              </a:rPr>
              <a:t>Creates a logical pipe between two TCPs for transferring a stream of bytes</a:t>
            </a:r>
          </a:p>
          <a:p>
            <a:pPr lvl="2"/>
            <a:r>
              <a:rPr lang="en-IN" sz="2500" dirty="0">
                <a:latin typeface="+mj-lt"/>
              </a:rPr>
              <a:t>Provides Flow control, error control, and congestion control</a:t>
            </a:r>
          </a:p>
          <a:p>
            <a:pPr lvl="1"/>
            <a:endParaRPr lang="en-IN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4869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4" y="287628"/>
            <a:ext cx="11430300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Description of each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4" y="1532965"/>
            <a:ext cx="11430300" cy="5473142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Transport Layer (II/II)</a:t>
            </a:r>
          </a:p>
          <a:p>
            <a:pPr lvl="1"/>
            <a:r>
              <a:rPr lang="en-IN" sz="2800" dirty="0">
                <a:latin typeface="+mj-lt"/>
              </a:rPr>
              <a:t>User Datagram Protocol (UDP)</a:t>
            </a:r>
          </a:p>
          <a:p>
            <a:pPr lvl="2"/>
            <a:r>
              <a:rPr lang="en-IN" sz="2800" dirty="0">
                <a:latin typeface="+mj-lt"/>
              </a:rPr>
              <a:t>Connectionless protocol</a:t>
            </a:r>
          </a:p>
          <a:p>
            <a:pPr lvl="2"/>
            <a:r>
              <a:rPr lang="en-IN" sz="2800" dirty="0">
                <a:latin typeface="+mj-lt"/>
              </a:rPr>
              <a:t>Transmits user datagrams without creating a logical connection</a:t>
            </a:r>
          </a:p>
          <a:p>
            <a:pPr lvl="2"/>
            <a:r>
              <a:rPr lang="en-IN" sz="2800" dirty="0">
                <a:latin typeface="+mj-lt"/>
              </a:rPr>
              <a:t>Each datagram is an independent entity</a:t>
            </a:r>
          </a:p>
          <a:p>
            <a:pPr lvl="2"/>
            <a:r>
              <a:rPr lang="en-IN" sz="2800" dirty="0">
                <a:latin typeface="+mj-lt"/>
              </a:rPr>
              <a:t>Does not provide flow, error, or congestion control</a:t>
            </a:r>
          </a:p>
          <a:p>
            <a:pPr lvl="2"/>
            <a:r>
              <a:rPr lang="en-IN" sz="2800" dirty="0">
                <a:latin typeface="+mj-lt"/>
              </a:rPr>
              <a:t>Small overhead and hence applicable for sending short messages</a:t>
            </a:r>
          </a:p>
          <a:p>
            <a:pPr lvl="1"/>
            <a:r>
              <a:rPr lang="en-IN" sz="2800" dirty="0">
                <a:latin typeface="+mj-lt"/>
              </a:rPr>
              <a:t>Stream Control Transmission Protocol (SCTP)</a:t>
            </a:r>
          </a:p>
          <a:p>
            <a:pPr lvl="2"/>
            <a:r>
              <a:rPr lang="en-IN" sz="2800" dirty="0">
                <a:latin typeface="+mj-lt"/>
              </a:rPr>
              <a:t>Designed to respond to new applications emerging in multimedia</a:t>
            </a:r>
          </a:p>
        </p:txBody>
      </p:sp>
    </p:spTree>
    <p:extLst>
      <p:ext uri="{BB962C8B-B14F-4D97-AF65-F5344CB8AC3E}">
        <p14:creationId xmlns:p14="http://schemas.microsoft.com/office/powerpoint/2010/main" val="3527595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6" y="287628"/>
            <a:ext cx="11340353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Description of each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46" y="1608428"/>
            <a:ext cx="10818985" cy="5397680"/>
          </a:xfrm>
        </p:spPr>
        <p:txBody>
          <a:bodyPr>
            <a:normAutofit/>
          </a:bodyPr>
          <a:lstStyle/>
          <a:p>
            <a:r>
              <a:rPr lang="en-IN" sz="2500" dirty="0">
                <a:latin typeface="+mj-lt"/>
              </a:rPr>
              <a:t>Application Layer</a:t>
            </a:r>
          </a:p>
          <a:p>
            <a:pPr lvl="1"/>
            <a:r>
              <a:rPr lang="en-IN" sz="2500" dirty="0">
                <a:latin typeface="+mj-lt"/>
              </a:rPr>
              <a:t>Communication between two processes</a:t>
            </a:r>
          </a:p>
          <a:p>
            <a:pPr lvl="1"/>
            <a:r>
              <a:rPr lang="en-IN" sz="2500" dirty="0">
                <a:latin typeface="+mj-lt"/>
              </a:rPr>
              <a:t>Process sends a request to another process and receives a response</a:t>
            </a:r>
          </a:p>
          <a:p>
            <a:pPr lvl="1"/>
            <a:r>
              <a:rPr lang="en-IN" sz="2500" dirty="0">
                <a:latin typeface="+mj-lt"/>
              </a:rPr>
              <a:t>Duty – Process-to-process communication</a:t>
            </a:r>
          </a:p>
          <a:p>
            <a:pPr lvl="1"/>
            <a:r>
              <a:rPr lang="en-IN" sz="2500" dirty="0">
                <a:latin typeface="+mj-lt"/>
              </a:rPr>
              <a:t>Hypertext Transfer Protocol (HTTP)</a:t>
            </a:r>
          </a:p>
          <a:p>
            <a:pPr lvl="2"/>
            <a:r>
              <a:rPr lang="en-IN" sz="2500" dirty="0">
                <a:latin typeface="+mj-lt"/>
              </a:rPr>
              <a:t>Vehicle for accessing the World Wide Web</a:t>
            </a:r>
          </a:p>
          <a:p>
            <a:pPr lvl="1"/>
            <a:r>
              <a:rPr lang="en-IN" sz="2500" dirty="0">
                <a:latin typeface="+mj-lt"/>
              </a:rPr>
              <a:t>Simple Mail Transfer Protocol (SMTP)</a:t>
            </a:r>
          </a:p>
          <a:p>
            <a:pPr lvl="2"/>
            <a:r>
              <a:rPr lang="en-IN" sz="2500" dirty="0">
                <a:latin typeface="+mj-lt"/>
              </a:rPr>
              <a:t>Used in e-mail service</a:t>
            </a:r>
          </a:p>
          <a:p>
            <a:pPr lvl="1"/>
            <a:r>
              <a:rPr lang="en-IN" sz="2500" dirty="0">
                <a:latin typeface="+mj-lt"/>
              </a:rPr>
              <a:t>File Transfer Protocol (FTP)</a:t>
            </a:r>
          </a:p>
          <a:p>
            <a:pPr lvl="2"/>
            <a:r>
              <a:rPr lang="en-IN" sz="2500" dirty="0">
                <a:latin typeface="+mj-lt"/>
              </a:rPr>
              <a:t>Used for transferring files from one host to another</a:t>
            </a:r>
          </a:p>
        </p:txBody>
      </p:sp>
    </p:spTree>
    <p:extLst>
      <p:ext uri="{BB962C8B-B14F-4D97-AF65-F5344CB8AC3E}">
        <p14:creationId xmlns:p14="http://schemas.microsoft.com/office/powerpoint/2010/main" val="2572189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170" y="287628"/>
            <a:ext cx="10959511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Description of each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70" y="1608428"/>
            <a:ext cx="10652636" cy="5153794"/>
          </a:xfrm>
        </p:spPr>
        <p:txBody>
          <a:bodyPr>
            <a:normAutofit/>
          </a:bodyPr>
          <a:lstStyle/>
          <a:p>
            <a:r>
              <a:rPr lang="en-IN" sz="2500" dirty="0">
                <a:latin typeface="+mj-lt"/>
              </a:rPr>
              <a:t>Application Layer</a:t>
            </a:r>
          </a:p>
          <a:p>
            <a:pPr lvl="1"/>
            <a:r>
              <a:rPr lang="en-IN" sz="2500" dirty="0">
                <a:latin typeface="+mj-lt"/>
              </a:rPr>
              <a:t>Terminal Network (TELNET) and Secure Shell (SSH)</a:t>
            </a:r>
          </a:p>
          <a:p>
            <a:pPr lvl="2"/>
            <a:r>
              <a:rPr lang="en-IN" sz="2500" dirty="0">
                <a:latin typeface="+mj-lt"/>
              </a:rPr>
              <a:t>Used for accessing a site remotely</a:t>
            </a:r>
          </a:p>
          <a:p>
            <a:pPr lvl="1"/>
            <a:r>
              <a:rPr lang="en-IN" sz="2500" dirty="0">
                <a:latin typeface="+mj-lt"/>
              </a:rPr>
              <a:t>Simple Network Management Protocol (SNMP) </a:t>
            </a:r>
          </a:p>
          <a:p>
            <a:pPr lvl="2"/>
            <a:r>
              <a:rPr lang="en-IN" sz="2500" dirty="0">
                <a:latin typeface="+mj-lt"/>
              </a:rPr>
              <a:t>Administrator uses to manage the Internet at global and local levels</a:t>
            </a:r>
          </a:p>
          <a:p>
            <a:pPr lvl="1"/>
            <a:r>
              <a:rPr lang="en-IN" sz="2500" dirty="0">
                <a:latin typeface="+mj-lt"/>
              </a:rPr>
              <a:t>Domain Name System (DNS)</a:t>
            </a:r>
          </a:p>
          <a:p>
            <a:pPr lvl="2"/>
            <a:r>
              <a:rPr lang="en-IN" sz="2500" dirty="0">
                <a:latin typeface="+mj-lt"/>
              </a:rPr>
              <a:t>Used by other protocols to find the network-layer address of a computer</a:t>
            </a:r>
          </a:p>
          <a:p>
            <a:pPr lvl="1"/>
            <a:r>
              <a:rPr lang="en-IN" sz="2500" dirty="0">
                <a:latin typeface="+mj-lt"/>
              </a:rPr>
              <a:t>Internet Group Management Protocol</a:t>
            </a:r>
          </a:p>
          <a:p>
            <a:pPr lvl="2"/>
            <a:r>
              <a:rPr lang="en-IN" sz="2500" dirty="0">
                <a:latin typeface="+mj-lt"/>
              </a:rPr>
              <a:t>Collects membership in a group</a:t>
            </a:r>
          </a:p>
        </p:txBody>
      </p:sp>
    </p:spTree>
    <p:extLst>
      <p:ext uri="{BB962C8B-B14F-4D97-AF65-F5344CB8AC3E}">
        <p14:creationId xmlns:p14="http://schemas.microsoft.com/office/powerpoint/2010/main" val="1167351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18" y="287628"/>
            <a:ext cx="11564470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Encapsulation and Decapsulation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543" y="1608428"/>
            <a:ext cx="8886825" cy="44317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6439" y="6194738"/>
            <a:ext cx="473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Encapsulation / </a:t>
            </a:r>
            <a:r>
              <a:rPr lang="en-IN" dirty="0" err="1"/>
              <a:t>Decapsulation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2132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9358" y="349718"/>
            <a:ext cx="9542794" cy="13208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Protocol Suite: Addressing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599" y="2286001"/>
            <a:ext cx="7834312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4926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039" y="191375"/>
            <a:ext cx="10843921" cy="979197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>
                <a:latin typeface="Biome" panose="020B0503030204020804" pitchFamily="34" charset="0"/>
                <a:cs typeface="Biome" panose="020B0503030204020804" pitchFamily="34" charset="0"/>
              </a:rPr>
              <a:t>Relationship of layers and addresses in TCP/IP</a:t>
            </a:r>
            <a:endParaRPr lang="en-IN" sz="3500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60" y="1266825"/>
            <a:ext cx="7955923" cy="5144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5957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5318" y="534203"/>
            <a:ext cx="10784541" cy="629018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007995" algn="l"/>
                <a:tab pos="8775065" algn="l"/>
              </a:tabLst>
            </a:pPr>
            <a:r>
              <a:rPr sz="4000" dirty="0">
                <a:uFill>
                  <a:solidFill>
                    <a:srgbClr val="FF0000"/>
                  </a:solidFill>
                </a:uFill>
              </a:rPr>
              <a:t>Physical</a:t>
            </a:r>
            <a:r>
              <a:rPr sz="4000" spc="-155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dirty="0">
                <a:uFill>
                  <a:solidFill>
                    <a:srgbClr val="FF0000"/>
                  </a:solidFill>
                </a:uFill>
              </a:rPr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7619" y="1614435"/>
            <a:ext cx="7999940" cy="190757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spcBef>
                <a:spcPts val="7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500" dirty="0">
                <a:latin typeface="+mj-lt"/>
              </a:rPr>
              <a:t>Called as link address also</a:t>
            </a:r>
          </a:p>
          <a:p>
            <a:pPr marL="355600" indent="-342900"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500" dirty="0">
                <a:latin typeface="+mj-lt"/>
              </a:rPr>
              <a:t>Defined by LAN/WAN</a:t>
            </a:r>
          </a:p>
          <a:p>
            <a:pPr marL="355600" indent="-342900"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500" dirty="0">
                <a:latin typeface="+mj-lt"/>
              </a:rPr>
              <a:t>Size and Format depends upon network</a:t>
            </a:r>
          </a:p>
          <a:p>
            <a:pPr marL="355600" indent="-342900"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500" dirty="0">
                <a:latin typeface="+mj-lt"/>
              </a:rPr>
              <a:t>E.g: Ethernet uses 6-byte(48-bit) address imprinted on NIC</a:t>
            </a: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E64779BC-85EA-4086-99C3-94C17E617E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698" y="4033377"/>
            <a:ext cx="8527783" cy="22904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4">
            <a:extLst>
              <a:ext uri="{FF2B5EF4-FFF2-40B4-BE49-F238E27FC236}">
                <a16:creationId xmlns:a16="http://schemas.microsoft.com/office/drawing/2014/main" id="{B2B0BF9C-21FF-4B4C-8B4B-0783134B4882}"/>
              </a:ext>
            </a:extLst>
          </p:cNvPr>
          <p:cNvGrpSpPr/>
          <p:nvPr/>
        </p:nvGrpSpPr>
        <p:grpSpPr>
          <a:xfrm>
            <a:off x="3322320" y="866274"/>
            <a:ext cx="8670758" cy="5719124"/>
            <a:chOff x="152400" y="1089660"/>
            <a:chExt cx="8763000" cy="5196840"/>
          </a:xfrm>
        </p:grpSpPr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E2A48CF7-E396-486B-BD12-CC9F6719379C}"/>
                </a:ext>
              </a:extLst>
            </p:cNvPr>
            <p:cNvSpPr/>
            <p:nvPr/>
          </p:nvSpPr>
          <p:spPr>
            <a:xfrm>
              <a:off x="152400" y="6248400"/>
              <a:ext cx="8763000" cy="0"/>
            </a:xfrm>
            <a:custGeom>
              <a:avLst/>
              <a:gdLst/>
              <a:ahLst/>
              <a:cxnLst/>
              <a:rect l="l" t="t" r="r" b="b"/>
              <a:pathLst>
                <a:path w="8763000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BA38D51A-D899-4244-B28B-60D86A32B34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1432" y="1089660"/>
              <a:ext cx="6144768" cy="5146548"/>
            </a:xfrm>
            <a:prstGeom prst="rect">
              <a:avLst/>
            </a:prstGeom>
          </p:spPr>
        </p:pic>
      </p:grpSp>
      <p:sp>
        <p:nvSpPr>
          <p:cNvPr id="5" name="object 2">
            <a:extLst>
              <a:ext uri="{FF2B5EF4-FFF2-40B4-BE49-F238E27FC236}">
                <a16:creationId xmlns:a16="http://schemas.microsoft.com/office/drawing/2014/main" id="{A7977ECB-6EAE-43E7-B2BE-F1050D68A433}"/>
              </a:ext>
            </a:extLst>
          </p:cNvPr>
          <p:cNvSpPr txBox="1">
            <a:spLocks/>
          </p:cNvSpPr>
          <p:nvPr/>
        </p:nvSpPr>
        <p:spPr>
          <a:xfrm>
            <a:off x="1375704" y="0"/>
            <a:ext cx="878840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07995" algn="l"/>
                <a:tab pos="8775065" algn="l"/>
              </a:tabLst>
            </a:pPr>
            <a:r>
              <a:rPr lang="en-US" u="heavy" dirty="0">
                <a:uFill>
                  <a:solidFill>
                    <a:srgbClr val="FF0000"/>
                  </a:solidFill>
                </a:uFill>
              </a:rPr>
              <a:t> 	Logical</a:t>
            </a:r>
            <a:r>
              <a:rPr lang="en-US" u="heavy" spc="-155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lang="en-US" u="heavy" dirty="0">
                <a:uFill>
                  <a:solidFill>
                    <a:srgbClr val="FF0000"/>
                  </a:solidFill>
                </a:uFill>
              </a:rPr>
              <a:t>Address	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A44C221-C4BD-460A-A85B-2DFE68D83352}"/>
              </a:ext>
            </a:extLst>
          </p:cNvPr>
          <p:cNvSpPr txBox="1"/>
          <p:nvPr/>
        </p:nvSpPr>
        <p:spPr>
          <a:xfrm>
            <a:off x="402743" y="2882081"/>
            <a:ext cx="5137785" cy="18178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spcBef>
                <a:spcPts val="7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500" dirty="0">
                <a:uFill>
                  <a:solidFill>
                    <a:srgbClr val="FF0000"/>
                  </a:solidFill>
                </a:uFill>
                <a:latin typeface="+mj-lt"/>
                <a:ea typeface="+mj-ea"/>
                <a:cs typeface="+mj-cs"/>
              </a:rPr>
              <a:t>Necessary for Universal Communication</a:t>
            </a:r>
          </a:p>
          <a:p>
            <a:pPr marL="355600" indent="-342900"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500" dirty="0">
                <a:uFill>
                  <a:solidFill>
                    <a:srgbClr val="FF0000"/>
                  </a:solidFill>
                </a:uFill>
                <a:latin typeface="+mj-lt"/>
                <a:ea typeface="+mj-ea"/>
                <a:cs typeface="+mj-cs"/>
              </a:rPr>
              <a:t>32-bit address uniquely define a host</a:t>
            </a:r>
          </a:p>
          <a:p>
            <a:pPr marL="355600" indent="-342900"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500" dirty="0">
                <a:uFill>
                  <a:solidFill>
                    <a:srgbClr val="FF0000"/>
                  </a:solidFill>
                </a:uFill>
                <a:latin typeface="+mj-lt"/>
                <a:ea typeface="+mj-ea"/>
                <a:cs typeface="+mj-cs"/>
              </a:rPr>
              <a:t>Called as IP address also</a:t>
            </a:r>
          </a:p>
        </p:txBody>
      </p:sp>
    </p:spTree>
    <p:extLst>
      <p:ext uri="{BB962C8B-B14F-4D97-AF65-F5344CB8AC3E}">
        <p14:creationId xmlns:p14="http://schemas.microsoft.com/office/powerpoint/2010/main" val="28604810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EDBF1-35C8-4DAD-A558-06F8A8934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331" y="420255"/>
            <a:ext cx="5157787" cy="823912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500" dirty="0">
                <a:latin typeface="Biome" panose="020B0503030204020804" pitchFamily="34" charset="0"/>
                <a:ea typeface="+mj-ea"/>
                <a:cs typeface="Biome" panose="020B0503030204020804" pitchFamily="34" charset="0"/>
              </a:rPr>
              <a:t>Port Address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3A076-04BD-4B28-9720-33E910500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134" y="1797000"/>
            <a:ext cx="5933454" cy="3684588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just">
              <a:buClr>
                <a:srgbClr val="3333CC"/>
              </a:buClr>
              <a:buSzPct val="58928"/>
              <a:buFont typeface="Wingdings" panose="05000000000000000000" pitchFamily="2" charset="2"/>
              <a:buChar char="q"/>
              <a:tabLst>
                <a:tab pos="354965" algn="l"/>
                <a:tab pos="355600" algn="l"/>
              </a:tabLst>
            </a:pPr>
            <a:r>
              <a:rPr lang="en-US" sz="2500" dirty="0">
                <a:latin typeface="+mj-lt"/>
              </a:rPr>
              <a:t>Used for process-to-process communication</a:t>
            </a:r>
          </a:p>
          <a:p>
            <a:pPr algn="just">
              <a:buClr>
                <a:srgbClr val="3333CC"/>
              </a:buClr>
              <a:buSzPct val="58928"/>
              <a:buFont typeface="Wingdings" panose="05000000000000000000" pitchFamily="2" charset="2"/>
              <a:buChar char="q"/>
              <a:tabLst>
                <a:tab pos="354965" algn="l"/>
                <a:tab pos="355600" algn="l"/>
              </a:tabLst>
            </a:pPr>
            <a:r>
              <a:rPr lang="en-US" sz="2500" dirty="0" err="1">
                <a:latin typeface="+mj-lt"/>
              </a:rPr>
              <a:t>Eg.</a:t>
            </a:r>
            <a:r>
              <a:rPr lang="en-US" sz="2500" dirty="0">
                <a:latin typeface="+mj-lt"/>
              </a:rPr>
              <a:t> Computer A </a:t>
            </a:r>
            <a:r>
              <a:rPr lang="en-US" sz="25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500" dirty="0">
                <a:latin typeface="+mj-lt"/>
              </a:rPr>
              <a:t> B via TELNET</a:t>
            </a:r>
          </a:p>
          <a:p>
            <a:pPr marL="0" indent="0" algn="just">
              <a:buClr>
                <a:srgbClr val="3333CC"/>
              </a:buClr>
              <a:buSzPct val="58928"/>
              <a:buNone/>
              <a:tabLst>
                <a:tab pos="354965" algn="l"/>
                <a:tab pos="355600" algn="l"/>
              </a:tabLst>
            </a:pPr>
            <a:r>
              <a:rPr lang="en-US" sz="2500" dirty="0">
                <a:latin typeface="+mj-lt"/>
              </a:rPr>
              <a:t>             	   A</a:t>
            </a:r>
            <a:r>
              <a:rPr lang="en-US" sz="2500" dirty="0">
                <a:latin typeface="+mj-lt"/>
                <a:sym typeface="Wingdings" panose="05000000000000000000" pitchFamily="2" charset="2"/>
              </a:rPr>
              <a:t> </a:t>
            </a:r>
            <a:r>
              <a:rPr lang="en-US" sz="2500" dirty="0">
                <a:latin typeface="+mj-lt"/>
              </a:rPr>
              <a:t> C via FTP</a:t>
            </a:r>
          </a:p>
          <a:p>
            <a:pPr algn="just">
              <a:buClr>
                <a:srgbClr val="3333CC"/>
              </a:buClr>
              <a:buSzPct val="58928"/>
              <a:buFont typeface="Wingdings" panose="05000000000000000000" pitchFamily="2" charset="2"/>
              <a:buChar char="q"/>
              <a:tabLst>
                <a:tab pos="354965" algn="l"/>
                <a:tab pos="355600" algn="l"/>
              </a:tabLst>
            </a:pPr>
            <a:r>
              <a:rPr lang="en-US" sz="2500" dirty="0">
                <a:latin typeface="+mj-lt"/>
              </a:rPr>
              <a:t>In TCP/IP port address is of 16 bits in length</a:t>
            </a:r>
          </a:p>
          <a:p>
            <a:pPr algn="just">
              <a:buClr>
                <a:srgbClr val="3333CC"/>
              </a:buClr>
              <a:buSzPct val="58928"/>
              <a:buFont typeface="Wingdings" panose="05000000000000000000" pitchFamily="2" charset="2"/>
              <a:buChar char="q"/>
              <a:tabLst>
                <a:tab pos="354965" algn="l"/>
                <a:tab pos="355600" algn="l"/>
              </a:tabLst>
            </a:pPr>
            <a:endParaRPr lang="en-US" sz="2500" dirty="0">
              <a:latin typeface="+mj-lt"/>
            </a:endParaRPr>
          </a:p>
          <a:p>
            <a:pPr marL="355600" indent="-342900">
              <a:spcBef>
                <a:spcPts val="55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endParaRPr lang="en-US" sz="2500" dirty="0">
              <a:latin typeface="+mj-lt"/>
              <a:cs typeface="Times New Roman"/>
            </a:endParaRPr>
          </a:p>
          <a:p>
            <a:endParaRPr lang="en-US" sz="2500" dirty="0">
              <a:latin typeface="+mj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9B098-C2EA-4D0C-82D4-4F315E853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874" y="432388"/>
            <a:ext cx="5183188" cy="823912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500" dirty="0">
                <a:latin typeface="Biome" panose="020B0503030204020804" pitchFamily="34" charset="0"/>
                <a:ea typeface="+mj-ea"/>
                <a:cs typeface="Biome" panose="020B0503030204020804" pitchFamily="34" charset="0"/>
              </a:rPr>
              <a:t>Specific Address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3E27B-EDA9-4ED2-9BCA-A481F5FBC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2847" y="1797000"/>
            <a:ext cx="5066521" cy="3684588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just">
              <a:buClr>
                <a:srgbClr val="3333CC"/>
              </a:buClr>
              <a:buSzPct val="58928"/>
              <a:buFont typeface="Wingdings" panose="05000000000000000000" pitchFamily="2" charset="2"/>
              <a:buChar char="q"/>
              <a:tabLst>
                <a:tab pos="354965" algn="l"/>
                <a:tab pos="355600" algn="l"/>
              </a:tabLst>
            </a:pPr>
            <a:r>
              <a:rPr lang="en-US" sz="2500" dirty="0">
                <a:latin typeface="+mj-lt"/>
              </a:rPr>
              <a:t>URL</a:t>
            </a:r>
          </a:p>
          <a:p>
            <a:pPr algn="just">
              <a:buClr>
                <a:srgbClr val="3333CC"/>
              </a:buClr>
              <a:buSzPct val="58928"/>
              <a:buFont typeface="Wingdings" panose="05000000000000000000" pitchFamily="2" charset="2"/>
              <a:buChar char="q"/>
              <a:tabLst>
                <a:tab pos="354965" algn="l"/>
                <a:tab pos="355600" algn="l"/>
              </a:tabLst>
            </a:pPr>
            <a:r>
              <a:rPr lang="en-US" sz="2500" dirty="0">
                <a:latin typeface="+mj-lt"/>
              </a:rPr>
              <a:t>E-mail Address</a:t>
            </a:r>
          </a:p>
          <a:p>
            <a:pPr marL="0" indent="0">
              <a:buNone/>
            </a:pPr>
            <a:endParaRPr lang="en-US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2349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7579" y="141668"/>
            <a:ext cx="7594243" cy="862884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Biome" panose="020B0503030204020804" pitchFamily="34" charset="0"/>
                <a:cs typeface="Biome" panose="020B0503030204020804" pitchFamily="34" charset="0"/>
              </a:rPr>
              <a:t>TCP/IP and OSI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609" y="1141211"/>
            <a:ext cx="8369814" cy="5558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9877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2339</TotalTime>
  <Words>1868</Words>
  <Application>Microsoft Office PowerPoint</Application>
  <PresentationFormat>Widescreen</PresentationFormat>
  <Paragraphs>200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Aharoni</vt:lpstr>
      <vt:lpstr>Arial</vt:lpstr>
      <vt:lpstr>Biome</vt:lpstr>
      <vt:lpstr>Papyrus</vt:lpstr>
      <vt:lpstr>Times</vt:lpstr>
      <vt:lpstr>Times New Roman</vt:lpstr>
      <vt:lpstr>Wingdings</vt:lpstr>
      <vt:lpstr>Office Theme</vt:lpstr>
      <vt:lpstr>Chapter 2 Network Models</vt:lpstr>
      <vt:lpstr>Introduction</vt:lpstr>
      <vt:lpstr>PowerPoint Presentation</vt:lpstr>
      <vt:lpstr>Layered Communication</vt:lpstr>
      <vt:lpstr>Layered Communication</vt:lpstr>
      <vt:lpstr>Protocol Layering</vt:lpstr>
      <vt:lpstr>Layered Communication</vt:lpstr>
      <vt:lpstr>OSI Model</vt:lpstr>
      <vt:lpstr>OSI Model</vt:lpstr>
      <vt:lpstr>OSI Model</vt:lpstr>
      <vt:lpstr>OSI Model</vt:lpstr>
      <vt:lpstr>Layers in OSI Model: Application Layer</vt:lpstr>
      <vt:lpstr>PowerPoint Presentation</vt:lpstr>
      <vt:lpstr>Layers in OSI Model: Presentation Layer</vt:lpstr>
      <vt:lpstr>PowerPoint Presentation</vt:lpstr>
      <vt:lpstr>Layers in OSI Model: Session Layer</vt:lpstr>
      <vt:lpstr>PowerPoint Presentation</vt:lpstr>
      <vt:lpstr>Layers in OSI Model: Transport Layer</vt:lpstr>
      <vt:lpstr>Layers in OSI Model: Transport Layer</vt:lpstr>
      <vt:lpstr>Layers in OSI Model: Network Layer</vt:lpstr>
      <vt:lpstr>Layers in OSI Model: Data Link Layer</vt:lpstr>
      <vt:lpstr>Layers in OSI Model: Data Link Layer</vt:lpstr>
      <vt:lpstr>Layers in OSI Model: Physical Layer</vt:lpstr>
      <vt:lpstr>PowerPoint Presentation</vt:lpstr>
      <vt:lpstr>OSI Model: Layers Summary</vt:lpstr>
      <vt:lpstr>TCP/IP Protocol Suite: Layered Architecture</vt:lpstr>
      <vt:lpstr>PowerPoint Presentation</vt:lpstr>
      <vt:lpstr>PowerPoint Presentation</vt:lpstr>
      <vt:lpstr>TCP/IP Protocol Suite: Layers in the TCP/IP Protocol Suite</vt:lpstr>
      <vt:lpstr>PowerPoint Presentation</vt:lpstr>
      <vt:lpstr>TCP/IP Protocol Suite: Description of each Layer</vt:lpstr>
      <vt:lpstr>TCP/IP Protocol Suite: Description of each Layer</vt:lpstr>
      <vt:lpstr>TCP/IP Protocol Suite: Description of each Layer</vt:lpstr>
      <vt:lpstr>TCP/IP Protocol Suite: Description of each Layer</vt:lpstr>
      <vt:lpstr>TCP/IP Protocol Suite: Description of each Layer</vt:lpstr>
      <vt:lpstr>TCP/IP Protocol Suite: Description of each Layer</vt:lpstr>
      <vt:lpstr>TCP/IP Protocol Suite: Description of each Layer</vt:lpstr>
      <vt:lpstr>TCP/IP Protocol Suite: Description of each Layer</vt:lpstr>
      <vt:lpstr>TCP/IP Protocol Suite: Encapsulation and Decapsulation</vt:lpstr>
      <vt:lpstr>TCP/IP Protocol Suite: Addressing</vt:lpstr>
      <vt:lpstr>Relationship of layers and addresses in TCP/IP</vt:lpstr>
      <vt:lpstr>Physical Address</vt:lpstr>
      <vt:lpstr>PowerPoint Presentation</vt:lpstr>
      <vt:lpstr>PowerPoint Presentation</vt:lpstr>
      <vt:lpstr>TCP/IP and OSI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Vijay Ukani</cp:lastModifiedBy>
  <cp:revision>205</cp:revision>
  <dcterms:created xsi:type="dcterms:W3CDTF">2022-12-01T17:41:36Z</dcterms:created>
  <dcterms:modified xsi:type="dcterms:W3CDTF">2026-01-13T09:04:09Z</dcterms:modified>
</cp:coreProperties>
</file>
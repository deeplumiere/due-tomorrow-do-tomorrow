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328" r:id="rId5"/>
    <p:sldId id="259" r:id="rId6"/>
    <p:sldId id="260" r:id="rId7"/>
    <p:sldId id="261" r:id="rId8"/>
    <p:sldId id="262" r:id="rId9"/>
    <p:sldId id="280" r:id="rId10"/>
    <p:sldId id="281" r:id="rId11"/>
    <p:sldId id="263" r:id="rId12"/>
    <p:sldId id="264" r:id="rId13"/>
    <p:sldId id="265" r:id="rId14"/>
    <p:sldId id="266" r:id="rId15"/>
    <p:sldId id="267" r:id="rId16"/>
    <p:sldId id="269" r:id="rId17"/>
    <p:sldId id="270" r:id="rId18"/>
    <p:sldId id="268" r:id="rId19"/>
    <p:sldId id="271" r:id="rId20"/>
    <p:sldId id="272" r:id="rId21"/>
    <p:sldId id="273" r:id="rId22"/>
    <p:sldId id="274" r:id="rId23"/>
    <p:sldId id="278" r:id="rId24"/>
    <p:sldId id="275" r:id="rId25"/>
    <p:sldId id="276" r:id="rId26"/>
    <p:sldId id="277" r:id="rId27"/>
    <p:sldId id="279" r:id="rId28"/>
    <p:sldId id="311" r:id="rId29"/>
    <p:sldId id="312" r:id="rId30"/>
    <p:sldId id="313" r:id="rId31"/>
    <p:sldId id="319" r:id="rId32"/>
    <p:sldId id="327" r:id="rId33"/>
    <p:sldId id="31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45"/>
    <p:restoredTop sz="91888"/>
  </p:normalViewPr>
  <p:slideViewPr>
    <p:cSldViewPr snapToGrid="0">
      <p:cViewPr varScale="1">
        <p:scale>
          <a:sx n="78" d="100"/>
          <a:sy n="78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6490D-4AA5-6DBF-4310-A37A029EC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B2B50-652A-10F9-F430-BAFF79E14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FA11B-6988-A9DF-234F-63A797C1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72B-BD1F-B74D-9DEA-1A5DD519707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81F2A-B6AC-8210-0DFB-557F0776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398DA-003D-746B-D236-745C0F23A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3802B-73F8-FB47-AC8C-39EE1E838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92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4547-E124-059B-DA53-0DAE57893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975D0-4ED7-D518-D208-FDBABA7EE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1AAD6-ADF7-0E71-F500-581F6F947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72B-BD1F-B74D-9DEA-1A5DD519707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719DD-76DE-4279-7D74-0E9E95D04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5C7-224E-F9DA-6DC4-BFBF3642F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3802B-73F8-FB47-AC8C-39EE1E838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2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B8FF9-656C-A906-ED65-5D5DC8811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1C9DF-C1F8-A085-D071-7F285E2A2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D3CE9-52CC-1DD4-A84C-86B7A3910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72B-BD1F-B74D-9DEA-1A5DD519707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06A2A-B03A-4896-77BF-5777CAE81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093ED-D58C-3FF2-EE0C-8458B490D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3802B-73F8-FB47-AC8C-39EE1E838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170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9D2CE-6020-8BD7-B1E6-B515BAFE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9354E-64E3-EAE2-BAC9-B021527451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46296-0BEB-3274-001D-903EE94CD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EDC08-E94F-C423-8F3F-8226A796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72B-BD1F-B74D-9DEA-1A5DD519707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6AACD-CFE0-A55A-E422-442EB98AE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EB4BB-9D4D-7DF2-9E6D-F368C3FF1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3802B-73F8-FB47-AC8C-39EE1E838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3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48F56-D4C2-F782-F18D-1103A3C27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C1760-25AA-42AC-A16B-D16C2B992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B0B68-15A2-5179-0525-65F7774AD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760B76-E59C-CBE1-296E-CC14D6880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A2D18D-64C7-D6A5-A5D4-B73BBE6D3D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AB5DC4-1E6C-8030-1C11-65247F3F1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72B-BD1F-B74D-9DEA-1A5DD519707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3BE29F-D054-A2E5-5DB1-7EEA25012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699307-580C-39DB-6011-010158097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3802B-73F8-FB47-AC8C-39EE1E838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54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9A94-60E3-394F-13ED-638DD17F9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4DB3F1-0888-8F14-13E4-D0449E211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72B-BD1F-B74D-9DEA-1A5DD519707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110928-B75B-54E9-40A3-2EC8CEDE9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3D5902-7412-2C5E-07D0-759CAFB10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3802B-73F8-FB47-AC8C-39EE1E838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97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ADC9D-05B3-078A-4768-86C98C380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72B-BD1F-B74D-9DEA-1A5DD519707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DCA3CD-151B-7404-EE35-A43E846FB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349CC-9D8F-A8D7-7A60-2983AD428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3802B-73F8-FB47-AC8C-39EE1E838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07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789E7-F4FF-6634-A4A4-7541F1ABC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4DCA-BD36-35E5-C1FF-142C7FC49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F24DD-5724-83C7-5D4A-E53ED6D90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015603-F0BE-5567-B706-7BBE7EC8D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72B-BD1F-B74D-9DEA-1A5DD519707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FE5D4-0D5E-A597-467B-EDFCFDBDF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6448-4E36-74E7-47A0-4712CC685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3802B-73F8-FB47-AC8C-39EE1E838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476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CF8CE-C8A1-A6C3-753B-F2020B7EA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F6BDC0-0F3D-69AB-B25E-DCDFD2D6DA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BE6B2-7301-8535-A8EC-878C22422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CD7FB-1922-B8C8-EE8B-71330148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72B-BD1F-B74D-9DEA-1A5DD519707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67F31-A1FC-D038-C8BD-DEF95C7E4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2496A-ADD7-41C6-467E-92A5103E3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3802B-73F8-FB47-AC8C-39EE1E838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470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DC61A-0184-F36F-0EB9-2C56F5B17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BA53B6-B04E-ED1A-775C-39E467A72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79EAD-6D92-357E-1039-562DC6BD1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72B-BD1F-B74D-9DEA-1A5DD519707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B8D93-B7DA-0F77-D52E-687E8AEA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F407D-7FC5-7887-CFC5-88AB04CD3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3802B-73F8-FB47-AC8C-39EE1E838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68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694D64-D64D-3258-B2EB-4B8B22C0AF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0FA06-7938-5DC5-7909-44E130E68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7D054-207A-2522-90C4-255C2A677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72B-BD1F-B74D-9DEA-1A5DD519707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2C925-8E32-DBEA-2158-9118BAD07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EF3D9-373C-E748-49EE-4320C7D13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3802B-73F8-FB47-AC8C-39EE1E838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409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DE269-FD5D-4929-B102-A076D9FE13F5}" type="datetimeFigureOut">
              <a:rPr lang="en-US" smtClean="0"/>
              <a:pPr/>
              <a:t>1/5/2026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96A2-1FEA-41E9-8C22-27DC6E62DEC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664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EE436B-5D45-9096-584C-138B02B9D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23C83-498A-C370-1BE6-E0A83D9EE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CC1AF-2E7B-F26D-6CB7-B2BFB06FB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A972B-BD1F-B74D-9DEA-1A5DD519707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4D90E-94BC-F232-5B25-0AC198144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6C997-F15B-C7E5-C1DE-DF2486E1C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3802B-73F8-FB47-AC8C-39EE1E838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26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gif"/><Relationship Id="rId3" Type="http://schemas.openxmlformats.org/officeDocument/2006/relationships/image" Target="../media/image8.gif"/><Relationship Id="rId7" Type="http://schemas.openxmlformats.org/officeDocument/2006/relationships/image" Target="../media/image12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gif"/><Relationship Id="rId4" Type="http://schemas.openxmlformats.org/officeDocument/2006/relationships/image" Target="../media/image21.gi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TECHWISE GUY | WiFi">
            <a:extLst>
              <a:ext uri="{FF2B5EF4-FFF2-40B4-BE49-F238E27FC236}">
                <a16:creationId xmlns:a16="http://schemas.microsoft.com/office/drawing/2014/main" id="{16E93FA3-9D07-22D4-5264-921BCEBF1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"/>
            <a:ext cx="12192000" cy="6360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3C8E3B-1C45-588B-1F8F-A5CBB0920C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Biome" panose="020B0604020202020204" pitchFamily="34" charset="0"/>
                <a:cs typeface="Biome" panose="020B0604020202020204" pitchFamily="34" charset="0"/>
              </a:rPr>
              <a:t>Data Communication</a:t>
            </a: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6CC8E7E6-3845-29EA-3503-B0F24F61E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5596" y="0"/>
            <a:ext cx="3024808" cy="1288344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A05D552B-4107-42B5-BF86-5E72C83E0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07756"/>
            <a:ext cx="9144000" cy="1655762"/>
          </a:xfrm>
        </p:spPr>
        <p:txBody>
          <a:bodyPr/>
          <a:lstStyle/>
          <a:p>
            <a:r>
              <a:rPr lang="en-US" dirty="0">
                <a:latin typeface="Biome" panose="020B0503030204020804" pitchFamily="34" charset="0"/>
                <a:cs typeface="Biome" panose="020B0503030204020804" pitchFamily="34" charset="0"/>
              </a:rPr>
              <a:t>Dr. Vijay Ukani</a:t>
            </a:r>
          </a:p>
          <a:p>
            <a:r>
              <a:rPr lang="en-US" dirty="0">
                <a:latin typeface="Biome" panose="020B0503030204020804" pitchFamily="34" charset="0"/>
                <a:cs typeface="Biome" panose="020B0503030204020804" pitchFamily="34" charset="0"/>
              </a:rPr>
              <a:t>Associate Professor</a:t>
            </a:r>
          </a:p>
          <a:p>
            <a:r>
              <a:rPr lang="en-US" dirty="0">
                <a:latin typeface="Biome" panose="020B0503030204020804" pitchFamily="34" charset="0"/>
                <a:cs typeface="Biome" panose="020B0503030204020804" pitchFamily="34" charset="0"/>
              </a:rPr>
              <a:t>Institute of Technology, Nirma University</a:t>
            </a:r>
          </a:p>
        </p:txBody>
      </p:sp>
    </p:spTree>
    <p:extLst>
      <p:ext uri="{BB962C8B-B14F-4D97-AF65-F5344CB8AC3E}">
        <p14:creationId xmlns:p14="http://schemas.microsoft.com/office/powerpoint/2010/main" val="441647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8356F-816B-5E54-95F0-61314F799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Contents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17645E-1D96-A02D-67FA-4ADBA04FD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Introduction to Data Communication</a:t>
            </a:r>
          </a:p>
          <a:p>
            <a:r>
              <a:rPr lang="en-IN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Network Components</a:t>
            </a:r>
          </a:p>
          <a:p>
            <a:r>
              <a:rPr lang="en-IN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Data Representation</a:t>
            </a:r>
          </a:p>
          <a:p>
            <a:r>
              <a:rPr lang="en-IN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Data Flow</a:t>
            </a:r>
          </a:p>
          <a:p>
            <a:r>
              <a:rPr lang="en-IN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Network Physical Structure</a:t>
            </a:r>
          </a:p>
          <a:p>
            <a:r>
              <a:rPr lang="en-IN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Network Physical Topology</a:t>
            </a:r>
          </a:p>
        </p:txBody>
      </p:sp>
    </p:spTree>
    <p:extLst>
      <p:ext uri="{BB962C8B-B14F-4D97-AF65-F5344CB8AC3E}">
        <p14:creationId xmlns:p14="http://schemas.microsoft.com/office/powerpoint/2010/main" val="2978225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8356F-816B-5E54-95F0-61314F799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7645E-1D96-A02D-67FA-4ADBA04FD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39168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ata communications and networking have changed the way we do business and the way we live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on fingertips, Google,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applications like YouTube, WhatsApp, Facebook, Instagram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Email, File Sharing, ERP</a:t>
            </a:r>
          </a:p>
          <a:p>
            <a:pPr marL="0" indent="0">
              <a:buNone/>
            </a:pPr>
            <a:br>
              <a:rPr lang="en-US" sz="2400" dirty="0"/>
            </a:br>
            <a:endParaRPr lang="en-US" sz="24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</p:txBody>
      </p:sp>
      <p:pic>
        <p:nvPicPr>
          <p:cNvPr id="1026" name="Picture 2" descr="Employe Communication by Ravinder Singh on Dribbble">
            <a:extLst>
              <a:ext uri="{FF2B5EF4-FFF2-40B4-BE49-F238E27FC236}">
                <a16:creationId xmlns:a16="http://schemas.microsoft.com/office/drawing/2014/main" id="{FAF54516-A1BB-9FF7-CAF0-785AF8AB6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7244" y="-294967"/>
            <a:ext cx="3194756" cy="239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2251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8356F-816B-5E54-95F0-61314F799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7645E-1D96-A02D-67FA-4ADBA04FD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When we communicate, we are </a:t>
            </a:r>
            <a:r>
              <a:rPr lang="en-IN" sz="2400" b="1" u="sng" dirty="0"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sharing information</a:t>
            </a:r>
            <a:r>
              <a:rPr lang="en-IN" sz="2400" dirty="0"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. </a:t>
            </a:r>
            <a:endParaRPr lang="en-IN" sz="24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S</a:t>
            </a:r>
            <a:r>
              <a:rPr lang="en-IN" sz="2400" dirty="0"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haring can be local (</a:t>
            </a: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face-to-face</a:t>
            </a:r>
            <a:r>
              <a:rPr lang="en-IN" sz="2400" dirty="0"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) or remote (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telecommunication</a:t>
            </a:r>
            <a:r>
              <a:rPr lang="en-IN" sz="2400" dirty="0"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). </a:t>
            </a:r>
          </a:p>
          <a:p>
            <a:pPr algn="just"/>
            <a:r>
              <a:rPr lang="en-IN" sz="2400" dirty="0"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The term </a:t>
            </a:r>
            <a:r>
              <a:rPr lang="en-IN" sz="2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</a:t>
            </a:r>
            <a:r>
              <a:rPr lang="en-IN" sz="2400" b="1" u="sng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elecommunication</a:t>
            </a:r>
            <a:r>
              <a:rPr lang="en-IN" sz="2400" i="1" dirty="0"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, </a:t>
            </a:r>
            <a:r>
              <a:rPr lang="en-IN" sz="2400" dirty="0"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which includes </a:t>
            </a:r>
            <a:r>
              <a:rPr lang="en-IN" sz="2400" i="1" dirty="0"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telephony, telegraphy, and television</a:t>
            </a:r>
            <a:r>
              <a:rPr lang="en-IN" sz="2400" dirty="0"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, means communication at a distance.</a:t>
            </a:r>
            <a:endParaRPr lang="en-IN" sz="24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The word </a:t>
            </a:r>
            <a:r>
              <a:rPr lang="en-IN" sz="2400" b="1" u="sng" dirty="0">
                <a:solidFill>
                  <a:srgbClr val="0070C0"/>
                </a:solidFill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D</a:t>
            </a:r>
            <a:r>
              <a:rPr lang="en-IN" sz="2400" b="1" u="sng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ata</a:t>
            </a:r>
            <a:r>
              <a:rPr lang="en-IN" sz="2400" i="1" dirty="0"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</a:t>
            </a:r>
            <a:r>
              <a:rPr lang="en-IN" sz="2400" dirty="0"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refers to information presented in whatever form is agreed upon by the parties creating and using the data. </a:t>
            </a:r>
            <a:endParaRPr lang="en-IN" sz="24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algn="just"/>
            <a:r>
              <a:rPr lang="en-IN" sz="2400" b="1" u="sng" dirty="0"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Data communications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(DC)</a:t>
            </a:r>
            <a:r>
              <a:rPr lang="en-IN" sz="2400" dirty="0">
                <a:effectLst/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are the exchange of data between two devices via some form of transmission medium such as a wired cable or a wireless medium.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Communicating devices must be </a:t>
            </a:r>
            <a:r>
              <a:rPr lang="en-IN" sz="2400" b="1" u="sng" dirty="0">
                <a:solidFill>
                  <a:schemeClr val="accent2"/>
                </a:solidFill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part of a communication system</a:t>
            </a:r>
            <a:r>
              <a:rPr lang="en-I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made up of a combination of </a:t>
            </a:r>
            <a:r>
              <a:rPr lang="en-IN" sz="2400" i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hardware</a:t>
            </a: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(physical equipment) and </a:t>
            </a:r>
            <a:r>
              <a:rPr lang="en-IN" sz="2400" i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software</a:t>
            </a: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(programs)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</p:txBody>
      </p:sp>
      <p:pic>
        <p:nvPicPr>
          <p:cNvPr id="1026" name="Picture 2" descr="Employe Communication by Ravinder Singh on Dribbble">
            <a:extLst>
              <a:ext uri="{FF2B5EF4-FFF2-40B4-BE49-F238E27FC236}">
                <a16:creationId xmlns:a16="http://schemas.microsoft.com/office/drawing/2014/main" id="{FAF54516-A1BB-9FF7-CAF0-785AF8AB6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7244" y="-294966"/>
            <a:ext cx="3194756" cy="239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07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8356F-816B-5E54-95F0-61314F799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Introduction	Contd..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7645E-1D96-A02D-67FA-4ADBA04FD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6222"/>
            <a:ext cx="10515600" cy="4899377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The effectiveness of a data communications system depends on four fundamental characteristics: 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Delivery</a:t>
            </a: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: </a:t>
            </a:r>
            <a:r>
              <a:rPr lang="en-IN" sz="2000" i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Data delivery to the </a:t>
            </a:r>
            <a:r>
              <a:rPr lang="en-IN" sz="2000" b="1" i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correct destination</a:t>
            </a:r>
            <a:r>
              <a:rPr lang="en-IN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. </a:t>
            </a:r>
            <a:endParaRPr lang="en-IN" sz="24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Accuracy</a:t>
            </a: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: </a:t>
            </a:r>
            <a:r>
              <a:rPr lang="en-IN" sz="2000" i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System must deliver the data </a:t>
            </a:r>
            <a:r>
              <a:rPr lang="en-IN" sz="2000" b="1" i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accurately</a:t>
            </a:r>
            <a:r>
              <a:rPr lang="en-IN" sz="2000" i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Timeliness</a:t>
            </a: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: </a:t>
            </a:r>
            <a:r>
              <a:rPr lang="en-IN" sz="2000" i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System must deliver data in a </a:t>
            </a:r>
            <a:r>
              <a:rPr lang="en-IN" sz="2000" b="1" i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timely manner</a:t>
            </a:r>
            <a:r>
              <a:rPr lang="en-IN" sz="2000" i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Jitter</a:t>
            </a: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: </a:t>
            </a:r>
            <a:r>
              <a:rPr lang="en-IN" sz="2000" i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Refers to the variation in the </a:t>
            </a:r>
            <a:r>
              <a:rPr lang="en-IN" sz="2000" b="1" i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packet arrival time</a:t>
            </a:r>
            <a:r>
              <a:rPr lang="en-IN" sz="2000" i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(uneven delay in delivery).</a:t>
            </a:r>
          </a:p>
        </p:txBody>
      </p:sp>
      <p:pic>
        <p:nvPicPr>
          <p:cNvPr id="3074" name="Picture 2" descr="How Food Delivery Companies Leverage Geospatial Data! | by Anubhav Pattnaik  | Locale | Medium">
            <a:extLst>
              <a:ext uri="{FF2B5EF4-FFF2-40B4-BE49-F238E27FC236}">
                <a16:creationId xmlns:a16="http://schemas.microsoft.com/office/drawing/2014/main" id="{A976F79F-4C5E-6807-3546-AD18FCE82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511" y="2616080"/>
            <a:ext cx="1670755" cy="1253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Figure Hit Moving Target | 3D Animated Clipart for PowerPoint -  PresenterMedia.com">
            <a:extLst>
              <a:ext uri="{FF2B5EF4-FFF2-40B4-BE49-F238E27FC236}">
                <a16:creationId xmlns:a16="http://schemas.microsoft.com/office/drawing/2014/main" id="{FECC0500-F1F0-B85D-9DE6-CC2D039C3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266" y="3408473"/>
            <a:ext cx="1820836" cy="1274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Work Hard GIF by Memecandy">
            <a:extLst>
              <a:ext uri="{FF2B5EF4-FFF2-40B4-BE49-F238E27FC236}">
                <a16:creationId xmlns:a16="http://schemas.microsoft.com/office/drawing/2014/main" id="{7318DF65-2478-B4B3-E11B-C72316A1E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890" y="4720182"/>
            <a:ext cx="1743328" cy="1047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083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7AA57-6D6C-18D5-EB3A-FC0FEAEBD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DC/Network Components</a:t>
            </a:r>
            <a:endParaRPr lang="en-US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8066BB3E-4C07-57E7-F56F-A46DF075A5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54571"/>
            <a:ext cx="10515600" cy="2685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Top Send Message Stickers for Android &amp; iOS | Gfycat">
            <a:extLst>
              <a:ext uri="{FF2B5EF4-FFF2-40B4-BE49-F238E27FC236}">
                <a16:creationId xmlns:a16="http://schemas.microsoft.com/office/drawing/2014/main" id="{ACCA3327-EA34-DAE3-2B73-FA0EF0EB8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711" y="1460513"/>
            <a:ext cx="2188117" cy="2188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FEC5A7-D702-278C-1BD9-0299FAF44174}"/>
              </a:ext>
            </a:extLst>
          </p:cNvPr>
          <p:cNvSpPr txBox="1"/>
          <p:nvPr/>
        </p:nvSpPr>
        <p:spPr>
          <a:xfrm>
            <a:off x="2753422" y="5770020"/>
            <a:ext cx="66851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effectLst/>
                <a:latin typeface="Times"/>
              </a:rPr>
              <a:t>Figure</a:t>
            </a:r>
            <a:r>
              <a:rPr lang="en-IN" sz="2400" dirty="0">
                <a:effectLst/>
                <a:latin typeface="Times"/>
              </a:rPr>
              <a:t>: Five components of data communication </a:t>
            </a:r>
            <a:endParaRPr lang="en-IN" sz="2400" dirty="0"/>
          </a:p>
        </p:txBody>
      </p:sp>
      <p:pic>
        <p:nvPicPr>
          <p:cNvPr id="1028" name="Picture 4" descr="Transparent-one GIFs - Get the best GIF on GIPHY">
            <a:extLst>
              <a:ext uri="{FF2B5EF4-FFF2-40B4-BE49-F238E27FC236}">
                <a16:creationId xmlns:a16="http://schemas.microsoft.com/office/drawing/2014/main" id="{C46394E0-34AC-8E12-E81C-D9DA9D61F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194" y="3046715"/>
            <a:ext cx="866079" cy="866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ummer Phonics Course revision | Baamboozle - Baamboozle | The Most Fun  Classroom Games!">
            <a:extLst>
              <a:ext uri="{FF2B5EF4-FFF2-40B4-BE49-F238E27FC236}">
                <a16:creationId xmlns:a16="http://schemas.microsoft.com/office/drawing/2014/main" id="{E058C2E8-C0F0-8740-E4DF-B6E33849D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620" y="5213772"/>
            <a:ext cx="890239" cy="890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Nursery 3: Numbers and Shapes | Baamboozle - Baamboozle | The Most Fun  Classroom Games!">
            <a:extLst>
              <a:ext uri="{FF2B5EF4-FFF2-40B4-BE49-F238E27FC236}">
                <a16:creationId xmlns:a16="http://schemas.microsoft.com/office/drawing/2014/main" id="{FF8F8783-10BE-99D2-EB0C-2F8AAC332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35" y="5267131"/>
            <a:ext cx="880946" cy="880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iphy Stickers — Headexplodie - Annie Wong">
            <a:extLst>
              <a:ext uri="{FF2B5EF4-FFF2-40B4-BE49-F238E27FC236}">
                <a16:creationId xmlns:a16="http://schemas.microsoft.com/office/drawing/2014/main" id="{622591E7-9BAA-FAFE-B0B0-844D5555F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448" y="4828509"/>
            <a:ext cx="600152" cy="82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olours &amp; Numbers | Baamboozle - Baamboozle | The Most Fun Classroom Games!">
            <a:extLst>
              <a:ext uri="{FF2B5EF4-FFF2-40B4-BE49-F238E27FC236}">
                <a16:creationId xmlns:a16="http://schemas.microsoft.com/office/drawing/2014/main" id="{A71E533F-2305-6C6F-91F1-12E2C67E5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915" y="2554571"/>
            <a:ext cx="591014" cy="591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 descr="Colours &amp; Numbers | Baamboozle - Baamboozle | The Most Fun Classroom Games!">
            <a:extLst>
              <a:ext uri="{FF2B5EF4-FFF2-40B4-BE49-F238E27FC236}">
                <a16:creationId xmlns:a16="http://schemas.microsoft.com/office/drawing/2014/main" id="{B4DE4878-67B8-0490-9F57-00DF61F5F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923" y="2554571"/>
            <a:ext cx="591014" cy="591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0915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F8780-089C-AE5A-AC53-5F187BB24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Data Representation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D69CD-F06C-7053-E711-02CD4CA00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0666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Information today comes in different forms such as text, numbers, images, audio, and video. </a:t>
            </a:r>
          </a:p>
          <a:p>
            <a:r>
              <a:rPr lang="en-US" sz="2400" b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Text</a:t>
            </a:r>
            <a:r>
              <a:rPr lang="en-US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IN" sz="2000" dirty="0">
                <a:effectLst/>
                <a:latin typeface="Times"/>
              </a:rPr>
              <a:t>Sequence of bits (</a:t>
            </a:r>
            <a:r>
              <a:rPr lang="en-IN" sz="2000" b="1" dirty="0">
                <a:solidFill>
                  <a:srgbClr val="00B050"/>
                </a:solidFill>
                <a:effectLst/>
                <a:latin typeface="Times"/>
              </a:rPr>
              <a:t>0s or 1s</a:t>
            </a:r>
            <a:r>
              <a:rPr lang="en-IN" sz="2000" dirty="0">
                <a:effectLst/>
                <a:latin typeface="Times"/>
              </a:rPr>
              <a:t>). </a:t>
            </a:r>
          </a:p>
          <a:p>
            <a:pPr lvl="1"/>
            <a:r>
              <a:rPr lang="en-IN" sz="2000" dirty="0">
                <a:effectLst/>
                <a:latin typeface="Times"/>
              </a:rPr>
              <a:t>Different sets of </a:t>
            </a:r>
            <a:r>
              <a:rPr lang="en-IN" sz="2000" b="1" dirty="0">
                <a:solidFill>
                  <a:srgbClr val="FF0000"/>
                </a:solidFill>
                <a:effectLst/>
                <a:latin typeface="Times"/>
              </a:rPr>
              <a:t>bit patterns </a:t>
            </a:r>
            <a:r>
              <a:rPr lang="en-IN" sz="2000" dirty="0">
                <a:effectLst/>
                <a:latin typeface="Times"/>
              </a:rPr>
              <a:t>have been designed to represent text symbols. </a:t>
            </a:r>
            <a:endParaRPr lang="en-IN" sz="2000" dirty="0"/>
          </a:p>
          <a:p>
            <a:pPr lvl="1"/>
            <a:r>
              <a:rPr lang="en-IN" sz="2000" dirty="0">
                <a:effectLst/>
                <a:latin typeface="Times"/>
              </a:rPr>
              <a:t>Each set is called a </a:t>
            </a:r>
            <a:r>
              <a:rPr lang="en-IN" sz="2000" b="1" dirty="0">
                <a:solidFill>
                  <a:srgbClr val="0070C0"/>
                </a:solidFill>
                <a:effectLst/>
                <a:latin typeface="Times"/>
              </a:rPr>
              <a:t>code</a:t>
            </a:r>
            <a:r>
              <a:rPr lang="en-IN" sz="2000" dirty="0">
                <a:effectLst/>
                <a:latin typeface="Times"/>
              </a:rPr>
              <a:t>, and the process of representing symbols is called </a:t>
            </a:r>
            <a:r>
              <a:rPr lang="en-IN" sz="2000" b="1" dirty="0">
                <a:solidFill>
                  <a:srgbClr val="0070C0"/>
                </a:solidFill>
                <a:effectLst/>
                <a:latin typeface="Times"/>
              </a:rPr>
              <a:t>coding</a:t>
            </a:r>
            <a:r>
              <a:rPr lang="en-IN" sz="2000" dirty="0">
                <a:effectLst/>
                <a:latin typeface="Times"/>
              </a:rPr>
              <a:t>. Code </a:t>
            </a:r>
            <a:r>
              <a:rPr lang="en-IN" sz="2000" dirty="0" err="1">
                <a:effectLst/>
                <a:latin typeface="Times"/>
              </a:rPr>
              <a:t>eg</a:t>
            </a:r>
            <a:r>
              <a:rPr lang="en-IN" sz="2000" dirty="0">
                <a:effectLst/>
                <a:latin typeface="Times"/>
              </a:rPr>
              <a:t> Unicode and ASCII</a:t>
            </a:r>
            <a:r>
              <a:rPr lang="en-IN" sz="1800" dirty="0">
                <a:effectLst/>
                <a:latin typeface="Times"/>
              </a:rPr>
              <a:t> </a:t>
            </a:r>
            <a:endParaRPr lang="en-IN" sz="800" dirty="0"/>
          </a:p>
          <a:p>
            <a:pPr marL="0" indent="0">
              <a:buNone/>
            </a:pPr>
            <a:r>
              <a:rPr lang="en-IN" sz="1800" dirty="0">
                <a:effectLst/>
                <a:latin typeface="Times"/>
              </a:rPr>
              <a:t> </a:t>
            </a:r>
          </a:p>
          <a:p>
            <a:r>
              <a:rPr lang="en-US" sz="2400" b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Numbers</a:t>
            </a:r>
            <a:r>
              <a:rPr lang="en-US" dirty="0"/>
              <a:t>:</a:t>
            </a:r>
          </a:p>
          <a:p>
            <a:pPr lvl="1"/>
            <a:r>
              <a:rPr lang="en-IN" sz="2000" dirty="0">
                <a:latin typeface="Times"/>
              </a:rPr>
              <a:t>Numbers are also represented by </a:t>
            </a:r>
            <a:r>
              <a:rPr lang="en-IN" sz="2000" b="1" dirty="0">
                <a:latin typeface="Times"/>
              </a:rPr>
              <a:t>bit patterns</a:t>
            </a:r>
            <a:r>
              <a:rPr lang="en-IN" sz="2000" dirty="0">
                <a:latin typeface="Times"/>
              </a:rPr>
              <a:t>. </a:t>
            </a:r>
          </a:p>
        </p:txBody>
      </p:sp>
      <p:pic>
        <p:nvPicPr>
          <p:cNvPr id="3076" name="Picture 4" descr="Working with Binary">
            <a:extLst>
              <a:ext uri="{FF2B5EF4-FFF2-40B4-BE49-F238E27FC236}">
                <a16:creationId xmlns:a16="http://schemas.microsoft.com/office/drawing/2014/main" id="{EA675C3A-E5E1-CD7D-0B14-F278F7859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881" y="4390159"/>
            <a:ext cx="2699701" cy="152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1765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3E95D-F1F4-63F7-1C7A-D930E8925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Data Representation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5207D-B068-F9FA-7390-D1C1F471F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516"/>
            <a:ext cx="10515600" cy="5250426"/>
          </a:xfrm>
        </p:spPr>
        <p:txBody>
          <a:bodyPr>
            <a:normAutofit lnSpcReduction="10000"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Images</a:t>
            </a:r>
            <a:r>
              <a:rPr lang="en-IN" dirty="0"/>
              <a:t>: </a:t>
            </a:r>
          </a:p>
          <a:p>
            <a:pPr lvl="1"/>
            <a:r>
              <a:rPr lang="en-IN" sz="2000" dirty="0">
                <a:latin typeface="Times"/>
              </a:rPr>
              <a:t>Images are also represented by bit patterns. </a:t>
            </a:r>
          </a:p>
          <a:p>
            <a:pPr lvl="1"/>
            <a:r>
              <a:rPr lang="en-IN" sz="2000" dirty="0">
                <a:latin typeface="Times"/>
              </a:rPr>
              <a:t>Composed of a matrix of pixels. Each pixel represented by bit pattern</a:t>
            </a:r>
          </a:p>
          <a:p>
            <a:pPr lvl="1"/>
            <a:r>
              <a:rPr lang="en-IN" sz="2000" dirty="0">
                <a:latin typeface="Times"/>
              </a:rPr>
              <a:t>Monochrome image pixel represents black or white </a:t>
            </a:r>
            <a:r>
              <a:rPr lang="en-IN" sz="2000" dirty="0" err="1">
                <a:latin typeface="Times"/>
              </a:rPr>
              <a:t>color</a:t>
            </a:r>
            <a:r>
              <a:rPr lang="en-IN" sz="2000" dirty="0">
                <a:latin typeface="Times"/>
              </a:rPr>
              <a:t>. 1-bit is sufficient for each pixel/</a:t>
            </a:r>
          </a:p>
          <a:p>
            <a:pPr lvl="1"/>
            <a:r>
              <a:rPr lang="en-IN" sz="2000" dirty="0">
                <a:latin typeface="Times"/>
              </a:rPr>
              <a:t>2-bit pattern (00-Black and 11-White) for </a:t>
            </a:r>
            <a:r>
              <a:rPr lang="en-IN" sz="2000" b="1" dirty="0">
                <a:latin typeface="Times"/>
              </a:rPr>
              <a:t>BW images </a:t>
            </a:r>
            <a:r>
              <a:rPr lang="en-IN" sz="2000" dirty="0">
                <a:latin typeface="Times"/>
              </a:rPr>
              <a:t>and RGB/CMY/HSV for </a:t>
            </a:r>
            <a:r>
              <a:rPr lang="en-IN" sz="2000" b="1" dirty="0">
                <a:latin typeface="Times"/>
              </a:rPr>
              <a:t>coloured images</a:t>
            </a:r>
            <a:r>
              <a:rPr lang="en-IN" sz="1800" dirty="0">
                <a:latin typeface="Times"/>
              </a:rPr>
              <a:t>.</a:t>
            </a:r>
          </a:p>
          <a:p>
            <a:pPr lvl="1"/>
            <a:endParaRPr lang="en-US" sz="2400" b="1" u="sng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r>
              <a:rPr lang="en-US" sz="2400" b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Audio</a:t>
            </a:r>
            <a:r>
              <a:rPr lang="en-US" dirty="0"/>
              <a:t>:</a:t>
            </a:r>
          </a:p>
          <a:p>
            <a:pPr lvl="1"/>
            <a:r>
              <a:rPr lang="en-IN" sz="2000" dirty="0">
                <a:latin typeface="Times"/>
              </a:rPr>
              <a:t>Audio refers to the recording or broadcasting of sound or music. </a:t>
            </a:r>
          </a:p>
          <a:p>
            <a:pPr lvl="1"/>
            <a:r>
              <a:rPr lang="en-IN" sz="2000" dirty="0">
                <a:latin typeface="Times"/>
              </a:rPr>
              <a:t>It is </a:t>
            </a:r>
            <a:r>
              <a:rPr lang="en-IN" sz="2000" b="1" dirty="0">
                <a:latin typeface="Times"/>
              </a:rPr>
              <a:t>continuous</a:t>
            </a:r>
            <a:r>
              <a:rPr lang="en-IN" sz="2000" dirty="0">
                <a:latin typeface="Times"/>
              </a:rPr>
              <a:t>, not discrete. </a:t>
            </a:r>
          </a:p>
          <a:p>
            <a:endParaRPr lang="en-US" sz="2400" b="1" u="sng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r>
              <a:rPr lang="en-US" sz="2400" b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Video</a:t>
            </a:r>
            <a:r>
              <a:rPr lang="en-US" dirty="0"/>
              <a:t>:</a:t>
            </a:r>
          </a:p>
          <a:p>
            <a:pPr lvl="1"/>
            <a:r>
              <a:rPr lang="en-IN" sz="2000" dirty="0">
                <a:latin typeface="Times"/>
              </a:rPr>
              <a:t>Video refers to the </a:t>
            </a:r>
            <a:r>
              <a:rPr lang="en-IN" sz="2000" b="1" dirty="0">
                <a:latin typeface="Times"/>
              </a:rPr>
              <a:t>recording or broadcasting </a:t>
            </a:r>
            <a:r>
              <a:rPr lang="en-IN" sz="2000" dirty="0">
                <a:latin typeface="Times"/>
              </a:rPr>
              <a:t>of a picture or movie. </a:t>
            </a:r>
          </a:p>
          <a:p>
            <a:pPr lvl="1"/>
            <a:r>
              <a:rPr lang="en-IN" sz="2000" dirty="0">
                <a:latin typeface="Times"/>
              </a:rPr>
              <a:t>Video can either be produced as a </a:t>
            </a:r>
            <a:r>
              <a:rPr lang="en-IN" sz="2000" b="1" dirty="0">
                <a:latin typeface="Times"/>
              </a:rPr>
              <a:t>continuous entity</a:t>
            </a:r>
            <a:r>
              <a:rPr lang="en-IN" sz="2000" dirty="0">
                <a:latin typeface="Times"/>
              </a:rPr>
              <a:t>, or it can be a combination of images</a:t>
            </a:r>
            <a:r>
              <a:rPr lang="en-IN" sz="1800" dirty="0">
                <a:latin typeface="Times"/>
              </a:rPr>
              <a:t>.</a:t>
            </a:r>
          </a:p>
          <a:p>
            <a:endParaRPr lang="en-US" dirty="0"/>
          </a:p>
        </p:txBody>
      </p:sp>
      <p:pic>
        <p:nvPicPr>
          <p:cNvPr id="2050" name="Picture 2" descr="Noisy, analogue waveform in TikZ">
            <a:extLst>
              <a:ext uri="{FF2B5EF4-FFF2-40B4-BE49-F238E27FC236}">
                <a16:creationId xmlns:a16="http://schemas.microsoft.com/office/drawing/2014/main" id="{810FCA55-4A07-4E7B-9940-35B46CFB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6146" y="3256061"/>
            <a:ext cx="2611863" cy="149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 Guide to Personalized Emails with Individual Videos and GIFs">
            <a:extLst>
              <a:ext uri="{FF2B5EF4-FFF2-40B4-BE49-F238E27FC236}">
                <a16:creationId xmlns:a16="http://schemas.microsoft.com/office/drawing/2014/main" id="{A99A2C84-C368-7233-A2E4-5D7990735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1996" y="4743208"/>
            <a:ext cx="2008348" cy="1165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462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F8A19-B2AA-FCF1-6EA5-0DB874DC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Network Communication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1EF40-DA4E-6148-9E75-C0341F0C9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In computer networks, communication occurs between entities in different systems.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However, two entities </a:t>
            </a:r>
            <a:r>
              <a:rPr lang="en-IN" sz="2200" b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cannot simply send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bit streams to each other and expect to be understood.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For communication to occur, the entities must </a:t>
            </a:r>
            <a:r>
              <a:rPr lang="en-IN" sz="2200" b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agree on a protocol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 protocol is a </a:t>
            </a:r>
            <a:r>
              <a:rPr lang="en-IN" sz="2200" b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set of rules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that govern data communications.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 protocol defines </a:t>
            </a:r>
            <a:r>
              <a:rPr lang="en-IN" sz="2200" b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what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is communicated, </a:t>
            </a:r>
            <a:r>
              <a:rPr lang="en-IN" sz="2200" b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how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it is communicated, and </a:t>
            </a:r>
            <a:r>
              <a:rPr lang="en-IN" sz="2200" b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when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it is communicated.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The key elements of a protocol are </a:t>
            </a:r>
            <a:r>
              <a:rPr lang="en-IN" sz="2200" b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syntax, semantics, and timing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815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F8A19-B2AA-FCF1-6EA5-0DB874DC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Network Communication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1EF40-DA4E-6148-9E75-C0341F0C9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2200" b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Syntax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: Structure or format of the data.</a:t>
            </a:r>
          </a:p>
          <a:p>
            <a:pPr algn="just"/>
            <a:r>
              <a:rPr lang="en-IN" sz="2200" b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Semantics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: Refers to the meaning of each section of bits. </a:t>
            </a:r>
          </a:p>
          <a:p>
            <a:pPr algn="just"/>
            <a:r>
              <a:rPr lang="en-IN" sz="2200" b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Timing: 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When data should be sent and how fast they can be sent. For example, if a sender produces data at 100 Mbps but the receiver can process data at only 1 Mbps, the transmission will overload the receiver and some data will be lost. 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algn="just"/>
            <a:endParaRPr lang="en-IN" sz="2200" b="1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algn="just"/>
            <a:endParaRPr lang="en-IN" sz="22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algn="just"/>
            <a:endParaRPr lang="en-IN" sz="22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3074" name="Picture 2" descr="UDP Protocol | User Datagram Protocol - javatpoint">
            <a:extLst>
              <a:ext uri="{FF2B5EF4-FFF2-40B4-BE49-F238E27FC236}">
                <a16:creationId xmlns:a16="http://schemas.microsoft.com/office/drawing/2014/main" id="{EADDBC13-059E-84EF-DF71-E405E0408D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9"/>
          <a:stretch/>
        </p:blipFill>
        <p:spPr bwMode="auto">
          <a:xfrm>
            <a:off x="1160584" y="4018776"/>
            <a:ext cx="4512408" cy="229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cheduling and Policing mechanisms for Providing QoS Guarantees">
            <a:extLst>
              <a:ext uri="{FF2B5EF4-FFF2-40B4-BE49-F238E27FC236}">
                <a16:creationId xmlns:a16="http://schemas.microsoft.com/office/drawing/2014/main" id="{7A4C30BD-30BF-4D7A-D01F-31CCF9F50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564" y="4669632"/>
            <a:ext cx="4959605" cy="1507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352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D1C25-4C90-A1AF-E854-0FF9CB84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Data Flow</a:t>
            </a:r>
          </a:p>
        </p:txBody>
      </p:sp>
      <p:pic>
        <p:nvPicPr>
          <p:cNvPr id="4098" name="Picture 2" descr="What is Data Transmission Modes? - The Study Genius">
            <a:extLst>
              <a:ext uri="{FF2B5EF4-FFF2-40B4-BE49-F238E27FC236}">
                <a16:creationId xmlns:a16="http://schemas.microsoft.com/office/drawing/2014/main" id="{39BC3BC8-1978-085A-EB67-1322F351AC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059" y="1158652"/>
            <a:ext cx="8273437" cy="4540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E032C1-1D16-8F20-7B2C-2723E043E49E}"/>
              </a:ext>
            </a:extLst>
          </p:cNvPr>
          <p:cNvSpPr/>
          <p:nvPr/>
        </p:nvSpPr>
        <p:spPr>
          <a:xfrm>
            <a:off x="6223190" y="2322368"/>
            <a:ext cx="1634836" cy="4802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Transmission Modes In Computer Networks | Simplex, Half Duplex &amp; Full Duplex  | Edifyclue.in">
            <a:extLst>
              <a:ext uri="{FF2B5EF4-FFF2-40B4-BE49-F238E27FC236}">
                <a16:creationId xmlns:a16="http://schemas.microsoft.com/office/drawing/2014/main" id="{02195E66-5985-447F-4BB9-2C548557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755" y="4441727"/>
            <a:ext cx="2594385" cy="194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11. Timing (cont'd) - Introduction to Data Communications">
            <a:extLst>
              <a:ext uri="{FF2B5EF4-FFF2-40B4-BE49-F238E27FC236}">
                <a16:creationId xmlns:a16="http://schemas.microsoft.com/office/drawing/2014/main" id="{FA422329-8FD6-1F56-1615-BF5E3BD90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1371" y="3489324"/>
            <a:ext cx="2929470" cy="655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Tech-Experts: Simplex, Half Duplex,Full Duplex">
            <a:extLst>
              <a:ext uri="{FF2B5EF4-FFF2-40B4-BE49-F238E27FC236}">
                <a16:creationId xmlns:a16="http://schemas.microsoft.com/office/drawing/2014/main" id="{A8FE710A-ED14-03C1-09FE-35EE12E92B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68"/>
          <a:stretch/>
        </p:blipFill>
        <p:spPr bwMode="auto">
          <a:xfrm>
            <a:off x="6223190" y="5707936"/>
            <a:ext cx="2939080" cy="914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57FCC5-3CBA-64F2-B0BA-7873F4A2A102}"/>
              </a:ext>
            </a:extLst>
          </p:cNvPr>
          <p:cNvSpPr txBox="1"/>
          <p:nvPr/>
        </p:nvSpPr>
        <p:spPr>
          <a:xfrm>
            <a:off x="7858026" y="3181547"/>
            <a:ext cx="1616927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Walkie-Talkie</a:t>
            </a:r>
          </a:p>
        </p:txBody>
      </p:sp>
    </p:spTree>
    <p:extLst>
      <p:ext uri="{BB962C8B-B14F-4D97-AF65-F5344CB8AC3E}">
        <p14:creationId xmlns:p14="http://schemas.microsoft.com/office/powerpoint/2010/main" val="3901794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BB81A-7198-6920-0EDD-AF12C30C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Network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BA240-8103-D756-0647-FA12AFAF8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endParaRPr lang="en-IN" sz="24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 network is a </a:t>
            </a: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set of devices </a:t>
            </a: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(often referred to as nodes) connected by communication links.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 node can be a computer, printer, or any other device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capable of sending and/or receiving</a:t>
            </a: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data generated by other nodes on the network.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Device can be a host or a connecting device, connected using 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wired or wireless </a:t>
            </a: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medium.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 network must be able to meet a certain number of criteria (</a:t>
            </a:r>
            <a:r>
              <a:rPr lang="en-IN" sz="2400" b="1" i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performance, reliability, and security</a:t>
            </a: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). </a:t>
            </a: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778D414C-1E01-27D0-143A-DAF5759D6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018" y="96876"/>
            <a:ext cx="4418617" cy="2963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1890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C06E-13FB-0DD2-91C4-FB40BC620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Network Criteria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EB63A-8876-17F1-A10B-02AEFEA33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08268"/>
          </a:xfrm>
        </p:spPr>
        <p:txBody>
          <a:bodyPr/>
          <a:lstStyle/>
          <a:p>
            <a:pPr algn="just"/>
            <a:r>
              <a:rPr lang="en-IN" sz="2400" b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Performance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Transit time, response time, number of users, type of transmission medium, capabilities of the connected hardware, efficiency of software, throughput, and delay.</a:t>
            </a:r>
          </a:p>
          <a:p>
            <a:pPr algn="just"/>
            <a:r>
              <a:rPr lang="en-IN" sz="2400" b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Reliability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Frequency of failure, time taken for a link to recover from a failure, network’s robustness in catastrophe.</a:t>
            </a:r>
          </a:p>
          <a:p>
            <a:pPr algn="just"/>
            <a:r>
              <a:rPr lang="en-IN" sz="2400" b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Security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Protecting data from unauthorized access, protecting data from damage and development, implementing policies and procedures for recovery from breaches and data losses.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393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262D-677F-64AF-9A2F-ACCCBE60E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Network: Physical Structures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5F698-07F3-EE0D-9835-6E32A831F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6" y="1484672"/>
            <a:ext cx="11172442" cy="5094548"/>
          </a:xfrm>
        </p:spPr>
        <p:txBody>
          <a:bodyPr>
            <a:normAutofit fontScale="92500"/>
          </a:bodyPr>
          <a:lstStyle/>
          <a:p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 network is two or more devices connected through links, so it must have some structure.</a:t>
            </a:r>
          </a:p>
          <a:p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Two types of connections</a:t>
            </a:r>
          </a:p>
          <a:p>
            <a:pPr lvl="1"/>
            <a:endParaRPr lang="en-IN" b="1" u="sng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lvl="1"/>
            <a:r>
              <a:rPr lang="en-IN" b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Point-to-point connection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Dedicated link between two devices; entire capacity is reserved for the two devices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Examples: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 leased line between two offices.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 direct fiber optic connection between two routers.</a:t>
            </a:r>
            <a:endParaRPr lang="en-IN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lvl="1"/>
            <a:endParaRPr lang="en-IN" b="1" u="sng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lvl="1"/>
            <a:r>
              <a:rPr lang="en-IN" b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Multipoint connection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More than two specific devices share same link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Channel capacity is shared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Examples: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 wireless access point serving multiple clients.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Satellite uplink transmitting to multiple ground stations.</a:t>
            </a:r>
            <a:endParaRPr lang="en-IN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7174" name="Picture 6" descr="Explanation of Network Topology Types">
            <a:extLst>
              <a:ext uri="{FF2B5EF4-FFF2-40B4-BE49-F238E27FC236}">
                <a16:creationId xmlns:a16="http://schemas.microsoft.com/office/drawing/2014/main" id="{FBE7E1F6-2705-49CA-3D29-C9B7A66AC3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61"/>
          <a:stretch/>
        </p:blipFill>
        <p:spPr bwMode="auto">
          <a:xfrm>
            <a:off x="8114527" y="3331699"/>
            <a:ext cx="3307730" cy="1155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Components of Computer Network | Computer network, What is computer,  Networking">
            <a:extLst>
              <a:ext uri="{FF2B5EF4-FFF2-40B4-BE49-F238E27FC236}">
                <a16:creationId xmlns:a16="http://schemas.microsoft.com/office/drawing/2014/main" id="{11F5EB8C-B41E-9D38-DA56-2DC09C539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362" y="4908595"/>
            <a:ext cx="3780060" cy="175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09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262D-677F-64AF-9A2F-ACCCBE60E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Network: Physical Topologies</a:t>
            </a:r>
            <a:endParaRPr lang="en-US" dirty="0"/>
          </a:p>
        </p:txBody>
      </p:sp>
      <p:pic>
        <p:nvPicPr>
          <p:cNvPr id="4" name="Picture 2" descr="Computer Network Topologies - javatpoint">
            <a:extLst>
              <a:ext uri="{FF2B5EF4-FFF2-40B4-BE49-F238E27FC236}">
                <a16:creationId xmlns:a16="http://schemas.microsoft.com/office/drawing/2014/main" id="{9E1801E4-8A11-B428-1726-98F71B07E0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841" y="3196462"/>
            <a:ext cx="5866313" cy="3148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1D0F42-4EE2-D327-0097-5B1B9BA60BED}"/>
              </a:ext>
            </a:extLst>
          </p:cNvPr>
          <p:cNvSpPr txBox="1"/>
          <p:nvPr/>
        </p:nvSpPr>
        <p:spPr>
          <a:xfrm>
            <a:off x="1237673" y="6581001"/>
            <a:ext cx="108619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/>
              <a:t>https://</a:t>
            </a:r>
            <a:r>
              <a:rPr lang="en-US" sz="1200" dirty="0" err="1"/>
              <a:t>static.javatpoint.com</a:t>
            </a:r>
            <a:r>
              <a:rPr lang="en-US" sz="1200" dirty="0"/>
              <a:t>/tutorial/computer-network/images/computer-network-</a:t>
            </a:r>
            <a:r>
              <a:rPr lang="en-US" sz="1200" dirty="0" err="1"/>
              <a:t>topologies.png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42082-963D-0BD7-9656-48927E36F34F}"/>
              </a:ext>
            </a:extLst>
          </p:cNvPr>
          <p:cNvSpPr txBox="1"/>
          <p:nvPr/>
        </p:nvSpPr>
        <p:spPr>
          <a:xfrm>
            <a:off x="955962" y="1759680"/>
            <a:ext cx="102800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Way the network is laid physically.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Geometric representation of the relationship of all links and linking devices (nodes) to one another.</a:t>
            </a:r>
          </a:p>
        </p:txBody>
      </p:sp>
    </p:spTree>
    <p:extLst>
      <p:ext uri="{BB962C8B-B14F-4D97-AF65-F5344CB8AC3E}">
        <p14:creationId xmlns:p14="http://schemas.microsoft.com/office/powerpoint/2010/main" val="3742234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262D-677F-64AF-9A2F-ACCCBE60E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Mesh Topology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1DB46-40D6-F039-85E8-FA47B4224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Dedicated</a:t>
            </a: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link to all nodes.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Number of physical links (if </a:t>
            </a:r>
            <a:r>
              <a:rPr lang="en-IN" sz="2400" b="1" i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n</a:t>
            </a: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nodes):</a:t>
            </a:r>
          </a:p>
          <a:p>
            <a:pPr lvl="1" algn="just"/>
            <a:r>
              <a:rPr lang="en-IN" b="1" i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n(n-1) </a:t>
            </a:r>
            <a:r>
              <a:rPr lang="en-IN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– if simplex mode (two links for up and down)</a:t>
            </a:r>
          </a:p>
          <a:p>
            <a:pPr lvl="1" algn="just"/>
            <a:r>
              <a:rPr lang="en-IN" b="1" i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n(n-1)/2</a:t>
            </a:r>
            <a:r>
              <a:rPr lang="en-IN" i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– if full-duplex mode</a:t>
            </a:r>
          </a:p>
          <a:p>
            <a:pPr algn="just"/>
            <a:r>
              <a:rPr lang="en-IN" sz="2400" i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Example</a:t>
            </a: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: Each telephone regional office is connected to every other regional office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AFA1B8-757D-1342-B6A3-836F2BA06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0408" y="3870470"/>
            <a:ext cx="3531183" cy="2622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8" name="Picture 2" descr="Karan Preet (kp482752) - Profile | Pinterest">
            <a:extLst>
              <a:ext uri="{FF2B5EF4-FFF2-40B4-BE49-F238E27FC236}">
                <a16:creationId xmlns:a16="http://schemas.microsoft.com/office/drawing/2014/main" id="{1F90E109-BD54-AB9B-34D4-C1B10BC39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2536" y="248003"/>
            <a:ext cx="3346605" cy="3043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5C9D61F-25DE-0F6F-F97A-C195741541B9}"/>
              </a:ext>
            </a:extLst>
          </p:cNvPr>
          <p:cNvSpPr/>
          <p:nvPr/>
        </p:nvSpPr>
        <p:spPr>
          <a:xfrm>
            <a:off x="7728605" y="147644"/>
            <a:ext cx="4258956" cy="733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58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262D-677F-64AF-9A2F-ACCCBE60E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Star Topology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1DB46-40D6-F039-85E8-FA47B4224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Each device has </a:t>
            </a:r>
            <a:r>
              <a:rPr lang="en-IN" sz="2400" b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dedicated</a:t>
            </a: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link with the central controller (hub).</a:t>
            </a:r>
          </a:p>
          <a:p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Does not allow direct traffic between devices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Controller relays the traffic.</a:t>
            </a:r>
          </a:p>
          <a:p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Its dependency on one single point.</a:t>
            </a:r>
          </a:p>
          <a:p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Example: LANs.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AC5643E5-8017-17DB-BCD9-FF87815F7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130" y="3995371"/>
            <a:ext cx="4056921" cy="2497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6" name="Picture 2" descr="Flaws in the 3 common Networking Topologies | by Ned Poplaski (CISSP) |  Medium">
            <a:extLst>
              <a:ext uri="{FF2B5EF4-FFF2-40B4-BE49-F238E27FC236}">
                <a16:creationId xmlns:a16="http://schemas.microsoft.com/office/drawing/2014/main" id="{8231060B-6874-B06A-B0AE-3B8CB1D9B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943" y="2834105"/>
            <a:ext cx="4338354" cy="3658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576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262D-677F-64AF-9A2F-ACCCBE60E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Bus Topology</a:t>
            </a:r>
            <a:endParaRPr lang="en-US" dirty="0"/>
          </a:p>
        </p:txBody>
      </p:sp>
      <p:pic>
        <p:nvPicPr>
          <p:cNvPr id="12290" name="Picture 2" descr="Flaws in the 3 common Networking Topologies | by Ned Poplaski (CISSP) |  Medium">
            <a:extLst>
              <a:ext uri="{FF2B5EF4-FFF2-40B4-BE49-F238E27FC236}">
                <a16:creationId xmlns:a16="http://schemas.microsoft.com/office/drawing/2014/main" id="{FCDC99BC-582E-9910-52D8-1A8542A5149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8105" y="129202"/>
            <a:ext cx="4165600" cy="261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E80AED-F006-07AD-5676-EB259AA6F89D}"/>
              </a:ext>
            </a:extLst>
          </p:cNvPr>
          <p:cNvSpPr txBox="1"/>
          <p:nvPr/>
        </p:nvSpPr>
        <p:spPr>
          <a:xfrm>
            <a:off x="608923" y="1926611"/>
            <a:ext cx="10291618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Multipoint</a:t>
            </a: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topology.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One long cable acts as a </a:t>
            </a:r>
            <a:r>
              <a:rPr lang="en-IN" sz="2400" b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backbone</a:t>
            </a: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to link all devices.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Nodes connected by </a:t>
            </a:r>
            <a:r>
              <a:rPr lang="en-IN" sz="2400" b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drop lines </a:t>
            </a: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and</a:t>
            </a:r>
            <a:r>
              <a:rPr lang="en-IN" sz="2400" b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taps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i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Drop line </a:t>
            </a:r>
            <a:r>
              <a:rPr lang="en-IN" sz="20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is connected between main line and node.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i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Tap</a:t>
            </a:r>
            <a:r>
              <a:rPr lang="en-IN" sz="20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is a connector that splices or punctures into main cable to create contact with the metallic core.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Difficult to reconnect and manage faulty installation.</a:t>
            </a: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FF3466E1-9F62-5277-D6AC-621321C0D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475" y="4862733"/>
            <a:ext cx="9149920" cy="1630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8616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262D-677F-64AF-9A2F-ACCCBE60E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Ring Topology</a:t>
            </a:r>
            <a:endParaRPr lang="en-US" dirty="0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DC9FD52D-1606-1CCA-B68D-B13F18C13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560" y="3950080"/>
            <a:ext cx="6188880" cy="2302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75FB0-2768-1DDF-896F-5BFD35CF9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37" y="1900975"/>
            <a:ext cx="8235627" cy="4351338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Each device has a dedicated point-to-point connection with only two devices on either side of it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When a device receives a signal intended for another device, its repeater regenerates bits and passes them along.</a:t>
            </a:r>
          </a:p>
        </p:txBody>
      </p:sp>
      <p:pic>
        <p:nvPicPr>
          <p:cNvPr id="18434" name="Picture 2" descr="Token Ring and Token Bus Working Animation - Inst Tools">
            <a:extLst>
              <a:ext uri="{FF2B5EF4-FFF2-40B4-BE49-F238E27FC236}">
                <a16:creationId xmlns:a16="http://schemas.microsoft.com/office/drawing/2014/main" id="{712F7D02-D310-5515-C353-31B4DD03E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8605" y="129202"/>
            <a:ext cx="2824356" cy="301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246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262D-677F-64AF-9A2F-ACCCBE60E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Hybrid Topology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75FB0-2768-1DDF-896F-5BFD35CF9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37" y="1900975"/>
            <a:ext cx="10738681" cy="2190734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 network can be hybrid. For example, we can have a main star topology with each branch connecting several stations in a bus topology.</a:t>
            </a: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5690D200-E0C6-AE1B-ABB4-CCAD2E94F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461" y="3268638"/>
            <a:ext cx="4688675" cy="2825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2" name="Picture 2" descr="What is Hybrid Topology - javatpoint">
            <a:extLst>
              <a:ext uri="{FF2B5EF4-FFF2-40B4-BE49-F238E27FC236}">
                <a16:creationId xmlns:a16="http://schemas.microsoft.com/office/drawing/2014/main" id="{8FD97A6F-10B1-4000-6F80-47F42861E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126" y="3048201"/>
            <a:ext cx="5212016" cy="3266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0097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C68B9-6671-837B-3D48-2491A72F5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Tree Topology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0D0F8-460C-6CD0-FFE2-550D96CC1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8205" cy="4351338"/>
          </a:xfrm>
        </p:spPr>
        <p:txBody>
          <a:bodyPr>
            <a:norm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 tree topology is a sort of structure in which each node is related to the others in a </a:t>
            </a:r>
            <a:r>
              <a:rPr lang="en-IN" sz="2200" b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hierarchy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Sometimes it is also called hierarchical topology as in this topology, all elements are arranged like the branches of a tree.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Tree topologies are commonly used to arrange data in </a:t>
            </a:r>
            <a:r>
              <a:rPr lang="en-IN" sz="2200" b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databases and workstations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in corporate networks.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Tree topology, can be viewed as a collection of star networks arranged in a hierarchy.</a:t>
            </a:r>
            <a:endParaRPr lang="en-US" sz="22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</p:txBody>
      </p:sp>
      <p:pic>
        <p:nvPicPr>
          <p:cNvPr id="1026" name="Picture 2" descr="Implementation of Tree Topology in Cisco - GeeksforGeeks">
            <a:extLst>
              <a:ext uri="{FF2B5EF4-FFF2-40B4-BE49-F238E27FC236}">
                <a16:creationId xmlns:a16="http://schemas.microsoft.com/office/drawing/2014/main" id="{A09B2C84-3B5C-7ED7-C059-188E82E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414" y="1465729"/>
            <a:ext cx="5632586" cy="3926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49168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8A98-99F5-0BD6-B5A7-77BD8AAF4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Biome" panose="020B0503030204020804" pitchFamily="34" charset="0"/>
                <a:cs typeface="Biome" panose="020B0503030204020804" pitchFamily="34" charset="0"/>
              </a:rPr>
              <a:t>Categories of Networks </a:t>
            </a:r>
            <a:endParaRPr lang="en-US" b="1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pic>
        <p:nvPicPr>
          <p:cNvPr id="2050" name="Picture 2" descr="Different types of network- PAN, LAN, MAN, WAN - The Study Genius">
            <a:extLst>
              <a:ext uri="{FF2B5EF4-FFF2-40B4-BE49-F238E27FC236}">
                <a16:creationId xmlns:a16="http://schemas.microsoft.com/office/drawing/2014/main" id="{D4D82287-BAA5-7A7E-86B5-F73B10D9C6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3390" y="2398549"/>
            <a:ext cx="5625220" cy="265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835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BCD45-2780-54D1-E392-32CCA9238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Personal Area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E72C7-C4F8-18B5-6EB9-0D8228C48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It is a network which connects devices within small range typically on the order of 10 to 100 meters.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It involves a computer, phone, tablet, printer, PDA (Personal Digital Assistant) and other and other entertainment devices like speakers, video game consoles, etc. </a:t>
            </a:r>
          </a:p>
          <a:p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PAN is relatively flexible and provides high efficiency for short network ranges.</a:t>
            </a:r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4821F88-75E4-ABB4-8D88-1305D5A7E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612" y="3851796"/>
            <a:ext cx="4840776" cy="2843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9821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D554-2334-7210-97D9-5B8830D07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Local Area Network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CB26E-49E7-6C43-4302-FAA360F0F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Covers a </a:t>
            </a:r>
            <a:r>
              <a:rPr lang="en-IN" sz="2200" b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small region</a:t>
            </a:r>
            <a:r>
              <a:rPr lang="en-IN" sz="2200" b="1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of space, typically a single building.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The simplest form of LAN is to connect two computers together.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LAN is operated within a </a:t>
            </a:r>
            <a:r>
              <a:rPr lang="en-IN" sz="2200" b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limited physical area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such as at home, school, a single building or several buildings.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 network which consists of less than 500 interconnected devices across several buildings.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LAN is very </a:t>
            </a:r>
            <a:r>
              <a:rPr lang="en-IN" sz="2200" b="1" u="sng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high-speed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 network.</a:t>
            </a:r>
            <a:endParaRPr lang="en-US" sz="22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</p:txBody>
      </p:sp>
      <p:pic>
        <p:nvPicPr>
          <p:cNvPr id="3074" name="Picture 2" descr="Local Area Networks">
            <a:extLst>
              <a:ext uri="{FF2B5EF4-FFF2-40B4-BE49-F238E27FC236}">
                <a16:creationId xmlns:a16="http://schemas.microsoft.com/office/drawing/2014/main" id="{1A95024C-5954-79BC-A106-F4AC3B85D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109" y="1926881"/>
            <a:ext cx="5257417" cy="3004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5869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D554-2334-7210-97D9-5B8830D07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Metropolitan Area Network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CB26E-49E7-6C43-4302-FAA360F0F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12566" cy="4351338"/>
          </a:xfrm>
        </p:spPr>
        <p:txBody>
          <a:bodyPr/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The Metropolitan Area Network (MAN) is a network type that covers the network connection of an entire city or connection of a small area.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Collection of LANs with the same geographical area, for instance a city.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The area covered by the network is connected using a wired network, like data cables.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MAN often acts as a high speed network (although not as fast as LAN) to allow sharing of regional resources.</a:t>
            </a:r>
          </a:p>
        </p:txBody>
      </p:sp>
      <p:pic>
        <p:nvPicPr>
          <p:cNvPr id="5124" name="Picture 4" descr="Types_of_Networks_4">
            <a:extLst>
              <a:ext uri="{FF2B5EF4-FFF2-40B4-BE49-F238E27FC236}">
                <a16:creationId xmlns:a16="http://schemas.microsoft.com/office/drawing/2014/main" id="{57786E65-ABAE-AD63-BDC2-F4951D324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602" y="4307595"/>
            <a:ext cx="9110795" cy="2277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6563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D554-2334-7210-97D9-5B8830D07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Wide Area Network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CB26E-49E7-6C43-4302-FAA360F0F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588760" cy="4900295"/>
          </a:xfrm>
        </p:spPr>
        <p:txBody>
          <a:bodyPr>
            <a:norm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 network that covers a </a:t>
            </a:r>
            <a:r>
              <a:rPr lang="en-IN" sz="2200" b="1" dirty="0">
                <a:solidFill>
                  <a:srgbClr val="00B0F0"/>
                </a:solidFill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large geographical 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area comprising a region, a country, a continent or even the whole world.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WAN includes the technologies to transmit data over long distances and among different LANs and MANs.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Communication links are provided by </a:t>
            </a:r>
            <a:r>
              <a:rPr lang="en-IN" sz="2200" b="1" dirty="0">
                <a:solidFill>
                  <a:srgbClr val="0070C0"/>
                </a:solidFill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public carriers 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like telephone networks, network providers, cable systems, satellites etc.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They generally have a 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higher bit error rate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.  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Typically, they have </a:t>
            </a:r>
            <a:r>
              <a:rPr lang="en-IN" sz="2200" b="1" dirty="0">
                <a:solidFill>
                  <a:srgbClr val="00B050"/>
                </a:solidFill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low data transfer rate 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and </a:t>
            </a:r>
            <a:r>
              <a:rPr lang="en-IN" sz="2200" b="1" dirty="0">
                <a:solidFill>
                  <a:srgbClr val="C00000"/>
                </a:solidFill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high propagation delay</a:t>
            </a:r>
            <a:r>
              <a:rPr lang="en-IN" sz="2200" dirty="0">
                <a:latin typeface="Times New Roman" panose="02020603050405020304" pitchFamily="18" charset="0"/>
                <a:ea typeface="Ayuthaya" pitchFamily="2" charset="-34"/>
                <a:cs typeface="Times New Roman" panose="02020603050405020304" pitchFamily="18" charset="0"/>
              </a:rPr>
              <a:t>, i.e., they have low communication speed.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ea typeface="Ayuthaya" pitchFamily="2" charset="-34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E954E9C-8BD9-CC7E-1E8F-13ABEAAD7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869" y="2533650"/>
            <a:ext cx="3935892" cy="2776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5308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26D7E-F0AD-1E26-A5A8-11F99DAB3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Example: 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90E50364-134C-CEDD-8AD0-0F4715924D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88524" y="346646"/>
            <a:ext cx="6418856" cy="598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1638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Biome" panose="020B0503030204020804" pitchFamily="34" charset="0"/>
                <a:cs typeface="Biome" panose="020B0503030204020804" pitchFamily="34" charset="0"/>
              </a:rPr>
              <a:t>Switching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connects at least 2 links together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forwards data from one network segment to another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switched network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switched network</a:t>
            </a:r>
          </a:p>
        </p:txBody>
      </p:sp>
    </p:spTree>
    <p:extLst>
      <p:ext uri="{BB962C8B-B14F-4D97-AF65-F5344CB8AC3E}">
        <p14:creationId xmlns:p14="http://schemas.microsoft.com/office/powerpoint/2010/main" val="37591212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latin typeface="Biome" panose="020B0503030204020804" pitchFamily="34" charset="0"/>
                <a:cs typeface="Biome" panose="020B0503030204020804" pitchFamily="34" charset="0"/>
              </a:rPr>
              <a:t>Switching </a:t>
            </a:r>
            <a:br>
              <a:rPr lang="en-IN" b="1" dirty="0">
                <a:latin typeface="Biome" panose="020B0503030204020804" pitchFamily="34" charset="0"/>
                <a:cs typeface="Biome" panose="020B0503030204020804" pitchFamily="34" charset="0"/>
              </a:rPr>
            </a:br>
            <a:r>
              <a:rPr lang="en-IN" sz="3200" b="1" dirty="0">
                <a:latin typeface="Biome" panose="020B0503030204020804" pitchFamily="34" charset="0"/>
                <a:cs typeface="Biome" panose="020B0503030204020804" pitchFamily="34" charset="0"/>
              </a:rPr>
              <a:t>Circuit Switched network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0866" y="2820941"/>
            <a:ext cx="6799262" cy="21663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00866" y="5215944"/>
            <a:ext cx="6898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Switch does not have storing capability; it only forwards</a:t>
            </a:r>
          </a:p>
        </p:txBody>
      </p:sp>
    </p:spTree>
    <p:extLst>
      <p:ext uri="{BB962C8B-B14F-4D97-AF65-F5344CB8AC3E}">
        <p14:creationId xmlns:p14="http://schemas.microsoft.com/office/powerpoint/2010/main" val="8673029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latin typeface="Biome" panose="020B0503030204020804" pitchFamily="34" charset="0"/>
                <a:cs typeface="Biome" panose="020B0503030204020804" pitchFamily="34" charset="0"/>
              </a:rPr>
              <a:t>Switching</a:t>
            </a:r>
            <a:br>
              <a:rPr lang="en-IN" b="1" dirty="0">
                <a:latin typeface="Biome" panose="020B0503030204020804" pitchFamily="34" charset="0"/>
                <a:cs typeface="Biome" panose="020B0503030204020804" pitchFamily="34" charset="0"/>
              </a:rPr>
            </a:br>
            <a:r>
              <a:rPr lang="en-IN" sz="3200" b="1" dirty="0">
                <a:latin typeface="Biome" panose="020B0503030204020804" pitchFamily="34" charset="0"/>
                <a:cs typeface="Biome" panose="020B0503030204020804" pitchFamily="34" charset="0"/>
              </a:rPr>
              <a:t>Packet Switched network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796" y="2527547"/>
            <a:ext cx="7000875" cy="25241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00866" y="5360014"/>
            <a:ext cx="68998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Router is used for both storing and forwarding as the packet is an independent entity</a:t>
            </a:r>
          </a:p>
        </p:txBody>
      </p:sp>
    </p:spTree>
    <p:extLst>
      <p:ext uri="{BB962C8B-B14F-4D97-AF65-F5344CB8AC3E}">
        <p14:creationId xmlns:p14="http://schemas.microsoft.com/office/powerpoint/2010/main" val="6836481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7316" y="539760"/>
            <a:ext cx="6683765" cy="1280890"/>
          </a:xfrm>
        </p:spPr>
        <p:txBody>
          <a:bodyPr/>
          <a:lstStyle/>
          <a:p>
            <a:pPr algn="ctr"/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Internet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7805" y="2000575"/>
            <a:ext cx="10045995" cy="3777622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Internet is a collection of networks or network of networks. </a:t>
            </a:r>
          </a:p>
          <a:p>
            <a:pPr algn="just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Various networks such as LAN and WAN connected through suitable hardware and software to work in a seamless manner.</a:t>
            </a:r>
          </a:p>
          <a:p>
            <a:pPr algn="just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The basic difference between WAN and Internet is that WAN is owned by a single organization while internet is not so.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76B6B-693C-40C8-9FEB-5B265A407E50}" type="datetime1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Introdction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8269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Biome" panose="020B0503030204020804" pitchFamily="34" charset="0"/>
                <a:cs typeface="Biome" panose="020B0503030204020804" pitchFamily="34" charset="0"/>
              </a:rPr>
              <a:t>Accessing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telephone networks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Dial-up Services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DSL Service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Cable Network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Wireless Networks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Connection to the Internet</a:t>
            </a:r>
          </a:p>
        </p:txBody>
      </p:sp>
    </p:spTree>
    <p:extLst>
      <p:ext uri="{BB962C8B-B14F-4D97-AF65-F5344CB8AC3E}">
        <p14:creationId xmlns:p14="http://schemas.microsoft.com/office/powerpoint/2010/main" val="17599495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63514" y="1960200"/>
            <a:ext cx="9064971" cy="1468800"/>
          </a:xfrm>
        </p:spPr>
        <p:txBody>
          <a:bodyPr>
            <a:normAutofit/>
          </a:bodyPr>
          <a:lstStyle/>
          <a:p>
            <a:pPr algn="ctr"/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Questions!!!</a:t>
            </a:r>
          </a:p>
        </p:txBody>
      </p:sp>
    </p:spTree>
    <p:extLst>
      <p:ext uri="{BB962C8B-B14F-4D97-AF65-F5344CB8AC3E}">
        <p14:creationId xmlns:p14="http://schemas.microsoft.com/office/powerpoint/2010/main" val="3023623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2286</TotalTime>
  <Words>1686</Words>
  <Application>Microsoft Office PowerPoint</Application>
  <PresentationFormat>Widescreen</PresentationFormat>
  <Paragraphs>187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Biome</vt:lpstr>
      <vt:lpstr>Calibri</vt:lpstr>
      <vt:lpstr>Calibri Light</vt:lpstr>
      <vt:lpstr>Times</vt:lpstr>
      <vt:lpstr>Times New Roman</vt:lpstr>
      <vt:lpstr>Office Theme</vt:lpstr>
      <vt:lpstr>Data Communication</vt:lpstr>
      <vt:lpstr>Contents</vt:lpstr>
      <vt:lpstr>Introduction</vt:lpstr>
      <vt:lpstr>Introduction</vt:lpstr>
      <vt:lpstr>Introduction Contd..</vt:lpstr>
      <vt:lpstr>DC/Network Components</vt:lpstr>
      <vt:lpstr>Data Representation</vt:lpstr>
      <vt:lpstr>Data Representation</vt:lpstr>
      <vt:lpstr>Network Communication Protocols</vt:lpstr>
      <vt:lpstr>Network Communication Protocols</vt:lpstr>
      <vt:lpstr>Data Flow</vt:lpstr>
      <vt:lpstr>Network</vt:lpstr>
      <vt:lpstr>Network Criteria</vt:lpstr>
      <vt:lpstr>Network: Physical Structures</vt:lpstr>
      <vt:lpstr>Network: Physical Topologies</vt:lpstr>
      <vt:lpstr>Mesh Topology</vt:lpstr>
      <vt:lpstr>Star Topology</vt:lpstr>
      <vt:lpstr>Bus Topology</vt:lpstr>
      <vt:lpstr>Ring Topology</vt:lpstr>
      <vt:lpstr>Hybrid Topology</vt:lpstr>
      <vt:lpstr>Tree Topology</vt:lpstr>
      <vt:lpstr>Categories of Networks </vt:lpstr>
      <vt:lpstr>Personal Area Network</vt:lpstr>
      <vt:lpstr>Local Area Network </vt:lpstr>
      <vt:lpstr>Metropolitan Area Network </vt:lpstr>
      <vt:lpstr>Wide Area Network </vt:lpstr>
      <vt:lpstr>Example: </vt:lpstr>
      <vt:lpstr>Switching</vt:lpstr>
      <vt:lpstr>Switching  Circuit Switched network</vt:lpstr>
      <vt:lpstr>Switching Packet Switched network</vt:lpstr>
      <vt:lpstr>Internet </vt:lpstr>
      <vt:lpstr>Accessing Internet</vt:lpstr>
      <vt:lpstr>Questions!!!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Communications</dc:title>
  <dc:creator>Puneet Kumar</dc:creator>
  <cp:lastModifiedBy>Vijay Ukani</cp:lastModifiedBy>
  <cp:revision>286</cp:revision>
  <dcterms:created xsi:type="dcterms:W3CDTF">2022-11-24T13:29:55Z</dcterms:created>
  <dcterms:modified xsi:type="dcterms:W3CDTF">2026-01-05T04:55:33Z</dcterms:modified>
</cp:coreProperties>
</file>
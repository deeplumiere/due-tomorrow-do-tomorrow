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4" r:id="rId1"/>
  </p:sldMasterIdLst>
  <p:sldIdLst>
    <p:sldId id="256" r:id="rId2"/>
    <p:sldId id="258" r:id="rId3"/>
    <p:sldId id="257" r:id="rId4"/>
    <p:sldId id="259" r:id="rId5"/>
    <p:sldId id="263" r:id="rId6"/>
    <p:sldId id="350" r:id="rId7"/>
    <p:sldId id="264" r:id="rId8"/>
    <p:sldId id="265" r:id="rId9"/>
    <p:sldId id="266" r:id="rId10"/>
    <p:sldId id="348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349" r:id="rId19"/>
    <p:sldId id="275" r:id="rId20"/>
    <p:sldId id="276" r:id="rId21"/>
    <p:sldId id="277" r:id="rId22"/>
    <p:sldId id="278" r:id="rId23"/>
    <p:sldId id="279" r:id="rId24"/>
    <p:sldId id="356" r:id="rId25"/>
    <p:sldId id="357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3" r:id="rId39"/>
    <p:sldId id="294" r:id="rId40"/>
    <p:sldId id="351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5" r:id="rId51"/>
    <p:sldId id="304" r:id="rId52"/>
    <p:sldId id="306" r:id="rId53"/>
    <p:sldId id="307" r:id="rId54"/>
    <p:sldId id="308" r:id="rId55"/>
    <p:sldId id="309" r:id="rId56"/>
    <p:sldId id="310" r:id="rId57"/>
    <p:sldId id="311" r:id="rId58"/>
    <p:sldId id="260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52" r:id="rId69"/>
    <p:sldId id="321" r:id="rId70"/>
    <p:sldId id="322" r:id="rId71"/>
    <p:sldId id="325" r:id="rId72"/>
    <p:sldId id="323" r:id="rId73"/>
    <p:sldId id="324" r:id="rId74"/>
    <p:sldId id="326" r:id="rId75"/>
    <p:sldId id="327" r:id="rId76"/>
    <p:sldId id="353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55" r:id="rId86"/>
    <p:sldId id="336" r:id="rId87"/>
    <p:sldId id="354" r:id="rId88"/>
    <p:sldId id="261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262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11C3A0-2656-4BB9-9D60-09C342C5F5C3}">
          <p14:sldIdLst>
            <p14:sldId id="256"/>
            <p14:sldId id="258"/>
            <p14:sldId id="257"/>
            <p14:sldId id="259"/>
            <p14:sldId id="263"/>
            <p14:sldId id="350"/>
            <p14:sldId id="264"/>
            <p14:sldId id="265"/>
            <p14:sldId id="266"/>
            <p14:sldId id="348"/>
            <p14:sldId id="268"/>
            <p14:sldId id="269"/>
            <p14:sldId id="270"/>
            <p14:sldId id="271"/>
            <p14:sldId id="272"/>
            <p14:sldId id="273"/>
            <p14:sldId id="274"/>
            <p14:sldId id="349"/>
            <p14:sldId id="275"/>
            <p14:sldId id="276"/>
            <p14:sldId id="277"/>
            <p14:sldId id="278"/>
            <p14:sldId id="279"/>
            <p14:sldId id="356"/>
            <p14:sldId id="357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3"/>
            <p14:sldId id="294"/>
            <p14:sldId id="351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5"/>
            <p14:sldId id="304"/>
            <p14:sldId id="306"/>
            <p14:sldId id="307"/>
            <p14:sldId id="308"/>
            <p14:sldId id="309"/>
            <p14:sldId id="310"/>
            <p14:sldId id="311"/>
            <p14:sldId id="260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52"/>
            <p14:sldId id="321"/>
            <p14:sldId id="322"/>
            <p14:sldId id="325"/>
            <p14:sldId id="323"/>
            <p14:sldId id="324"/>
            <p14:sldId id="326"/>
            <p14:sldId id="327"/>
            <p14:sldId id="353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55"/>
            <p14:sldId id="336"/>
            <p14:sldId id="354"/>
            <p14:sldId id="261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4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8E5B-0D98-4FE1-9B26-D1041E3A89F9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52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C2DCB-466C-4061-8D51-D3254DD77FA1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03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357F-39F6-401C-9FF8-3072724998F3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43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B09B-D413-414E-B13F-B1984CD8FF65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64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F992-55E7-4B2D-A6F1-8C9243CBFE1B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807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8110-BAA6-4256-A2E5-BB66A47D2616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3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3892-3343-4E4E-B81B-70A099359AD2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87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00232F85-D33A-46AF-9088-5A7400C1018E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0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A624-F501-46A9-B8CA-4949E24E27C8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89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59CD-DA3A-463F-AFEF-A68838A6859B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86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A925-E007-46C2-84AB-35EE10DCAD39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C4D3C1-679D-44D8-8A9C-D402CE4EF569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05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Nftf5qLpiA" TargetMode="External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575" y="2135923"/>
            <a:ext cx="6801440" cy="1943100"/>
          </a:xfrm>
        </p:spPr>
        <p:txBody>
          <a:bodyPr>
            <a:normAutofit fontScale="90000"/>
          </a:bodyPr>
          <a:lstStyle/>
          <a:p>
            <a:r>
              <a:rPr lang="en-IN" dirty="0"/>
              <a:t>Digital transmission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745338"/>
            <a:ext cx="6803136" cy="1120461"/>
          </a:xfrm>
        </p:spPr>
        <p:txBody>
          <a:bodyPr>
            <a:noAutofit/>
          </a:bodyPr>
          <a:lstStyle/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1973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Digital Data to Digital Signal Conversion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Analog Data to Digital Signal Conversion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Transmission Modes </a:t>
            </a:r>
            <a:r>
              <a:rPr lang="en-IN" sz="2400" dirty="0"/>
              <a:t>(Serial and Parallel Transmission)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6656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15967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Information needs to be converted into either a digital signal or an </a:t>
            </a:r>
            <a:r>
              <a:rPr lang="en-IN" dirty="0" err="1"/>
              <a:t>analog</a:t>
            </a:r>
            <a:r>
              <a:rPr lang="en-IN" dirty="0"/>
              <a:t> signal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Focus on schemes and techniques for digital transmission i.e. where signal elements are digital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Digital to Digital Conversion: Converting Digital Data into Digital Signals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err="1"/>
              <a:t>Analog</a:t>
            </a:r>
            <a:r>
              <a:rPr lang="en-IN" dirty="0"/>
              <a:t> to Digital Conversion: Changing </a:t>
            </a:r>
            <a:r>
              <a:rPr lang="en-IN" dirty="0" err="1"/>
              <a:t>Analog</a:t>
            </a:r>
            <a:r>
              <a:rPr lang="en-IN" dirty="0"/>
              <a:t> signal into digital signal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Transmission Modes: Deciding Serial or Parallel Transmission of data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367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71575" y="1094705"/>
            <a:ext cx="6801440" cy="1004552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Digital-to-Digital Conversion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69879" y="2768958"/>
            <a:ext cx="6803136" cy="1707686"/>
          </a:xfrm>
        </p:spPr>
        <p:txBody>
          <a:bodyPr>
            <a:normAutofit/>
          </a:bodyPr>
          <a:lstStyle/>
          <a:p>
            <a:r>
              <a:rPr lang="en-IN" sz="2400" dirty="0"/>
              <a:t>Line Coding</a:t>
            </a:r>
            <a:br>
              <a:rPr lang="en-IN" sz="2400" dirty="0"/>
            </a:br>
            <a:r>
              <a:rPr lang="en-IN" sz="2400" dirty="0"/>
              <a:t>Line Coding Schemes</a:t>
            </a:r>
            <a:br>
              <a:rPr lang="en-IN" sz="2400" dirty="0"/>
            </a:br>
            <a:r>
              <a:rPr lang="en-IN" sz="2400" dirty="0"/>
              <a:t>Block Coding</a:t>
            </a:r>
            <a:br>
              <a:rPr lang="en-IN" sz="2400" dirty="0"/>
            </a:br>
            <a:r>
              <a:rPr lang="en-IN" sz="2400" dirty="0"/>
              <a:t>Scrambling</a:t>
            </a:r>
          </a:p>
        </p:txBody>
      </p:sp>
    </p:spTree>
    <p:extLst>
      <p:ext uri="{BB962C8B-B14F-4D97-AF65-F5344CB8AC3E}">
        <p14:creationId xmlns:p14="http://schemas.microsoft.com/office/powerpoint/2010/main" val="358432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 simple coding of binary signal is high voltage level for bit ‘1’ and low voltage level for bit ‘0’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Several bit patterns like long sequence of 1s or 0s lead to generation of signal which is difficult for receiver to interpret.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Apart from this the receiver suffers from several other issues like Baseline-wandering, DC Component, and synchronization due to such data patterns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Line coding techniques are sophisticated methods to generate signal element which produces patterns which deals with above mentioned problems.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65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3417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Process of converting digital data (in bits) to digital signals is called the Line Coding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2700355"/>
            <a:ext cx="8775700" cy="268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04808" y="5487471"/>
            <a:ext cx="570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Line Coding and Decoding</a:t>
            </a:r>
          </a:p>
        </p:txBody>
      </p:sp>
    </p:spTree>
    <p:extLst>
      <p:ext uri="{BB962C8B-B14F-4D97-AF65-F5344CB8AC3E}">
        <p14:creationId xmlns:p14="http://schemas.microsoft.com/office/powerpoint/2010/main" val="218738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82588"/>
            <a:ext cx="8152504" cy="460836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</a:rPr>
              <a:t>Signal Element </a:t>
            </a:r>
            <a:r>
              <a:rPr lang="en-IN" sz="2800" dirty="0"/>
              <a:t>Versus </a:t>
            </a:r>
            <a:r>
              <a:rPr lang="en-IN" sz="2800" dirty="0">
                <a:solidFill>
                  <a:srgbClr val="FF0000"/>
                </a:solidFill>
              </a:rPr>
              <a:t>Data Element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</a:rPr>
              <a:t>Data element </a:t>
            </a:r>
            <a:r>
              <a:rPr lang="en-IN" sz="2400" dirty="0"/>
              <a:t>is the smallest entity that can represent a piece of information (this is the bit)</a:t>
            </a:r>
          </a:p>
          <a:p>
            <a:pPr lvl="1"/>
            <a:r>
              <a:rPr lang="en-IN" sz="2400" dirty="0">
                <a:solidFill>
                  <a:srgbClr val="00B050"/>
                </a:solidFill>
              </a:rPr>
              <a:t>Signal element </a:t>
            </a:r>
            <a:r>
              <a:rPr lang="en-IN" sz="2400" dirty="0"/>
              <a:t>carries data elements and is the shortest unit of a digital signal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</a:rPr>
              <a:t>Data</a:t>
            </a:r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elements</a:t>
            </a:r>
            <a:r>
              <a:rPr lang="en-IN" sz="2400" dirty="0"/>
              <a:t> </a:t>
            </a:r>
            <a:r>
              <a:rPr lang="en-US" sz="2400" dirty="0"/>
              <a:t>are what we want to send; </a:t>
            </a:r>
            <a:r>
              <a:rPr lang="en-IN" sz="2400" dirty="0">
                <a:solidFill>
                  <a:srgbClr val="00B050"/>
                </a:solidFill>
              </a:rPr>
              <a:t>Signal elements </a:t>
            </a:r>
            <a:r>
              <a:rPr lang="en-US" sz="2400" dirty="0"/>
              <a:t>are what we can send</a:t>
            </a:r>
          </a:p>
          <a:p>
            <a:pPr lvl="1"/>
            <a:r>
              <a:rPr lang="en-IN" sz="2400" dirty="0">
                <a:solidFill>
                  <a:srgbClr val="FF0000"/>
                </a:solidFill>
              </a:rPr>
              <a:t>Data</a:t>
            </a:r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elements</a:t>
            </a:r>
            <a:r>
              <a:rPr lang="en-IN" sz="2400" dirty="0"/>
              <a:t> are being carried</a:t>
            </a:r>
          </a:p>
          <a:p>
            <a:pPr lvl="1"/>
            <a:r>
              <a:rPr lang="en-IN" sz="2400" dirty="0">
                <a:solidFill>
                  <a:srgbClr val="00B050"/>
                </a:solidFill>
              </a:rPr>
              <a:t>Signal elements </a:t>
            </a:r>
            <a:r>
              <a:rPr lang="en-IN" sz="2400" dirty="0"/>
              <a:t>are the carriers</a:t>
            </a:r>
          </a:p>
          <a:p>
            <a:r>
              <a:rPr lang="en-IN" sz="2600" dirty="0"/>
              <a:t>Define ratio </a:t>
            </a:r>
            <a:r>
              <a:rPr lang="en-IN" sz="2600" i="1" dirty="0"/>
              <a:t>r </a:t>
            </a:r>
            <a:r>
              <a:rPr lang="en-IN" sz="2600" dirty="0"/>
              <a:t>as the number of </a:t>
            </a:r>
            <a:r>
              <a:rPr lang="en-IN" sz="2600" dirty="0">
                <a:solidFill>
                  <a:srgbClr val="FF0000"/>
                </a:solidFill>
              </a:rPr>
              <a:t>data elements </a:t>
            </a:r>
            <a:r>
              <a:rPr lang="en-IN" sz="2600" dirty="0"/>
              <a:t>carried by one </a:t>
            </a:r>
            <a:r>
              <a:rPr lang="en-IN" sz="2600" dirty="0">
                <a:solidFill>
                  <a:srgbClr val="00B050"/>
                </a:solidFill>
              </a:rPr>
              <a:t>signal element</a:t>
            </a:r>
            <a:endParaRPr lang="en-IN" sz="26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4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132" y="587066"/>
            <a:ext cx="6537102" cy="5233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77691" y="5988677"/>
            <a:ext cx="659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Signal Element Vs. Data Element</a:t>
            </a:r>
          </a:p>
        </p:txBody>
      </p:sp>
    </p:spTree>
    <p:extLst>
      <p:ext uri="{BB962C8B-B14F-4D97-AF65-F5344CB8AC3E}">
        <p14:creationId xmlns:p14="http://schemas.microsoft.com/office/powerpoint/2010/main" val="378442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0" dirty="0">
                <a:solidFill>
                  <a:srgbClr val="00B050"/>
                </a:solidFill>
              </a:rPr>
              <a:t>Data Rate </a:t>
            </a:r>
            <a:r>
              <a:rPr lang="en-IN" sz="2000" dirty="0"/>
              <a:t>Versus </a:t>
            </a:r>
            <a:r>
              <a:rPr lang="en-IN" sz="2000" dirty="0">
                <a:solidFill>
                  <a:srgbClr val="FF0000"/>
                </a:solidFill>
              </a:rPr>
              <a:t>Signal Rate</a:t>
            </a:r>
          </a:p>
          <a:p>
            <a:pPr lvl="1"/>
            <a:r>
              <a:rPr lang="en-IN" sz="1800" dirty="0">
                <a:solidFill>
                  <a:srgbClr val="00B050"/>
                </a:solidFill>
              </a:rPr>
              <a:t>Data rate </a:t>
            </a:r>
            <a:r>
              <a:rPr lang="en-IN" sz="1800" dirty="0"/>
              <a:t>defines number of data elements (bits) sent in 1 second (bps)</a:t>
            </a:r>
          </a:p>
          <a:p>
            <a:pPr lvl="1"/>
            <a:r>
              <a:rPr lang="en-IN" sz="1800" dirty="0">
                <a:solidFill>
                  <a:srgbClr val="FF0000"/>
                </a:solidFill>
              </a:rPr>
              <a:t>Signal rate </a:t>
            </a:r>
            <a:r>
              <a:rPr lang="en-IN" sz="1800" dirty="0"/>
              <a:t>is the number of signal elements sent in 1 second (baud)</a:t>
            </a:r>
          </a:p>
          <a:p>
            <a:pPr lvl="1"/>
            <a:r>
              <a:rPr lang="en-IN" sz="1800" dirty="0">
                <a:solidFill>
                  <a:srgbClr val="00B050"/>
                </a:solidFill>
              </a:rPr>
              <a:t>Data rate </a:t>
            </a:r>
            <a:r>
              <a:rPr lang="en-IN" sz="1800" dirty="0"/>
              <a:t>is also called bit rate </a:t>
            </a:r>
          </a:p>
          <a:p>
            <a:pPr lvl="1"/>
            <a:r>
              <a:rPr lang="en-IN" sz="1800" dirty="0">
                <a:solidFill>
                  <a:srgbClr val="FF0000"/>
                </a:solidFill>
              </a:rPr>
              <a:t>Signal rate </a:t>
            </a:r>
            <a:r>
              <a:rPr lang="en-IN" sz="1800" dirty="0"/>
              <a:t>is called a pulse rate or modulation rate or the baud rate</a:t>
            </a:r>
          </a:p>
          <a:p>
            <a:r>
              <a:rPr lang="en-IN" sz="2000" dirty="0"/>
              <a:t>Goal of the data communications is to increase </a:t>
            </a:r>
            <a:r>
              <a:rPr lang="en-IN" sz="2000" dirty="0">
                <a:solidFill>
                  <a:srgbClr val="00B050"/>
                </a:solidFill>
              </a:rPr>
              <a:t>data rate </a:t>
            </a:r>
            <a:r>
              <a:rPr lang="en-IN" sz="2000" dirty="0"/>
              <a:t>while decreasing </a:t>
            </a:r>
            <a:r>
              <a:rPr lang="en-IN" sz="2000" dirty="0">
                <a:solidFill>
                  <a:srgbClr val="FF0000"/>
                </a:solidFill>
              </a:rPr>
              <a:t>signal rate</a:t>
            </a:r>
          </a:p>
          <a:p>
            <a:r>
              <a:rPr lang="en-IN" sz="2000" dirty="0"/>
              <a:t>Increasing </a:t>
            </a:r>
            <a:r>
              <a:rPr lang="en-IN" sz="2000" dirty="0">
                <a:solidFill>
                  <a:srgbClr val="00B050"/>
                </a:solidFill>
              </a:rPr>
              <a:t>data rate </a:t>
            </a:r>
            <a:r>
              <a:rPr lang="en-IN" sz="2000" dirty="0"/>
              <a:t>increases speed of transmission</a:t>
            </a:r>
          </a:p>
          <a:p>
            <a:r>
              <a:rPr lang="en-IN" sz="2000" dirty="0"/>
              <a:t>Decreasing </a:t>
            </a:r>
            <a:r>
              <a:rPr lang="en-IN" sz="2000" dirty="0">
                <a:solidFill>
                  <a:srgbClr val="FF0000"/>
                </a:solidFill>
              </a:rPr>
              <a:t>signal rate </a:t>
            </a:r>
            <a:r>
              <a:rPr lang="en-IN" sz="2000" dirty="0"/>
              <a:t>decreases the bandwidth requirement</a:t>
            </a:r>
          </a:p>
        </p:txBody>
      </p:sp>
    </p:spTree>
    <p:extLst>
      <p:ext uri="{BB962C8B-B14F-4D97-AF65-F5344CB8AC3E}">
        <p14:creationId xmlns:p14="http://schemas.microsoft.com/office/powerpoint/2010/main" val="3845189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07276" cy="4023360"/>
          </a:xfrm>
        </p:spPr>
        <p:txBody>
          <a:bodyPr>
            <a:noAutofit/>
          </a:bodyPr>
          <a:lstStyle/>
          <a:p>
            <a:r>
              <a:rPr lang="en-IN" sz="2000" dirty="0"/>
              <a:t>Given S is the </a:t>
            </a:r>
            <a:r>
              <a:rPr lang="en-IN" sz="2000" dirty="0">
                <a:solidFill>
                  <a:srgbClr val="00B050"/>
                </a:solidFill>
              </a:rPr>
              <a:t>Signal Rate</a:t>
            </a:r>
            <a:r>
              <a:rPr lang="en-IN" sz="2000" dirty="0"/>
              <a:t>, N is the </a:t>
            </a:r>
            <a:r>
              <a:rPr lang="en-IN" sz="2000" dirty="0">
                <a:solidFill>
                  <a:srgbClr val="FF0000"/>
                </a:solidFill>
              </a:rPr>
              <a:t>Data Rate </a:t>
            </a:r>
            <a:r>
              <a:rPr lang="en-IN" sz="2000" dirty="0"/>
              <a:t>(bps)</a:t>
            </a:r>
          </a:p>
          <a:p>
            <a:pPr marL="0" indent="0" algn="ctr">
              <a:buNone/>
            </a:pPr>
            <a:r>
              <a:rPr lang="en-IN" sz="2800" dirty="0">
                <a:solidFill>
                  <a:srgbClr val="00B0F0"/>
                </a:solidFill>
              </a:rPr>
              <a:t>S = N / r</a:t>
            </a:r>
          </a:p>
          <a:p>
            <a:r>
              <a:rPr lang="en-IN" sz="2000" dirty="0"/>
              <a:t>This relationship also depends on data patterns. For a data pattern of all 0s or all 1s, the signal rate will be different compared to alternating 0s and 1s.</a:t>
            </a:r>
          </a:p>
          <a:p>
            <a:r>
              <a:rPr lang="en-IN" sz="2000" dirty="0"/>
              <a:t>To properly model this relationship, 3 cases are considered:</a:t>
            </a:r>
          </a:p>
          <a:p>
            <a:pPr lvl="1"/>
            <a:r>
              <a:rPr lang="en-IN" sz="2000" dirty="0"/>
              <a:t>Best case - we need minimum signal rate</a:t>
            </a:r>
          </a:p>
          <a:p>
            <a:pPr lvl="1"/>
            <a:r>
              <a:rPr lang="en-IN" sz="2000" dirty="0"/>
              <a:t>Worst case – we need maximum signal rate</a:t>
            </a:r>
          </a:p>
          <a:p>
            <a:pPr lvl="1"/>
            <a:r>
              <a:rPr lang="en-IN" sz="2000" dirty="0"/>
              <a:t>Average case – we are interested in</a:t>
            </a:r>
          </a:p>
          <a:p>
            <a:pPr lvl="1"/>
            <a:r>
              <a:rPr lang="en-IN" sz="2000" dirty="0"/>
              <a:t>c is </a:t>
            </a:r>
            <a:r>
              <a:rPr lang="en-IN" sz="2000" dirty="0">
                <a:solidFill>
                  <a:schemeClr val="tx2"/>
                </a:solidFill>
              </a:rPr>
              <a:t>case factor</a:t>
            </a:r>
            <a:r>
              <a:rPr lang="en-IN" sz="2000" dirty="0"/>
              <a:t>, which varies for the best, average and worst cases</a:t>
            </a:r>
          </a:p>
          <a:p>
            <a:pPr marL="274320" lvl="1" indent="0" algn="ctr">
              <a:buNone/>
            </a:pPr>
            <a:r>
              <a:rPr lang="en-IN" sz="2800" dirty="0">
                <a:solidFill>
                  <a:srgbClr val="00B0F0"/>
                </a:solidFill>
              </a:rPr>
              <a:t>S</a:t>
            </a:r>
            <a:r>
              <a:rPr lang="en-IN" sz="2800" baseline="-25000" dirty="0">
                <a:solidFill>
                  <a:srgbClr val="00B0F0"/>
                </a:solidFill>
              </a:rPr>
              <a:t>ave</a:t>
            </a:r>
            <a:r>
              <a:rPr lang="en-IN" sz="2800" dirty="0">
                <a:solidFill>
                  <a:srgbClr val="00B0F0"/>
                </a:solidFill>
              </a:rPr>
              <a:t> = c * N * (1/r) </a:t>
            </a:r>
            <a:r>
              <a:rPr lang="en-IN" sz="2000" dirty="0"/>
              <a:t>baud</a:t>
            </a:r>
            <a:endParaRPr lang="en-IN" sz="2800" dirty="0">
              <a:solidFill>
                <a:srgbClr val="00B0F0"/>
              </a:solidFill>
            </a:endParaRPr>
          </a:p>
          <a:p>
            <a:endParaRPr lang="en-IN" sz="2400" dirty="0"/>
          </a:p>
          <a:p>
            <a:pPr marL="0" indent="0" algn="ctr">
              <a:buNone/>
            </a:pPr>
            <a:endParaRPr lang="en-IN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89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95425"/>
            <a:ext cx="8313868" cy="1371600"/>
          </a:xfrm>
        </p:spPr>
        <p:txBody>
          <a:bodyPr>
            <a:noAutofit/>
          </a:bodyPr>
          <a:lstStyle/>
          <a:p>
            <a:r>
              <a:rPr lang="en-US" sz="2800" dirty="0"/>
              <a:t>A signal is carrying data in which one data element is encoded as one signal element ( r = 1). If the bit rate is 100 kbps, what is the average value of the baud rate if c is between 0 and 1?</a:t>
            </a:r>
            <a:br>
              <a:rPr lang="en-US" sz="2800" i="1" dirty="0"/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3425780"/>
            <a:ext cx="7680960" cy="2609260"/>
          </a:xfrm>
        </p:spPr>
        <p:txBody>
          <a:bodyPr/>
          <a:lstStyle/>
          <a:p>
            <a:pPr marL="0" indent="0" algn="just">
              <a:buNone/>
            </a:pPr>
            <a:r>
              <a:rPr lang="en-US" i="1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i="1" dirty="0">
                <a:latin typeface="Times" panose="02020603050405020304" pitchFamily="18" charset="0"/>
              </a:rPr>
              <a:t>We assume that the average value of c is 1/2 . The baud rate is then</a:t>
            </a:r>
          </a:p>
          <a:p>
            <a:endParaRPr lang="en-IN" dirty="0"/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30" y="4530144"/>
            <a:ext cx="6635750" cy="7397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3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Bandwidth</a:t>
            </a:r>
          </a:p>
          <a:p>
            <a:pPr lvl="1"/>
            <a:r>
              <a:rPr lang="en-IN" sz="1800" dirty="0"/>
              <a:t>Digital signal is </a:t>
            </a:r>
            <a:r>
              <a:rPr lang="en-IN" sz="1800" dirty="0" err="1"/>
              <a:t>nonperiodic</a:t>
            </a:r>
            <a:endParaRPr lang="en-IN" sz="1800" dirty="0"/>
          </a:p>
          <a:p>
            <a:pPr lvl="1"/>
            <a:r>
              <a:rPr lang="en-IN" sz="1800" dirty="0"/>
              <a:t>Bandwidth of </a:t>
            </a:r>
            <a:r>
              <a:rPr lang="en-IN" sz="1800" dirty="0" err="1"/>
              <a:t>nonperiodic</a:t>
            </a:r>
            <a:r>
              <a:rPr lang="en-IN" sz="1800" dirty="0"/>
              <a:t> digital signal is continuous and theoretically infinite</a:t>
            </a:r>
          </a:p>
          <a:p>
            <a:pPr lvl="1"/>
            <a:r>
              <a:rPr lang="en-IN" sz="1800" dirty="0"/>
              <a:t>Effective bandwidth is finite</a:t>
            </a:r>
          </a:p>
          <a:p>
            <a:pPr lvl="1"/>
            <a:r>
              <a:rPr lang="en-IN" sz="1800" dirty="0"/>
              <a:t>Baud rate and not the bit rate determines the required bandwidth for a digital signal</a:t>
            </a:r>
          </a:p>
          <a:p>
            <a:pPr lvl="1"/>
            <a:r>
              <a:rPr lang="en-IN" sz="1800" dirty="0"/>
              <a:t>More changes in signal means injecting more frequencies into signal</a:t>
            </a:r>
          </a:p>
          <a:p>
            <a:pPr lvl="1"/>
            <a:r>
              <a:rPr lang="en-IN" sz="1800" dirty="0"/>
              <a:t>Range of bandwidth and Amplitude are also important, rather than its value</a:t>
            </a:r>
          </a:p>
          <a:p>
            <a:pPr lvl="1"/>
            <a:endParaRPr lang="en-IN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5616134"/>
            <a:ext cx="7680960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Although the actual bandwidth of a digital signal is infinite, the effective bandwidth is finite.</a:t>
            </a:r>
          </a:p>
          <a:p>
            <a:pPr algn="ctr"/>
            <a:endParaRPr lang="en-IN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272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682580"/>
            <a:ext cx="7680960" cy="5352460"/>
          </a:xfrm>
        </p:spPr>
        <p:txBody>
          <a:bodyPr/>
          <a:lstStyle/>
          <a:p>
            <a:r>
              <a:rPr lang="en-IN" dirty="0"/>
              <a:t>Minimum Bandwidth can be given as –</a:t>
            </a:r>
          </a:p>
          <a:p>
            <a:pPr marL="0" indent="0" algn="ctr">
              <a:buNone/>
            </a:pPr>
            <a:r>
              <a:rPr lang="en-IN" sz="2800" dirty="0" err="1">
                <a:solidFill>
                  <a:srgbClr val="00B0F0"/>
                </a:solidFill>
              </a:rPr>
              <a:t>B</a:t>
            </a:r>
            <a:r>
              <a:rPr lang="en-IN" sz="2800" baseline="-25000" dirty="0" err="1">
                <a:solidFill>
                  <a:srgbClr val="00B0F0"/>
                </a:solidFill>
              </a:rPr>
              <a:t>min</a:t>
            </a:r>
            <a:r>
              <a:rPr lang="en-IN" sz="2800" dirty="0">
                <a:solidFill>
                  <a:srgbClr val="00B0F0"/>
                </a:solidFill>
              </a:rPr>
              <a:t> = c * N * (1/r)</a:t>
            </a:r>
          </a:p>
          <a:p>
            <a:r>
              <a:rPr lang="en-IN" dirty="0"/>
              <a:t>Maximum data rate is </a:t>
            </a:r>
          </a:p>
          <a:p>
            <a:pPr marL="0" indent="0" algn="ctr">
              <a:buNone/>
            </a:pPr>
            <a:r>
              <a:rPr lang="en-IN" sz="2800" dirty="0" err="1">
                <a:solidFill>
                  <a:srgbClr val="00B0F0"/>
                </a:solidFill>
              </a:rPr>
              <a:t>N</a:t>
            </a:r>
            <a:r>
              <a:rPr lang="en-IN" sz="2800" baseline="-25000" dirty="0" err="1">
                <a:solidFill>
                  <a:srgbClr val="00B0F0"/>
                </a:solidFill>
              </a:rPr>
              <a:t>max</a:t>
            </a:r>
            <a:r>
              <a:rPr lang="en-IN" sz="2800" dirty="0">
                <a:solidFill>
                  <a:srgbClr val="00B0F0"/>
                </a:solidFill>
              </a:rPr>
              <a:t> = (1/c) * B * r</a:t>
            </a:r>
          </a:p>
        </p:txBody>
      </p:sp>
    </p:spTree>
    <p:extLst>
      <p:ext uri="{BB962C8B-B14F-4D97-AF65-F5344CB8AC3E}">
        <p14:creationId xmlns:p14="http://schemas.microsoft.com/office/powerpoint/2010/main" val="1924822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31520" y="647717"/>
            <a:ext cx="7680960" cy="1042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400" baseline="0" dirty="0"/>
              <a:t>The maximum data rate of a channel (see Chapter 3) is </a:t>
            </a:r>
            <a:r>
              <a:rPr lang="en-US" sz="2400" baseline="0" dirty="0" err="1"/>
              <a:t>N</a:t>
            </a:r>
            <a:r>
              <a:rPr lang="en-US" sz="2400" dirty="0" err="1"/>
              <a:t>max</a:t>
            </a:r>
            <a:r>
              <a:rPr lang="en-US" sz="2400" baseline="0" dirty="0"/>
              <a:t> = 2 × B × log</a:t>
            </a:r>
            <a:r>
              <a:rPr lang="en-US" sz="2400" baseline="-25000" dirty="0"/>
              <a:t>2</a:t>
            </a:r>
            <a:r>
              <a:rPr lang="en-US" sz="2400" baseline="0" dirty="0"/>
              <a:t> L (defined by the </a:t>
            </a:r>
            <a:r>
              <a:rPr lang="en-US" sz="2400" baseline="0" dirty="0" err="1"/>
              <a:t>Nyquist</a:t>
            </a:r>
            <a:r>
              <a:rPr lang="en-US" sz="2400" baseline="0" dirty="0"/>
              <a:t> formula). Does this agree with the previous formula for </a:t>
            </a:r>
            <a:r>
              <a:rPr lang="en-US" sz="2400" baseline="0" dirty="0" err="1"/>
              <a:t>N</a:t>
            </a:r>
            <a:r>
              <a:rPr lang="en-US" sz="2400" baseline="-25000" dirty="0" err="1"/>
              <a:t>max</a:t>
            </a:r>
            <a:r>
              <a:rPr lang="en-US" sz="2400" baseline="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971417" cy="40233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</a:rPr>
              <a:t>A signal with L levels actually can carry log</a:t>
            </a:r>
            <a:r>
              <a:rPr lang="en-US" sz="2400" baseline="-16000" dirty="0">
                <a:latin typeface="Times" panose="02020603050405020304" pitchFamily="18" charset="0"/>
              </a:rPr>
              <a:t>2</a:t>
            </a:r>
            <a:r>
              <a:rPr lang="en-US" sz="2400" dirty="0">
                <a:latin typeface="Times" panose="02020603050405020304" pitchFamily="18" charset="0"/>
              </a:rPr>
              <a:t>L bits per level. If each level corresponds to one signal element and we assume the average case (c = 1/2), then we have</a:t>
            </a:r>
          </a:p>
          <a:p>
            <a:endParaRPr lang="en-IN" sz="2400" dirty="0"/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4416627"/>
            <a:ext cx="4387850" cy="665162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05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168641" cy="402336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Baseline Wandering</a:t>
            </a:r>
          </a:p>
          <a:p>
            <a:pPr lvl="1"/>
            <a:r>
              <a:rPr lang="en-IN" sz="2000" dirty="0"/>
              <a:t>Receiver calculates a running average of the received signal power</a:t>
            </a:r>
          </a:p>
          <a:p>
            <a:pPr lvl="1"/>
            <a:r>
              <a:rPr lang="en-IN" sz="2000" dirty="0"/>
              <a:t>This average is called Baseline</a:t>
            </a:r>
          </a:p>
          <a:p>
            <a:pPr lvl="1"/>
            <a:r>
              <a:rPr lang="en-IN" sz="2000" dirty="0"/>
              <a:t>Incoming signal is evaluated against this baseline to determine the value of the data element</a:t>
            </a:r>
          </a:p>
          <a:p>
            <a:pPr lvl="1"/>
            <a:r>
              <a:rPr lang="en-IN" sz="2000" dirty="0"/>
              <a:t>A long string of 0s or 1s can cause a drift in the baseline (baseline wandering)</a:t>
            </a:r>
          </a:p>
          <a:p>
            <a:pPr lvl="2"/>
            <a:r>
              <a:rPr lang="en-IN" sz="1800" dirty="0"/>
              <a:t>Receiver cannot decode the information correctly</a:t>
            </a:r>
          </a:p>
          <a:p>
            <a:pPr lvl="1"/>
            <a:r>
              <a:rPr lang="en-IN" sz="2000" dirty="0"/>
              <a:t>Design a line coding scheme that prevent baseline wandering</a:t>
            </a:r>
          </a:p>
        </p:txBody>
      </p:sp>
    </p:spTree>
    <p:extLst>
      <p:ext uri="{BB962C8B-B14F-4D97-AF65-F5344CB8AC3E}">
        <p14:creationId xmlns:p14="http://schemas.microsoft.com/office/powerpoint/2010/main" val="348814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78994" cy="402336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DC Components</a:t>
            </a:r>
          </a:p>
          <a:p>
            <a:pPr lvl="1"/>
            <a:r>
              <a:rPr lang="en-IN" sz="2400" dirty="0"/>
              <a:t>When the voltage level in a digital signal is constant for a while, the spectrum creates very low frequencies</a:t>
            </a:r>
          </a:p>
          <a:p>
            <a:pPr lvl="1"/>
            <a:r>
              <a:rPr lang="en-IN" sz="2400" dirty="0"/>
              <a:t>These frequencies (around zero) are called DC (direct-current) components</a:t>
            </a:r>
          </a:p>
          <a:p>
            <a:pPr lvl="2"/>
            <a:r>
              <a:rPr lang="en-IN" sz="2000" dirty="0"/>
              <a:t>Present problems for a system that cannot pass low frequencies </a:t>
            </a:r>
          </a:p>
          <a:p>
            <a:pPr lvl="2"/>
            <a:r>
              <a:rPr lang="en-IN" sz="2000" dirty="0"/>
              <a:t>DC component is 0/1 parity that can cause base-band wandering</a:t>
            </a:r>
          </a:p>
          <a:p>
            <a:pPr lvl="2"/>
            <a:r>
              <a:rPr lang="en-US" sz="2000" dirty="0"/>
              <a:t>When a signal contains an equal number of 0s and 1s over time, it has no DC component (balanced).</a:t>
            </a:r>
          </a:p>
          <a:p>
            <a:pPr lvl="2"/>
            <a:r>
              <a:rPr lang="en-US" sz="2000" dirty="0"/>
              <a:t>If there are more 0s than 1s (or vice versa), the signal develops a DC offset.</a:t>
            </a:r>
            <a:endParaRPr lang="en-IN" sz="2000" dirty="0"/>
          </a:p>
          <a:p>
            <a:pPr marL="274320" lvl="1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3733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11336"/>
            <a:ext cx="7680960" cy="1371600"/>
          </a:xfrm>
        </p:spPr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65" y="1682936"/>
            <a:ext cx="8569375" cy="3931920"/>
          </a:xfrm>
        </p:spPr>
        <p:txBody>
          <a:bodyPr/>
          <a:lstStyle/>
          <a:p>
            <a:r>
              <a:rPr lang="en-IN" sz="2400" dirty="0">
                <a:solidFill>
                  <a:srgbClr val="FF0000"/>
                </a:solidFill>
              </a:rPr>
              <a:t>Self-synchronization</a:t>
            </a:r>
          </a:p>
          <a:p>
            <a:pPr lvl="1"/>
            <a:r>
              <a:rPr lang="en-IN" sz="1800" dirty="0"/>
              <a:t>Receiver’s bit intervals must correspond exactly to the sender’s bit intervals to interpret the signals correctly</a:t>
            </a:r>
          </a:p>
          <a:p>
            <a:pPr lvl="1"/>
            <a:r>
              <a:rPr lang="en-US" dirty="0"/>
              <a:t>If the receiver clock is faster or slower, the bit intervals are not matched and the receiver might misinterpret the signals. </a:t>
            </a:r>
            <a:br>
              <a:rPr lang="en-US" dirty="0"/>
            </a:br>
            <a:endParaRPr lang="en-IN" sz="1800" dirty="0"/>
          </a:p>
          <a:p>
            <a:pPr lvl="1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016454" y="4117408"/>
            <a:ext cx="311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Effect of Lack of Synchronization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A287B-C025-4772-8187-BEF628385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414" y="3191222"/>
            <a:ext cx="5107533" cy="314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35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11336"/>
            <a:ext cx="7680960" cy="1371600"/>
          </a:xfrm>
        </p:spPr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65" y="1682936"/>
            <a:ext cx="8569375" cy="3931920"/>
          </a:xfrm>
        </p:spPr>
        <p:txBody>
          <a:bodyPr/>
          <a:lstStyle/>
          <a:p>
            <a:r>
              <a:rPr lang="en-IN" sz="2400" dirty="0">
                <a:solidFill>
                  <a:srgbClr val="FF0000"/>
                </a:solidFill>
              </a:rPr>
              <a:t>Self-synchronization</a:t>
            </a:r>
          </a:p>
          <a:p>
            <a:pPr lvl="1"/>
            <a:r>
              <a:rPr lang="en-US" sz="2400" dirty="0"/>
              <a:t>A self-synchronizing digital signal includes timing information in the data being transmitted. </a:t>
            </a:r>
          </a:p>
          <a:p>
            <a:pPr lvl="1"/>
            <a:r>
              <a:rPr lang="en-US" sz="2400" dirty="0"/>
              <a:t>This can be achieved if there are transitions in the signal that alert the receiver to the beginning, middle, or end of the pulse. </a:t>
            </a:r>
          </a:p>
          <a:p>
            <a:pPr lvl="1"/>
            <a:r>
              <a:rPr lang="en-US" sz="2400" dirty="0"/>
              <a:t>If the receiver’s clock is out of synchronization, these points can reset the clock </a:t>
            </a:r>
            <a:br>
              <a:rPr lang="en-US" sz="2400" dirty="0"/>
            </a:br>
            <a:br>
              <a:rPr lang="en-US" dirty="0"/>
            </a:b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274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958" y="429992"/>
            <a:ext cx="8339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 a digital transmission, the receiver clock is 0.1 percent faster than the sender clock. How many extra bits per second does the receiver receive if the data rate is 1 kbps? How many if the data rate is 1 Mbps?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987" y="1796752"/>
            <a:ext cx="79140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b="1" dirty="0">
                <a:latin typeface="Times" panose="02020603050405020304" pitchFamily="18" charset="0"/>
              </a:rPr>
              <a:t>At 1 kbps, the receiver receives 1001 bps instead of 1000 bps.</a:t>
            </a:r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78" y="2886514"/>
            <a:ext cx="6542087" cy="34131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82958" y="4066176"/>
            <a:ext cx="8236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At 1 Mbps, the receiver receives 1,001,000 bps instead of 1,000,000 bps.</a:t>
            </a:r>
          </a:p>
        </p:txBody>
      </p:sp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88" y="5074486"/>
            <a:ext cx="7983537" cy="30638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57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Common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96923" cy="402336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Built-in Error Detection</a:t>
            </a:r>
          </a:p>
          <a:p>
            <a:pPr lvl="1"/>
            <a:r>
              <a:rPr lang="en-IN" sz="2000" dirty="0"/>
              <a:t>Used to detect some or all of the errors that occurred during transmission</a:t>
            </a:r>
          </a:p>
          <a:p>
            <a:r>
              <a:rPr lang="en-IN" sz="2400" dirty="0">
                <a:solidFill>
                  <a:srgbClr val="FF0000"/>
                </a:solidFill>
              </a:rPr>
              <a:t>Immunity to Noise and Interference</a:t>
            </a:r>
          </a:p>
          <a:p>
            <a:pPr lvl="1"/>
            <a:r>
              <a:rPr lang="en-IN" sz="2000" dirty="0"/>
              <a:t>Code should be immune to noise and other interferences</a:t>
            </a:r>
          </a:p>
          <a:p>
            <a:r>
              <a:rPr lang="en-IN" sz="2400" dirty="0">
                <a:solidFill>
                  <a:srgbClr val="FF0000"/>
                </a:solidFill>
              </a:rPr>
              <a:t>Complexity</a:t>
            </a:r>
          </a:p>
          <a:p>
            <a:pPr lvl="1"/>
            <a:r>
              <a:rPr lang="en-IN" sz="2000" dirty="0"/>
              <a:t>A complex scheme is more costly to implement than a simple one</a:t>
            </a:r>
          </a:p>
          <a:p>
            <a:pPr lvl="2"/>
            <a:r>
              <a:rPr lang="en-IN" sz="1800" dirty="0"/>
              <a:t>A signal that uses four signal levels is more difficult to interpret than one that uses only two levels</a:t>
            </a:r>
          </a:p>
        </p:txBody>
      </p:sp>
    </p:spTree>
    <p:extLst>
      <p:ext uri="{BB962C8B-B14F-4D97-AF65-F5344CB8AC3E}">
        <p14:creationId xmlns:p14="http://schemas.microsoft.com/office/powerpoint/2010/main" val="2447059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19"/>
            <a:ext cx="7680960" cy="416889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5 Categories</a:t>
            </a:r>
          </a:p>
          <a:p>
            <a:pPr lvl="1"/>
            <a:endParaRPr lang="en-IN" b="1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55" y="2660015"/>
            <a:ext cx="7642225" cy="337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1856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Line Coding Schemes: </a:t>
            </a:r>
            <a:r>
              <a:rPr lang="en-IN" sz="3600" dirty="0">
                <a:solidFill>
                  <a:srgbClr val="FF0000"/>
                </a:solidFill>
              </a:rPr>
              <a:t>Unipolar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25769"/>
            <a:ext cx="7680960" cy="4597758"/>
          </a:xfrm>
        </p:spPr>
        <p:txBody>
          <a:bodyPr>
            <a:noAutofit/>
          </a:bodyPr>
          <a:lstStyle/>
          <a:p>
            <a:r>
              <a:rPr lang="en-IN" sz="2400" dirty="0"/>
              <a:t>All signal levels are on one side of the time axis, either above or below</a:t>
            </a:r>
          </a:p>
          <a:p>
            <a:r>
              <a:rPr lang="en-IN" sz="2400" dirty="0"/>
              <a:t>Designed as a Non-Return-to-Zero (NRZ) scheme</a:t>
            </a:r>
          </a:p>
          <a:p>
            <a:pPr lvl="1"/>
            <a:r>
              <a:rPr lang="en-IN" sz="2000" dirty="0"/>
              <a:t>Positive voltage defines bit 1 and the zero voltage defines bit 0</a:t>
            </a:r>
          </a:p>
          <a:p>
            <a:r>
              <a:rPr lang="en-IN" sz="2400" dirty="0"/>
              <a:t>NRZ – signal does not return to zero at the middle of the bit</a:t>
            </a:r>
          </a:p>
          <a:p>
            <a:r>
              <a:rPr lang="en-IN" sz="2400" dirty="0"/>
              <a:t>Scheme is costly</a:t>
            </a:r>
          </a:p>
          <a:p>
            <a:pPr lvl="1"/>
            <a:r>
              <a:rPr lang="en-IN" sz="2000" dirty="0"/>
              <a:t>The normalized power (power needed to send 1 bit per unit line resistance) is double </a:t>
            </a:r>
          </a:p>
          <a:p>
            <a:pPr lvl="1"/>
            <a:r>
              <a:rPr lang="en-IN" sz="2000" dirty="0"/>
              <a:t>Hence not used in communications these days</a:t>
            </a:r>
          </a:p>
        </p:txBody>
      </p:sp>
    </p:spTree>
    <p:extLst>
      <p:ext uri="{BB962C8B-B14F-4D97-AF65-F5344CB8AC3E}">
        <p14:creationId xmlns:p14="http://schemas.microsoft.com/office/powerpoint/2010/main" val="217489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18" y="784968"/>
            <a:ext cx="7294562" cy="1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07016" y="2944171"/>
            <a:ext cx="6387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Unipolar NRZ Scheme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715" y="4536996"/>
            <a:ext cx="81845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Scheme is prone to </a:t>
            </a:r>
            <a:r>
              <a:rPr lang="en-US" dirty="0">
                <a:solidFill>
                  <a:srgbClr val="00B050"/>
                </a:solidFill>
              </a:rPr>
              <a:t>baseline wandering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DC components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has no synchronization or any error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simple but costly in power consumption.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713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02" y="312004"/>
            <a:ext cx="7543800" cy="1450757"/>
          </a:xfrm>
        </p:spPr>
        <p:txBody>
          <a:bodyPr/>
          <a:lstStyle/>
          <a:p>
            <a:r>
              <a:rPr lang="en-IN" dirty="0"/>
              <a:t>Normalized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71" y="1762761"/>
            <a:ext cx="8761008" cy="4106333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In physics, Power (P) is calculated as           , where V is voltage and R is resistance.</a:t>
            </a:r>
          </a:p>
          <a:p>
            <a:pPr lvl="1"/>
            <a:r>
              <a:rPr lang="en-US" sz="2000" dirty="0"/>
              <a:t>To simplify the analysis of line codes, we assume the load resistance is normalized to 1   . So the power is just P=V</a:t>
            </a:r>
            <a:r>
              <a:rPr lang="en-US" sz="2000" baseline="30000" dirty="0"/>
              <a:t>2</a:t>
            </a:r>
          </a:p>
          <a:p>
            <a:pPr lvl="1"/>
            <a:r>
              <a:rPr lang="en-US" sz="2000" dirty="0"/>
              <a:t>The Normalized Power determines the "cost" of sending the signal.</a:t>
            </a:r>
          </a:p>
          <a:p>
            <a:pPr lvl="1"/>
            <a:r>
              <a:rPr lang="en-US" sz="2000" dirty="0"/>
              <a:t>Since digital signals change values over time (e.g., shifting between +V and 0V), normalized power is usually expressed as the average power over a bit duration.</a:t>
            </a:r>
          </a:p>
          <a:p>
            <a:pPr lvl="1"/>
            <a:r>
              <a:rPr lang="en-US" sz="2000" dirty="0"/>
              <a:t>If a signal uses different voltage levels with equal probability, the average normalized power </a:t>
            </a:r>
          </a:p>
          <a:p>
            <a:pPr lvl="1"/>
            <a:r>
              <a:rPr lang="en-US" sz="2000" dirty="0"/>
              <a:t>In unipolar NRZ, Half the time the signal is +V (Power = V</a:t>
            </a:r>
            <a:r>
              <a:rPr lang="en-US" sz="2000" baseline="30000" dirty="0"/>
              <a:t>2</a:t>
            </a:r>
            <a:r>
              <a:rPr lang="en-US" sz="2000" dirty="0"/>
              <a:t>). Half the time the signal is 0 (Power = 0). Average Normalized Power:       .</a:t>
            </a:r>
          </a:p>
          <a:p>
            <a:pPr lvl="1"/>
            <a:r>
              <a:rPr lang="en-US" sz="2000" dirty="0"/>
              <a:t>Polar NRZ-L (+V and -V): Half the time the signal is +V (Power = V</a:t>
            </a:r>
            <a:r>
              <a:rPr lang="en-US" sz="2000" baseline="30000" dirty="0"/>
              <a:t>2</a:t>
            </a:r>
            <a:r>
              <a:rPr lang="en-US" sz="2000" dirty="0"/>
              <a:t>). Half the time the signal is -V (Power = (-V)</a:t>
            </a:r>
            <a:r>
              <a:rPr lang="en-US" sz="2000" baseline="30000" dirty="0"/>
              <a:t>2</a:t>
            </a:r>
            <a:r>
              <a:rPr lang="en-US" sz="2000" dirty="0"/>
              <a:t> = V</a:t>
            </a:r>
            <a:r>
              <a:rPr lang="en-US" sz="2000" baseline="30000" dirty="0"/>
              <a:t>2</a:t>
            </a:r>
            <a:r>
              <a:rPr lang="en-US" sz="2000" dirty="0"/>
              <a:t>). Average Normalized Power: V</a:t>
            </a:r>
            <a:r>
              <a:rPr lang="en-US" sz="2000" baseline="30000" dirty="0"/>
              <a:t>2</a:t>
            </a:r>
          </a:p>
        </p:txBody>
      </p:sp>
      <p:pic>
        <p:nvPicPr>
          <p:cNvPr id="1026" name="Picture 2" descr="equation">
            <a:extLst>
              <a:ext uri="{FF2B5EF4-FFF2-40B4-BE49-F238E27FC236}">
                <a16:creationId xmlns:a16="http://schemas.microsoft.com/office/drawing/2014/main" id="{9CC005F2-DFD4-41FD-9E79-234867A87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603" y="1814626"/>
            <a:ext cx="598208" cy="2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quation">
            <a:extLst>
              <a:ext uri="{FF2B5EF4-FFF2-40B4-BE49-F238E27FC236}">
                <a16:creationId xmlns:a16="http://schemas.microsoft.com/office/drawing/2014/main" id="{A7ED4533-F229-4196-9933-AA9E58E04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84" y="2490199"/>
            <a:ext cx="142875" cy="16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C307A1-0D5E-43A0-832C-C771D8836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883" y="4041691"/>
            <a:ext cx="3714750" cy="323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5F9E92-CBCC-4B61-B188-DA4CCC0CF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528" y="4667199"/>
            <a:ext cx="3524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93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02" y="312004"/>
            <a:ext cx="7543800" cy="1450757"/>
          </a:xfrm>
        </p:spPr>
        <p:txBody>
          <a:bodyPr/>
          <a:lstStyle/>
          <a:p>
            <a:r>
              <a:rPr lang="en-US" dirty="0"/>
              <a:t>Power Spectral Density (PSD)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71" y="1762761"/>
            <a:ext cx="8761008" cy="4106333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PSD describes how the power of a signal is distributed across different frequencies. It is the critical tool for determining the bandwidth required to transmit a signal and for checking if a signal has a DC component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3453414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Polar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Voltages are on both sides of the time axis</a:t>
            </a:r>
          </a:p>
          <a:p>
            <a:r>
              <a:rPr lang="en-IN" dirty="0"/>
              <a:t>Voltage level for 0 can be positive and the voltage level for 1 can be negative</a:t>
            </a:r>
          </a:p>
          <a:p>
            <a:r>
              <a:rPr lang="en-IN" dirty="0">
                <a:solidFill>
                  <a:srgbClr val="00B050"/>
                </a:solidFill>
              </a:rPr>
              <a:t>Non-Return-to-Zero</a:t>
            </a:r>
          </a:p>
          <a:p>
            <a:pPr lvl="1"/>
            <a:r>
              <a:rPr lang="en-IN" dirty="0"/>
              <a:t>2 Versions</a:t>
            </a:r>
          </a:p>
          <a:p>
            <a:pPr lvl="2"/>
            <a:r>
              <a:rPr lang="en-IN" dirty="0"/>
              <a:t>Non-Return-to-Zero Level (NRZ-L) – Positive Voltage for one symbol and negative for the other</a:t>
            </a:r>
          </a:p>
          <a:p>
            <a:pPr lvl="2"/>
            <a:r>
              <a:rPr lang="en-IN" dirty="0"/>
              <a:t>Non-Return-to-Zero Invert (NRZ-I) – the change or lack of change in polarity determines value of symbol</a:t>
            </a:r>
          </a:p>
          <a:p>
            <a:pPr lvl="1"/>
            <a:r>
              <a:rPr lang="en-IN" dirty="0"/>
              <a:t>Baseline wandering is common problem</a:t>
            </a:r>
          </a:p>
          <a:p>
            <a:pPr lvl="2"/>
            <a:r>
              <a:rPr lang="en-IN" dirty="0"/>
              <a:t>Twice as severe in NRZ-L</a:t>
            </a:r>
          </a:p>
          <a:p>
            <a:pPr lvl="1"/>
            <a:r>
              <a:rPr lang="en-IN" dirty="0"/>
              <a:t>Sender/receiver clock synchronization issues</a:t>
            </a:r>
          </a:p>
          <a:p>
            <a:pPr lvl="2"/>
            <a:r>
              <a:rPr lang="en-IN" dirty="0"/>
              <a:t>More serious in NRZ-L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495" y="6035040"/>
            <a:ext cx="8761009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NRZ-L and NRZ-I both have an average signal rate of N/2 Bd.</a:t>
            </a:r>
          </a:p>
        </p:txBody>
      </p:sp>
    </p:spTree>
    <p:extLst>
      <p:ext uri="{BB962C8B-B14F-4D97-AF65-F5344CB8AC3E}">
        <p14:creationId xmlns:p14="http://schemas.microsoft.com/office/powerpoint/2010/main" val="62163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1" y="170076"/>
            <a:ext cx="8866187" cy="276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53037" y="3026660"/>
            <a:ext cx="712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Polar NRZ-L and NRZ-I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759" y="5500224"/>
            <a:ext cx="8761009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In NRZ-L the level of the voltage determines the value of the bit. </a:t>
            </a:r>
            <a:b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</a:b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In NRZ-I the inversion or the lack of inversion determines the value of the bit.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360745-F291-4B68-9289-3D9AC0CE436F}"/>
              </a:ext>
            </a:extLst>
          </p:cNvPr>
          <p:cNvSpPr txBox="1"/>
          <p:nvPr/>
        </p:nvSpPr>
        <p:spPr>
          <a:xfrm>
            <a:off x="151171" y="3495180"/>
            <a:ext cx="87610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 Spectral Density (PSD) &amp; Bandwidth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x-axis represents frequency </a:t>
            </a:r>
            <a:r>
              <a:rPr lang="en-US" b="1" dirty="0"/>
              <a:t>normalized by the bit rate N.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majority of the power is concentrated at low frequencies, meaning Polar NRZ requires less bandwidth than RZ.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low-frequency component is strong, meaning DC components are present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421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 system is using NRZ-I to transfer 1-Mbps data. What are the average signal rate and minimum bandwidth?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</a:rPr>
              <a:t>The average signal rate is S= c x N x R = 1/2 x N x 1 = 500 </a:t>
            </a:r>
            <a:r>
              <a:rPr lang="en-US" sz="2400" dirty="0" err="1">
                <a:latin typeface="Times" panose="02020603050405020304" pitchFamily="18" charset="0"/>
              </a:rPr>
              <a:t>kbaud</a:t>
            </a:r>
            <a:r>
              <a:rPr lang="en-US" sz="2400" dirty="0">
                <a:latin typeface="Times" panose="02020603050405020304" pitchFamily="18" charset="0"/>
              </a:rPr>
              <a:t>. 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</a:rPr>
              <a:t>The minimum bandwidth for this average baud rate is </a:t>
            </a:r>
            <a:r>
              <a:rPr lang="en-US" sz="2400" dirty="0" err="1">
                <a:latin typeface="Times" panose="02020603050405020304" pitchFamily="18" charset="0"/>
              </a:rPr>
              <a:t>B</a:t>
            </a:r>
            <a:r>
              <a:rPr lang="en-US" sz="2400" baseline="-25000" dirty="0" err="1">
                <a:latin typeface="Times" panose="02020603050405020304" pitchFamily="18" charset="0"/>
              </a:rPr>
              <a:t>min</a:t>
            </a:r>
            <a:r>
              <a:rPr lang="en-US" sz="2400" dirty="0">
                <a:latin typeface="Times" panose="02020603050405020304" pitchFamily="18" charset="0"/>
              </a:rPr>
              <a:t> = S = 500 kHz.</a:t>
            </a:r>
          </a:p>
          <a:p>
            <a:pPr algn="just"/>
            <a:endParaRPr lang="en-US" sz="2400" dirty="0">
              <a:latin typeface="Times" panose="02020603050405020304" pitchFamily="18" charset="0"/>
            </a:endParaRPr>
          </a:p>
          <a:p>
            <a:pPr algn="just"/>
            <a:r>
              <a:rPr lang="en-US" sz="2400" dirty="0">
                <a:latin typeface="Times" panose="02020603050405020304" pitchFamily="18" charset="0"/>
              </a:rPr>
              <a:t>Note c = 1/2 for the avg. case as worst case is 1 and best case is 0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3423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Polar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00B050"/>
                </a:solidFill>
              </a:rPr>
              <a:t>Return to Zero</a:t>
            </a:r>
          </a:p>
          <a:p>
            <a:pPr lvl="1"/>
            <a:r>
              <a:rPr lang="en-IN" sz="2000" dirty="0"/>
              <a:t>Uses 3 values – Positive, Negative and Zero</a:t>
            </a:r>
          </a:p>
          <a:p>
            <a:pPr lvl="1"/>
            <a:r>
              <a:rPr lang="en-IN" sz="2000" dirty="0"/>
              <a:t>Signal changes not between the bits but during the bit</a:t>
            </a:r>
          </a:p>
          <a:p>
            <a:pPr lvl="1"/>
            <a:r>
              <a:rPr lang="en-IN" sz="2000" dirty="0"/>
              <a:t>Requires two signal changes to encode a bit and therefore occupies greater bandwidth</a:t>
            </a:r>
          </a:p>
          <a:p>
            <a:pPr lvl="1"/>
            <a:r>
              <a:rPr lang="en-IN" sz="2000" dirty="0"/>
              <a:t>No DC component</a:t>
            </a:r>
          </a:p>
          <a:p>
            <a:pPr lvl="1"/>
            <a:r>
              <a:rPr lang="en-IN" sz="2000" dirty="0"/>
              <a:t>More complex to create as 3 levels </a:t>
            </a:r>
          </a:p>
          <a:p>
            <a:pPr lvl="1"/>
            <a:r>
              <a:rPr lang="en-IN" sz="2000" dirty="0"/>
              <a:t>Hence not used these days</a:t>
            </a:r>
          </a:p>
          <a:p>
            <a:pPr lvl="1"/>
            <a:r>
              <a:rPr lang="en-IN" sz="2000" dirty="0"/>
              <a:t>Replaced by Manchester and Differential Manchester schemes</a:t>
            </a:r>
          </a:p>
        </p:txBody>
      </p:sp>
    </p:spTree>
    <p:extLst>
      <p:ext uri="{BB962C8B-B14F-4D97-AF65-F5344CB8AC3E}">
        <p14:creationId xmlns:p14="http://schemas.microsoft.com/office/powerpoint/2010/main" val="630343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62" y="439858"/>
            <a:ext cx="7751762" cy="234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34224" y="2891432"/>
            <a:ext cx="604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Polar RZ Scheme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E79F5-A8F2-436A-A153-B9D18C1203E8}"/>
              </a:ext>
            </a:extLst>
          </p:cNvPr>
          <p:cNvSpPr txBox="1"/>
          <p:nvPr/>
        </p:nvSpPr>
        <p:spPr>
          <a:xfrm>
            <a:off x="0" y="3640022"/>
            <a:ext cx="87610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 Spectral Density (PSD) &amp; Bandwidth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signal energy is distributed mostly in the </a:t>
            </a:r>
            <a:r>
              <a:rPr lang="en-US" b="1" dirty="0"/>
              <a:t>low-frequency range</a:t>
            </a:r>
            <a:r>
              <a:rPr lang="en-US" dirty="0"/>
              <a:t>, but it spreads more than NRZ due to the frequent transitions (returning to zero)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bandwidth requirement is higher</a:t>
            </a:r>
            <a:r>
              <a:rPr lang="en-US" dirty="0"/>
              <a:t> than NRZ because of the additional transitions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974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Polar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9" y="1841679"/>
            <a:ext cx="7948841" cy="4494727"/>
          </a:xfrm>
        </p:spPr>
        <p:txBody>
          <a:bodyPr>
            <a:noAutofit/>
          </a:bodyPr>
          <a:lstStyle/>
          <a:p>
            <a:r>
              <a:rPr lang="en-IN" sz="2800" dirty="0" err="1">
                <a:solidFill>
                  <a:srgbClr val="00B050"/>
                </a:solidFill>
              </a:rPr>
              <a:t>Biphase</a:t>
            </a:r>
            <a:endParaRPr lang="en-IN" sz="2800" dirty="0">
              <a:solidFill>
                <a:srgbClr val="00B050"/>
              </a:solidFill>
            </a:endParaRPr>
          </a:p>
          <a:p>
            <a:pPr lvl="1"/>
            <a:r>
              <a:rPr lang="en-IN" sz="2400" dirty="0"/>
              <a:t>Manchester and Differential Manchester</a:t>
            </a:r>
          </a:p>
          <a:p>
            <a:pPr lvl="1"/>
            <a:r>
              <a:rPr lang="en-IN" sz="2400" dirty="0"/>
              <a:t>Manchester Encoding has idea of NRZ-L and RZ</a:t>
            </a:r>
          </a:p>
          <a:p>
            <a:pPr lvl="1"/>
            <a:r>
              <a:rPr lang="en-IN" sz="2400" dirty="0"/>
              <a:t>Differential Manchester Encoding combines idea of NRZ-I and RZ</a:t>
            </a:r>
          </a:p>
          <a:p>
            <a:pPr lvl="1"/>
            <a:r>
              <a:rPr lang="en-IN" sz="2400" dirty="0"/>
              <a:t>No baseline wandering</a:t>
            </a:r>
          </a:p>
          <a:p>
            <a:pPr lvl="1"/>
            <a:r>
              <a:rPr lang="en-IN" sz="2400" dirty="0"/>
              <a:t>No DC component</a:t>
            </a:r>
          </a:p>
          <a:p>
            <a:pPr lvl="1"/>
            <a:r>
              <a:rPr lang="en-IN" sz="2400" dirty="0"/>
              <a:t>Signal rate is double than that for NRZ</a:t>
            </a:r>
          </a:p>
          <a:p>
            <a:pPr lvl="2"/>
            <a:r>
              <a:rPr lang="en-IN" sz="2000" dirty="0"/>
              <a:t>There is always one transition at the middle of the bit and may be one transition at the end of each bit</a:t>
            </a:r>
          </a:p>
          <a:p>
            <a:pPr marL="548640" lvl="2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4747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55" y="452929"/>
            <a:ext cx="8510587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3791" y="4765181"/>
            <a:ext cx="825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Polar </a:t>
            </a:r>
            <a:r>
              <a:rPr lang="en-IN" dirty="0" err="1"/>
              <a:t>Biphase</a:t>
            </a:r>
            <a:r>
              <a:rPr lang="en-IN" dirty="0"/>
              <a:t>: Manchester and Differential Manchester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280" y="5734029"/>
            <a:ext cx="876100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In Manchester and differential Manchester encoding, the transition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at the middle of the bit is used for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869355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Bipolar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AMI (Alternative Mark Inversion) </a:t>
            </a:r>
            <a:r>
              <a:rPr lang="en-IN" dirty="0"/>
              <a:t>and </a:t>
            </a:r>
            <a:r>
              <a:rPr lang="en-IN" dirty="0" err="1">
                <a:solidFill>
                  <a:srgbClr val="00B050"/>
                </a:solidFill>
              </a:rPr>
              <a:t>Pseudoternary</a:t>
            </a:r>
            <a:endParaRPr lang="en-IN" dirty="0">
              <a:solidFill>
                <a:srgbClr val="00B050"/>
              </a:solidFill>
            </a:endParaRPr>
          </a:p>
          <a:p>
            <a:r>
              <a:rPr lang="en-IN" dirty="0"/>
              <a:t>Also called multilevel binary</a:t>
            </a:r>
          </a:p>
          <a:p>
            <a:r>
              <a:rPr lang="en-IN" dirty="0"/>
              <a:t>3 voltage levels – Positive, Negative, Zero</a:t>
            </a:r>
          </a:p>
          <a:p>
            <a:pPr lvl="1"/>
            <a:r>
              <a:rPr lang="en-IN" dirty="0"/>
              <a:t>Voltage level for one data element is at zero, voltage level for other element alternates between positive and negative</a:t>
            </a:r>
          </a:p>
          <a:p>
            <a:pPr lvl="1"/>
            <a:endParaRPr lang="en-IN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7" y="3851566"/>
            <a:ext cx="8556625" cy="237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5577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Bipolar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Same signal rate as NRZ</a:t>
            </a:r>
          </a:p>
          <a:p>
            <a:r>
              <a:rPr lang="en-IN" dirty="0"/>
              <a:t>No DC component</a:t>
            </a:r>
          </a:p>
          <a:p>
            <a:r>
              <a:rPr lang="en-IN" dirty="0"/>
              <a:t>Concentration of energy is found around frequency N/2</a:t>
            </a:r>
          </a:p>
          <a:p>
            <a:r>
              <a:rPr lang="en-IN" dirty="0"/>
              <a:t>AMI is commonly used for long –distance communication</a:t>
            </a:r>
          </a:p>
          <a:p>
            <a:pPr lvl="1"/>
            <a:r>
              <a:rPr lang="en-IN" dirty="0"/>
              <a:t>Has synchronization problem when a long sequence of 0s is present in the data</a:t>
            </a:r>
          </a:p>
        </p:txBody>
      </p:sp>
    </p:spTree>
    <p:extLst>
      <p:ext uri="{BB962C8B-B14F-4D97-AF65-F5344CB8AC3E}">
        <p14:creationId xmlns:p14="http://schemas.microsoft.com/office/powerpoint/2010/main" val="237263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Multilevel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54557"/>
            <a:ext cx="7680960" cy="4597757"/>
          </a:xfrm>
        </p:spPr>
        <p:txBody>
          <a:bodyPr>
            <a:noAutofit/>
          </a:bodyPr>
          <a:lstStyle/>
          <a:p>
            <a:r>
              <a:rPr lang="en-IN" sz="2000" dirty="0"/>
              <a:t>Goal is to increase the number of bits per baud by encoding a pattern of </a:t>
            </a:r>
            <a:r>
              <a:rPr lang="en-IN" sz="2000" i="1" dirty="0">
                <a:solidFill>
                  <a:srgbClr val="00B050"/>
                </a:solidFill>
              </a:rPr>
              <a:t>m</a:t>
            </a:r>
            <a:r>
              <a:rPr lang="en-IN" sz="2000" i="1" dirty="0"/>
              <a:t> </a:t>
            </a:r>
            <a:r>
              <a:rPr lang="en-IN" sz="2000" dirty="0"/>
              <a:t>data elements into a pattern of </a:t>
            </a:r>
            <a:r>
              <a:rPr lang="en-IN" sz="2000" i="1" dirty="0">
                <a:solidFill>
                  <a:srgbClr val="00B050"/>
                </a:solidFill>
              </a:rPr>
              <a:t>n</a:t>
            </a:r>
            <a:r>
              <a:rPr lang="en-IN" sz="2000" dirty="0">
                <a:solidFill>
                  <a:srgbClr val="00B050"/>
                </a:solidFill>
              </a:rPr>
              <a:t> </a:t>
            </a:r>
            <a:r>
              <a:rPr lang="en-IN" sz="2000" dirty="0"/>
              <a:t>signal elements</a:t>
            </a:r>
          </a:p>
          <a:p>
            <a:pPr lvl="1"/>
            <a:r>
              <a:rPr lang="en-IN" sz="1800" dirty="0"/>
              <a:t>Group </a:t>
            </a:r>
            <a:r>
              <a:rPr lang="en-IN" sz="1800" i="1" dirty="0">
                <a:solidFill>
                  <a:srgbClr val="00B050"/>
                </a:solidFill>
              </a:rPr>
              <a:t>m</a:t>
            </a:r>
            <a:r>
              <a:rPr lang="en-IN" sz="1800" i="1" dirty="0"/>
              <a:t> </a:t>
            </a:r>
            <a:r>
              <a:rPr lang="en-IN" sz="1800" dirty="0"/>
              <a:t>data elements to produce a combination of </a:t>
            </a:r>
            <a:r>
              <a:rPr lang="en-IN" sz="1800" dirty="0">
                <a:solidFill>
                  <a:srgbClr val="00B050"/>
                </a:solidFill>
              </a:rPr>
              <a:t>2</a:t>
            </a:r>
            <a:r>
              <a:rPr lang="en-IN" sz="1800" baseline="30000" dirty="0">
                <a:solidFill>
                  <a:srgbClr val="00B050"/>
                </a:solidFill>
              </a:rPr>
              <a:t>m</a:t>
            </a:r>
            <a:r>
              <a:rPr lang="en-IN" sz="1800" dirty="0">
                <a:solidFill>
                  <a:srgbClr val="00B050"/>
                </a:solidFill>
              </a:rPr>
              <a:t> </a:t>
            </a:r>
            <a:r>
              <a:rPr lang="en-IN" sz="1800" dirty="0"/>
              <a:t>data patterns</a:t>
            </a:r>
          </a:p>
          <a:p>
            <a:pPr lvl="1"/>
            <a:r>
              <a:rPr lang="en-IN" sz="1800" dirty="0"/>
              <a:t>If there are </a:t>
            </a:r>
            <a:r>
              <a:rPr lang="en-IN" sz="1800" i="1" dirty="0">
                <a:solidFill>
                  <a:srgbClr val="00B050"/>
                </a:solidFill>
              </a:rPr>
              <a:t>L</a:t>
            </a:r>
            <a:r>
              <a:rPr lang="en-IN" sz="1800" dirty="0"/>
              <a:t> levels, </a:t>
            </a:r>
            <a:r>
              <a:rPr lang="en-IN" sz="1800" i="1" dirty="0">
                <a:solidFill>
                  <a:srgbClr val="00B050"/>
                </a:solidFill>
              </a:rPr>
              <a:t>L</a:t>
            </a:r>
            <a:r>
              <a:rPr lang="en-IN" sz="1800" i="1" baseline="30000" dirty="0">
                <a:solidFill>
                  <a:srgbClr val="00B050"/>
                </a:solidFill>
              </a:rPr>
              <a:t>n</a:t>
            </a:r>
            <a:r>
              <a:rPr lang="en-IN" sz="1800" dirty="0"/>
              <a:t> combinations of signal patterns can be produced</a:t>
            </a:r>
          </a:p>
          <a:p>
            <a:pPr lvl="1"/>
            <a:r>
              <a:rPr lang="en-IN" sz="1800" dirty="0"/>
              <a:t>If </a:t>
            </a:r>
            <a:r>
              <a:rPr lang="en-IN" sz="1800" dirty="0">
                <a:solidFill>
                  <a:srgbClr val="00B050"/>
                </a:solidFill>
              </a:rPr>
              <a:t>2</a:t>
            </a:r>
            <a:r>
              <a:rPr lang="en-IN" sz="1800" baseline="30000" dirty="0">
                <a:solidFill>
                  <a:srgbClr val="00B050"/>
                </a:solidFill>
              </a:rPr>
              <a:t>m</a:t>
            </a:r>
            <a:r>
              <a:rPr lang="en-IN" sz="1800" i="1" dirty="0">
                <a:solidFill>
                  <a:srgbClr val="00B050"/>
                </a:solidFill>
              </a:rPr>
              <a:t> </a:t>
            </a:r>
            <a:r>
              <a:rPr lang="en-IN" sz="1800" i="1" dirty="0"/>
              <a:t>=</a:t>
            </a:r>
            <a:r>
              <a:rPr lang="en-IN" sz="1800" i="1" dirty="0">
                <a:solidFill>
                  <a:srgbClr val="00B050"/>
                </a:solidFill>
              </a:rPr>
              <a:t> L</a:t>
            </a:r>
            <a:r>
              <a:rPr lang="en-IN" sz="1800" i="1" baseline="30000" dirty="0">
                <a:solidFill>
                  <a:srgbClr val="00B050"/>
                </a:solidFill>
              </a:rPr>
              <a:t>n</a:t>
            </a:r>
            <a:r>
              <a:rPr lang="en-IN" sz="1800" i="1" dirty="0"/>
              <a:t>, </a:t>
            </a:r>
            <a:r>
              <a:rPr lang="en-IN" sz="1800" dirty="0"/>
              <a:t>each data pattern is encoded using one signal pattern utilizing all signal patterns</a:t>
            </a:r>
          </a:p>
          <a:p>
            <a:pPr lvl="1"/>
            <a:r>
              <a:rPr lang="en-IN" sz="1800" dirty="0"/>
              <a:t>If </a:t>
            </a:r>
            <a:r>
              <a:rPr lang="en-IN" sz="1800" dirty="0">
                <a:solidFill>
                  <a:srgbClr val="00B050"/>
                </a:solidFill>
              </a:rPr>
              <a:t>2</a:t>
            </a:r>
            <a:r>
              <a:rPr lang="en-IN" sz="1800" baseline="30000" dirty="0">
                <a:solidFill>
                  <a:srgbClr val="00B050"/>
                </a:solidFill>
              </a:rPr>
              <a:t>m</a:t>
            </a:r>
            <a:r>
              <a:rPr lang="en-IN" sz="1800" i="1" dirty="0">
                <a:solidFill>
                  <a:srgbClr val="00B050"/>
                </a:solidFill>
              </a:rPr>
              <a:t> </a:t>
            </a:r>
            <a:r>
              <a:rPr lang="en-IN" sz="1800" i="1" dirty="0"/>
              <a:t>&lt;</a:t>
            </a:r>
            <a:r>
              <a:rPr lang="en-IN" sz="1800" i="1" dirty="0">
                <a:solidFill>
                  <a:srgbClr val="00B050"/>
                </a:solidFill>
              </a:rPr>
              <a:t> L</a:t>
            </a:r>
            <a:r>
              <a:rPr lang="en-IN" sz="1800" i="1" baseline="30000" dirty="0">
                <a:solidFill>
                  <a:srgbClr val="00B050"/>
                </a:solidFill>
              </a:rPr>
              <a:t>n</a:t>
            </a:r>
            <a:r>
              <a:rPr lang="en-IN" sz="1800" i="1" dirty="0"/>
              <a:t>, </a:t>
            </a:r>
            <a:r>
              <a:rPr lang="en-IN" sz="1800" dirty="0"/>
              <a:t>data patterns occupy only a subset of signal patterns</a:t>
            </a:r>
          </a:p>
          <a:p>
            <a:pPr lvl="1"/>
            <a:r>
              <a:rPr lang="en-IN" sz="1800" dirty="0"/>
              <a:t>This subset can be carefully designed to prevent baseline wandering, provide synchronization and to detect errors that occurred during transmission</a:t>
            </a:r>
          </a:p>
          <a:p>
            <a:pPr lvl="1"/>
            <a:r>
              <a:rPr lang="en-IN" sz="1800" dirty="0"/>
              <a:t>Data encoding is not possible if </a:t>
            </a:r>
            <a:r>
              <a:rPr lang="en-IN" sz="1800" dirty="0" err="1"/>
              <a:t>If</a:t>
            </a:r>
            <a:r>
              <a:rPr lang="en-IN" sz="1800" dirty="0"/>
              <a:t> </a:t>
            </a:r>
            <a:r>
              <a:rPr lang="en-IN" sz="1800" dirty="0">
                <a:solidFill>
                  <a:srgbClr val="00B050"/>
                </a:solidFill>
              </a:rPr>
              <a:t>2</a:t>
            </a:r>
            <a:r>
              <a:rPr lang="en-IN" sz="1800" baseline="30000" dirty="0">
                <a:solidFill>
                  <a:srgbClr val="00B050"/>
                </a:solidFill>
              </a:rPr>
              <a:t>m</a:t>
            </a:r>
            <a:r>
              <a:rPr lang="en-IN" sz="1800" i="1" dirty="0">
                <a:solidFill>
                  <a:srgbClr val="00B050"/>
                </a:solidFill>
              </a:rPr>
              <a:t> </a:t>
            </a:r>
            <a:r>
              <a:rPr lang="en-IN" sz="1800" i="1" dirty="0"/>
              <a:t>&gt;</a:t>
            </a:r>
            <a:r>
              <a:rPr lang="en-IN" sz="1800" i="1" dirty="0">
                <a:solidFill>
                  <a:srgbClr val="00B050"/>
                </a:solidFill>
              </a:rPr>
              <a:t> L</a:t>
            </a:r>
            <a:r>
              <a:rPr lang="en-IN" sz="1800" i="1" baseline="30000" dirty="0">
                <a:solidFill>
                  <a:srgbClr val="00B050"/>
                </a:solidFill>
              </a:rPr>
              <a:t>n</a:t>
            </a:r>
            <a:r>
              <a:rPr lang="en-IN" sz="1800" i="1" dirty="0"/>
              <a:t>, </a:t>
            </a:r>
            <a:r>
              <a:rPr lang="en-IN" sz="1800" dirty="0"/>
              <a:t>because some data patterns cannot be encoded</a:t>
            </a:r>
          </a:p>
        </p:txBody>
      </p:sp>
    </p:spTree>
    <p:extLst>
      <p:ext uri="{BB962C8B-B14F-4D97-AF65-F5344CB8AC3E}">
        <p14:creationId xmlns:p14="http://schemas.microsoft.com/office/powerpoint/2010/main" val="181819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86604"/>
            <a:ext cx="8231393" cy="816055"/>
          </a:xfrm>
        </p:spPr>
        <p:txBody>
          <a:bodyPr/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Multilevel Schemes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Codes are classified as </a:t>
            </a:r>
            <a:r>
              <a:rPr lang="en-IN" dirty="0" err="1">
                <a:solidFill>
                  <a:srgbClr val="00B050"/>
                </a:solidFill>
              </a:rPr>
              <a:t>mBnL</a:t>
            </a:r>
            <a:endParaRPr lang="en-IN" dirty="0">
              <a:solidFill>
                <a:srgbClr val="00B050"/>
              </a:solidFill>
            </a:endParaRPr>
          </a:p>
          <a:p>
            <a:pPr lvl="1"/>
            <a:r>
              <a:rPr lang="en-IN" dirty="0">
                <a:solidFill>
                  <a:srgbClr val="00B050"/>
                </a:solidFill>
              </a:rPr>
              <a:t>m</a:t>
            </a:r>
            <a:r>
              <a:rPr lang="en-IN" dirty="0"/>
              <a:t> is length of binary pattern</a:t>
            </a:r>
          </a:p>
          <a:p>
            <a:pPr lvl="1"/>
            <a:r>
              <a:rPr lang="en-IN" dirty="0">
                <a:solidFill>
                  <a:srgbClr val="00B050"/>
                </a:solidFill>
              </a:rPr>
              <a:t>B</a:t>
            </a:r>
            <a:r>
              <a:rPr lang="en-IN" dirty="0"/>
              <a:t> means binary data</a:t>
            </a:r>
          </a:p>
          <a:p>
            <a:pPr lvl="1"/>
            <a:r>
              <a:rPr lang="en-IN" dirty="0">
                <a:solidFill>
                  <a:srgbClr val="00B050"/>
                </a:solidFill>
              </a:rPr>
              <a:t>n</a:t>
            </a:r>
            <a:r>
              <a:rPr lang="en-IN" dirty="0"/>
              <a:t> is length of signal pattern</a:t>
            </a:r>
          </a:p>
          <a:p>
            <a:pPr lvl="1"/>
            <a:r>
              <a:rPr lang="en-IN" dirty="0">
                <a:solidFill>
                  <a:srgbClr val="00B050"/>
                </a:solidFill>
              </a:rPr>
              <a:t>L</a:t>
            </a:r>
            <a:r>
              <a:rPr lang="en-IN" dirty="0"/>
              <a:t> is number of levels in the signalling</a:t>
            </a:r>
          </a:p>
          <a:p>
            <a:r>
              <a:rPr lang="en-IN" dirty="0">
                <a:solidFill>
                  <a:srgbClr val="00B0F0"/>
                </a:solidFill>
              </a:rPr>
              <a:t>2B1Q</a:t>
            </a:r>
            <a:r>
              <a:rPr lang="en-IN" dirty="0"/>
              <a:t> – two binary, one quaternary</a:t>
            </a:r>
          </a:p>
          <a:p>
            <a:r>
              <a:rPr lang="en-IN" dirty="0">
                <a:solidFill>
                  <a:srgbClr val="00B0F0"/>
                </a:solidFill>
              </a:rPr>
              <a:t>8B6T</a:t>
            </a:r>
            <a:r>
              <a:rPr lang="en-IN" dirty="0"/>
              <a:t> – eight binary, six ternary</a:t>
            </a:r>
          </a:p>
          <a:p>
            <a:r>
              <a:rPr lang="en-IN" dirty="0">
                <a:solidFill>
                  <a:srgbClr val="00B0F0"/>
                </a:solidFill>
              </a:rPr>
              <a:t>4D – PAM5</a:t>
            </a:r>
            <a:r>
              <a:rPr lang="en-IN" dirty="0"/>
              <a:t> – four-dimensional five level pulse 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3358049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19" y="10432"/>
            <a:ext cx="7659687" cy="525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29555" y="5265057"/>
            <a:ext cx="6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Multilevel: 2B1Q – used in Digital Subscriber Line (DSL)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FC4CB-66A9-4FEE-AD46-0CD26CB3E453}"/>
              </a:ext>
            </a:extLst>
          </p:cNvPr>
          <p:cNvSpPr/>
          <p:nvPr/>
        </p:nvSpPr>
        <p:spPr>
          <a:xfrm>
            <a:off x="685800" y="5649931"/>
            <a:ext cx="777240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B0F0"/>
                </a:solidFill>
              </a:rPr>
              <a:t>In the 2B1Q scheme, we have no redundancy and we see that there is a possibility of DC component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CA3EBB-3786-4304-A5BC-413857719402}"/>
              </a:ext>
            </a:extLst>
          </p:cNvPr>
          <p:cNvSpPr txBox="1">
            <a:spLocks/>
          </p:cNvSpPr>
          <p:nvPr/>
        </p:nvSpPr>
        <p:spPr>
          <a:xfrm>
            <a:off x="107576" y="286605"/>
            <a:ext cx="2106706" cy="7264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2B1Q</a:t>
            </a:r>
          </a:p>
        </p:txBody>
      </p:sp>
    </p:spTree>
    <p:extLst>
      <p:ext uri="{BB962C8B-B14F-4D97-AF65-F5344CB8AC3E}">
        <p14:creationId xmlns:p14="http://schemas.microsoft.com/office/powerpoint/2010/main" val="3747295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6082"/>
            <a:ext cx="8921750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03798" y="2737393"/>
            <a:ext cx="6130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Multilevel: 8B6T – used with 100BASE-4T Cable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09548" y="3254188"/>
            <a:ext cx="8512202" cy="3275109"/>
          </a:xfrm>
        </p:spPr>
        <p:txBody>
          <a:bodyPr>
            <a:normAutofit fontScale="85000" lnSpcReduction="20000"/>
          </a:bodyPr>
          <a:lstStyle/>
          <a:p>
            <a:r>
              <a:rPr lang="en-US" sz="2100" b="0" i="0" dirty="0">
                <a:solidFill>
                  <a:srgbClr val="242021"/>
                </a:solidFill>
                <a:effectLst/>
                <a:latin typeface="Times-Roman"/>
              </a:rPr>
              <a:t>encode a pattern of 8 bits as a pattern of six signal elements, where the signal has three levels (ternary)</a:t>
            </a:r>
            <a:r>
              <a:rPr lang="en-US" sz="2400" dirty="0"/>
              <a:t> </a:t>
            </a:r>
            <a:br>
              <a:rPr lang="en-US" sz="2000" dirty="0"/>
            </a:br>
            <a:endParaRPr lang="en-US" sz="2000" dirty="0"/>
          </a:p>
          <a:p>
            <a:r>
              <a:rPr lang="en-IN" sz="2400" dirty="0"/>
              <a:t>No. of data patterns = 2^8 = 256</a:t>
            </a:r>
          </a:p>
          <a:p>
            <a:r>
              <a:rPr lang="en-IN" sz="2400" dirty="0"/>
              <a:t>L = 3</a:t>
            </a:r>
          </a:p>
          <a:p>
            <a:r>
              <a:rPr lang="en-IN" sz="2400" dirty="0"/>
              <a:t>Signal elements = 6</a:t>
            </a:r>
          </a:p>
          <a:p>
            <a:r>
              <a:rPr lang="en-IN" sz="2400" dirty="0"/>
              <a:t>Signal patterns possible = 3^6 = 729</a:t>
            </a:r>
          </a:p>
          <a:p>
            <a:r>
              <a:rPr lang="en-IN" sz="2400" dirty="0"/>
              <a:t>Redundant signals = 729 – 256 = 473</a:t>
            </a:r>
          </a:p>
          <a:p>
            <a:pPr lvl="1"/>
            <a:r>
              <a:rPr lang="en-IN" sz="2000" dirty="0"/>
              <a:t>Provide synchronization and error detection</a:t>
            </a:r>
          </a:p>
          <a:p>
            <a:pPr lvl="1"/>
            <a:r>
              <a:rPr lang="en-IN" sz="2000" dirty="0"/>
              <a:t>Used to provide DC balance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F3F0CC-875D-4EC2-827E-F6932236B125}"/>
              </a:ext>
            </a:extLst>
          </p:cNvPr>
          <p:cNvSpPr txBox="1">
            <a:spLocks/>
          </p:cNvSpPr>
          <p:nvPr/>
        </p:nvSpPr>
        <p:spPr>
          <a:xfrm>
            <a:off x="3518647" y="67729"/>
            <a:ext cx="2106706" cy="7264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8B6T</a:t>
            </a:r>
          </a:p>
        </p:txBody>
      </p:sp>
    </p:spTree>
    <p:extLst>
      <p:ext uri="{BB962C8B-B14F-4D97-AF65-F5344CB8AC3E}">
        <p14:creationId xmlns:p14="http://schemas.microsoft.com/office/powerpoint/2010/main" val="23917980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693" y="4274156"/>
            <a:ext cx="7680960" cy="91440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Average Signal rate S</a:t>
            </a:r>
            <a:r>
              <a:rPr lang="en-IN" baseline="-25000" dirty="0">
                <a:solidFill>
                  <a:srgbClr val="00B0F0"/>
                </a:solidFill>
              </a:rPr>
              <a:t>ave</a:t>
            </a:r>
            <a:r>
              <a:rPr lang="en-IN" dirty="0">
                <a:solidFill>
                  <a:srgbClr val="00B0F0"/>
                </a:solidFill>
              </a:rPr>
              <a:t> = ½ * N * 6/8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Minimum bandwidth is close to 6N/8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7693" y="2099245"/>
            <a:ext cx="806861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Each signal has weight 0 or +1 DC values</a:t>
            </a:r>
          </a:p>
          <a:p>
            <a:pPr lvl="1"/>
            <a:r>
              <a:rPr lang="en-IN" dirty="0">
                <a:solidFill>
                  <a:srgbClr val="00B0F0"/>
                </a:solidFill>
              </a:rPr>
              <a:t>No pattern has weight of -1</a:t>
            </a:r>
          </a:p>
          <a:p>
            <a:pPr lvl="1"/>
            <a:r>
              <a:rPr lang="en-IN" dirty="0">
                <a:solidFill>
                  <a:srgbClr val="00B0F0"/>
                </a:solidFill>
              </a:rPr>
              <a:t>To create DC balance, sender inverts the actual signal, if two consecutive groups of weight 1 are encountered</a:t>
            </a:r>
          </a:p>
          <a:p>
            <a:pPr lvl="1"/>
            <a:r>
              <a:rPr lang="en-IN" dirty="0">
                <a:solidFill>
                  <a:srgbClr val="00B0F0"/>
                </a:solidFill>
              </a:rPr>
              <a:t>Receiver can easily recognize the inverted pattern as the weight is -1</a:t>
            </a:r>
          </a:p>
          <a:p>
            <a:endParaRPr lang="en-US" sz="1800" b="0" i="0" dirty="0">
              <a:solidFill>
                <a:srgbClr val="242021"/>
              </a:solidFill>
              <a:effectLst/>
              <a:latin typeface="Times-Roman"/>
            </a:endParaRP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Times-Roman"/>
              </a:rPr>
              <a:t>This code is used with 100BASE-4T cable</a:t>
            </a:r>
            <a:r>
              <a:rPr lang="en-US" dirty="0"/>
              <a:t> </a:t>
            </a:r>
            <a:br>
              <a:rPr lang="en-US" dirty="0"/>
            </a:br>
            <a:endParaRPr lang="en-IN" dirty="0">
              <a:solidFill>
                <a:srgbClr val="00B0F0"/>
              </a:solidFill>
            </a:endParaRPr>
          </a:p>
          <a:p>
            <a:pPr lvl="1"/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CAD96A-CC4B-4CAF-A187-B5AB1443CE2E}"/>
              </a:ext>
            </a:extLst>
          </p:cNvPr>
          <p:cNvSpPr txBox="1">
            <a:spLocks/>
          </p:cNvSpPr>
          <p:nvPr/>
        </p:nvSpPr>
        <p:spPr>
          <a:xfrm>
            <a:off x="3518647" y="67729"/>
            <a:ext cx="2106706" cy="7264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8B6T</a:t>
            </a:r>
          </a:p>
        </p:txBody>
      </p:sp>
    </p:spTree>
    <p:extLst>
      <p:ext uri="{BB962C8B-B14F-4D97-AF65-F5344CB8AC3E}">
        <p14:creationId xmlns:p14="http://schemas.microsoft.com/office/powerpoint/2010/main" val="1112476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43169"/>
            <a:ext cx="7543800" cy="702302"/>
          </a:xfrm>
        </p:spPr>
        <p:txBody>
          <a:bodyPr>
            <a:normAutofit fontScale="90000"/>
          </a:bodyPr>
          <a:lstStyle/>
          <a:p>
            <a:r>
              <a:rPr lang="en-IN" dirty="0"/>
              <a:t>Line Coding: </a:t>
            </a:r>
            <a:r>
              <a:rPr lang="en-IN" dirty="0">
                <a:solidFill>
                  <a:srgbClr val="FF0000"/>
                </a:solidFill>
              </a:rPr>
              <a:t>4D-PAM5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21910D5-0D7F-4B0A-8B48-48533D45B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" r="219"/>
          <a:stretch/>
        </p:blipFill>
        <p:spPr bwMode="auto">
          <a:xfrm>
            <a:off x="215805" y="908222"/>
            <a:ext cx="8784000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B9EFDD-FB7E-4101-8BEE-0D22A40FE6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8008" t="12113" r="7598" b="-8167"/>
          <a:stretch/>
        </p:blipFill>
        <p:spPr>
          <a:xfrm>
            <a:off x="3918523" y="845471"/>
            <a:ext cx="5328000" cy="4932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FCDCA8-B81D-4039-B781-69099E56D833}"/>
              </a:ext>
            </a:extLst>
          </p:cNvPr>
          <p:cNvSpPr txBox="1"/>
          <p:nvPr/>
        </p:nvSpPr>
        <p:spPr>
          <a:xfrm>
            <a:off x="1390919" y="5025159"/>
            <a:ext cx="605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Multilevel: 4D-PAM5 Scheme – used in Gigabit LANs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73F53-CD44-411B-997D-B51A984D2666}"/>
              </a:ext>
            </a:extLst>
          </p:cNvPr>
          <p:cNvSpPr txBox="1"/>
          <p:nvPr/>
        </p:nvSpPr>
        <p:spPr>
          <a:xfrm>
            <a:off x="942683" y="4062361"/>
            <a:ext cx="264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8B4Q</a:t>
            </a:r>
          </a:p>
        </p:txBody>
      </p:sp>
    </p:spTree>
    <p:extLst>
      <p:ext uri="{BB962C8B-B14F-4D97-AF65-F5344CB8AC3E}">
        <p14:creationId xmlns:p14="http://schemas.microsoft.com/office/powerpoint/2010/main" val="168050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42164"/>
            <a:ext cx="8802688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90919" y="4765182"/>
            <a:ext cx="6053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Multilevel: 4D-PAM5 Scheme – used in Gigabit LANs</a:t>
            </a:r>
          </a:p>
        </p:txBody>
      </p:sp>
    </p:spTree>
    <p:extLst>
      <p:ext uri="{BB962C8B-B14F-4D97-AF65-F5344CB8AC3E}">
        <p14:creationId xmlns:p14="http://schemas.microsoft.com/office/powerpoint/2010/main" val="3679152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3641" y="1062330"/>
            <a:ext cx="8306872" cy="4829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B0F0"/>
                </a:solidFill>
              </a:rPr>
              <a:t>In some cases, we split the signal transmission up and distribute it over several links.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B0F0"/>
                </a:solidFill>
              </a:rPr>
              <a:t>The separate segments are transmitted simultaneously. This reduces the signaling rate per link -&gt; lower bandwidth.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B0F0"/>
                </a:solidFill>
              </a:rPr>
              <a:t>This requires all bits for a code to be stored.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00B0F0"/>
                </a:solidFill>
              </a:rPr>
              <a:t>xD</a:t>
            </a:r>
            <a:r>
              <a:rPr lang="en-US" dirty="0">
                <a:solidFill>
                  <a:srgbClr val="00B0F0"/>
                </a:solidFill>
              </a:rPr>
              <a:t>: means that we use ‘x’ links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00B0F0"/>
                </a:solidFill>
              </a:rPr>
              <a:t>YYYz</a:t>
            </a:r>
            <a:r>
              <a:rPr lang="en-US" dirty="0">
                <a:solidFill>
                  <a:srgbClr val="00B0F0"/>
                </a:solidFill>
              </a:rPr>
              <a:t>: We use ‘z’ levels of modulation where YYY represents the type of modulation (e.g. pulse amplitude modulation - PAM).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rgbClr val="00B0F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B0F0"/>
                </a:solidFill>
              </a:rPr>
              <a:t>Codes are represented as: </a:t>
            </a:r>
            <a:r>
              <a:rPr lang="en-US" dirty="0" err="1">
                <a:solidFill>
                  <a:srgbClr val="00B0F0"/>
                </a:solidFill>
              </a:rPr>
              <a:t>xD-YYYz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504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Coding: </a:t>
            </a:r>
            <a:r>
              <a:rPr lang="en-IN" dirty="0" err="1">
                <a:solidFill>
                  <a:srgbClr val="FF0000"/>
                </a:solidFill>
              </a:rPr>
              <a:t>Multitransition</a:t>
            </a:r>
            <a:r>
              <a:rPr lang="en-IN" dirty="0">
                <a:solidFill>
                  <a:srgbClr val="FF0000"/>
                </a:solidFill>
              </a:rPr>
              <a:t>: MLT-3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3 levels: +V, 0 and –V</a:t>
            </a:r>
          </a:p>
          <a:p>
            <a:r>
              <a:rPr lang="en-IN" dirty="0"/>
              <a:t>Three transition rules</a:t>
            </a:r>
          </a:p>
          <a:p>
            <a:pPr lvl="1"/>
            <a:r>
              <a:rPr lang="en-IN" dirty="0"/>
              <a:t>If the next bit is 0, there is no transition</a:t>
            </a:r>
          </a:p>
          <a:p>
            <a:pPr lvl="1"/>
            <a:r>
              <a:rPr lang="en-IN" dirty="0"/>
              <a:t>If the next bit is 1 and the current level is not 0, the next level is 0</a:t>
            </a:r>
          </a:p>
          <a:p>
            <a:pPr lvl="1"/>
            <a:r>
              <a:rPr lang="en-IN" dirty="0"/>
              <a:t>If the next bit is 1 and the current level is 0, the next level is the opposite of the last nonzero level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951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433835"/>
            <a:ext cx="8829675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77285" y="4726546"/>
            <a:ext cx="5950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Multitransition</a:t>
            </a:r>
            <a:r>
              <a:rPr lang="en-IN" dirty="0"/>
              <a:t>: MLT-3 Scheme</a:t>
            </a:r>
          </a:p>
        </p:txBody>
      </p:sp>
    </p:spTree>
    <p:extLst>
      <p:ext uri="{BB962C8B-B14F-4D97-AF65-F5344CB8AC3E}">
        <p14:creationId xmlns:p14="http://schemas.microsoft.com/office/powerpoint/2010/main" val="3361659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007" y="1499915"/>
            <a:ext cx="830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Signal rate is same as NRZ-I</a:t>
            </a:r>
          </a:p>
        </p:txBody>
      </p:sp>
      <p:sp>
        <p:nvSpPr>
          <p:cNvPr id="3" name="Rectangle 2"/>
          <p:cNvSpPr/>
          <p:nvPr/>
        </p:nvSpPr>
        <p:spPr>
          <a:xfrm>
            <a:off x="579007" y="2432387"/>
            <a:ext cx="8203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Because of the resulting bit pattern, we have a periodic signal for worst case bit pattern: 1111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007" y="3887699"/>
            <a:ext cx="8203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This can be approximated as an analog signal a frequency 1/4 the bit rate!</a:t>
            </a:r>
          </a:p>
        </p:txBody>
      </p:sp>
    </p:spTree>
    <p:extLst>
      <p:ext uri="{BB962C8B-B14F-4D97-AF65-F5344CB8AC3E}">
        <p14:creationId xmlns:p14="http://schemas.microsoft.com/office/powerpoint/2010/main" val="3729147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29996" y="1140629"/>
            <a:ext cx="8848725" cy="4175125"/>
            <a:chOff x="90" y="538"/>
            <a:chExt cx="5574" cy="2630"/>
          </a:xfrm>
        </p:grpSpPr>
        <p:pic>
          <p:nvPicPr>
            <p:cNvPr id="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538"/>
              <a:ext cx="5482" cy="14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" y="1882"/>
              <a:ext cx="5574" cy="1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9956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Block codes provide redundancy and improves performance of line coding</a:t>
            </a:r>
          </a:p>
          <a:p>
            <a:pPr lvl="1"/>
            <a:r>
              <a:rPr lang="en-IN" dirty="0"/>
              <a:t>Redundancy is needed for synchronization and providing some kind of inherent error detecting</a:t>
            </a:r>
          </a:p>
          <a:p>
            <a:r>
              <a:rPr lang="en-IN" dirty="0"/>
              <a:t>Block coding changes a block of </a:t>
            </a:r>
            <a:r>
              <a:rPr lang="en-IN" i="1" dirty="0">
                <a:solidFill>
                  <a:srgbClr val="00B050"/>
                </a:solidFill>
              </a:rPr>
              <a:t>m</a:t>
            </a:r>
            <a:r>
              <a:rPr lang="en-IN" dirty="0"/>
              <a:t> bits into a block of </a:t>
            </a:r>
            <a:r>
              <a:rPr lang="en-IN" dirty="0">
                <a:solidFill>
                  <a:srgbClr val="00B050"/>
                </a:solidFill>
              </a:rPr>
              <a:t>n</a:t>
            </a:r>
            <a:r>
              <a:rPr lang="en-IN" dirty="0"/>
              <a:t> bits</a:t>
            </a:r>
          </a:p>
          <a:p>
            <a:pPr lvl="1"/>
            <a:r>
              <a:rPr lang="en-IN" dirty="0">
                <a:solidFill>
                  <a:srgbClr val="00B050"/>
                </a:solidFill>
              </a:rPr>
              <a:t>n</a:t>
            </a:r>
            <a:r>
              <a:rPr lang="en-IN" dirty="0"/>
              <a:t> &gt; </a:t>
            </a:r>
            <a:r>
              <a:rPr lang="en-IN" dirty="0">
                <a:solidFill>
                  <a:srgbClr val="00B050"/>
                </a:solidFill>
              </a:rPr>
              <a:t>m</a:t>
            </a:r>
          </a:p>
          <a:p>
            <a:r>
              <a:rPr lang="en-IN" dirty="0"/>
              <a:t>Referred to as </a:t>
            </a:r>
            <a:r>
              <a:rPr lang="en-IN" dirty="0" err="1">
                <a:solidFill>
                  <a:srgbClr val="00B050"/>
                </a:solidFill>
              </a:rPr>
              <a:t>m</a:t>
            </a:r>
            <a:r>
              <a:rPr lang="en-IN" dirty="0" err="1"/>
              <a:t>B</a:t>
            </a:r>
            <a:r>
              <a:rPr lang="en-IN" dirty="0"/>
              <a:t>/</a:t>
            </a:r>
            <a:r>
              <a:rPr lang="en-IN" dirty="0" err="1">
                <a:solidFill>
                  <a:srgbClr val="00B050"/>
                </a:solidFill>
              </a:rPr>
              <a:t>n</a:t>
            </a:r>
            <a:r>
              <a:rPr lang="en-IN" dirty="0" err="1"/>
              <a:t>B</a:t>
            </a:r>
            <a:r>
              <a:rPr lang="en-IN" dirty="0"/>
              <a:t> encoding technique involves 3 steps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Division</a:t>
            </a:r>
            <a:r>
              <a:rPr lang="en-IN" dirty="0"/>
              <a:t> – sequence of bits is divided into </a:t>
            </a:r>
            <a:r>
              <a:rPr lang="en-IN" i="1" dirty="0"/>
              <a:t>m-bits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Substitution</a:t>
            </a:r>
            <a:r>
              <a:rPr lang="en-IN" dirty="0"/>
              <a:t> – substitute an </a:t>
            </a:r>
            <a:r>
              <a:rPr lang="en-IN" i="1" dirty="0"/>
              <a:t>m-bit</a:t>
            </a:r>
            <a:r>
              <a:rPr lang="en-IN" dirty="0"/>
              <a:t> group with an </a:t>
            </a:r>
            <a:r>
              <a:rPr lang="en-IN" i="1" dirty="0"/>
              <a:t>n-bit</a:t>
            </a:r>
            <a:r>
              <a:rPr lang="en-IN" dirty="0"/>
              <a:t> group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Combination</a:t>
            </a:r>
            <a:r>
              <a:rPr lang="en-IN" dirty="0"/>
              <a:t> – n-bit group is combined to form a stream</a:t>
            </a:r>
          </a:p>
          <a:p>
            <a:r>
              <a:rPr lang="en-IN" dirty="0"/>
              <a:t>The new stream has more bits than the original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280" y="5734029"/>
            <a:ext cx="876100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Block coding is normally referred to as </a:t>
            </a:r>
            <a:r>
              <a:rPr lang="en-US" sz="2000" b="1" i="1" dirty="0" err="1">
                <a:solidFill>
                  <a:srgbClr val="002060"/>
                </a:solidFill>
                <a:latin typeface="Arial" panose="020B0604020202020204" pitchFamily="34" charset="0"/>
              </a:rPr>
              <a:t>mB</a:t>
            </a:r>
            <a:r>
              <a:rPr lang="en-US" sz="2000" b="1" i="1" dirty="0">
                <a:solidFill>
                  <a:srgbClr val="002060"/>
                </a:solidFill>
                <a:latin typeface="Arial" panose="020B0604020202020204" pitchFamily="34" charset="0"/>
              </a:rPr>
              <a:t>/</a:t>
            </a:r>
            <a:r>
              <a:rPr lang="en-US" sz="2000" b="1" i="1" dirty="0" err="1">
                <a:solidFill>
                  <a:srgbClr val="002060"/>
                </a:solidFill>
                <a:latin typeface="Arial" panose="020B0604020202020204" pitchFamily="34" charset="0"/>
              </a:rPr>
              <a:t>nB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coding;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It replaces each </a:t>
            </a:r>
            <a:r>
              <a:rPr lang="en-US" sz="2000" b="1" i="1" dirty="0">
                <a:solidFill>
                  <a:srgbClr val="002060"/>
                </a:solidFill>
                <a:latin typeface="Arial" panose="020B0604020202020204" pitchFamily="34" charset="0"/>
              </a:rPr>
              <a:t>m-bit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group with an </a:t>
            </a:r>
            <a:r>
              <a:rPr lang="en-US" sz="2000" b="1" i="1" dirty="0">
                <a:solidFill>
                  <a:srgbClr val="002060"/>
                </a:solidFill>
                <a:latin typeface="Arial" panose="020B0604020202020204" pitchFamily="34" charset="0"/>
              </a:rPr>
              <a:t>n-bit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group</a:t>
            </a:r>
          </a:p>
        </p:txBody>
      </p:sp>
    </p:spTree>
    <p:extLst>
      <p:ext uri="{BB962C8B-B14F-4D97-AF65-F5344CB8AC3E}">
        <p14:creationId xmlns:p14="http://schemas.microsoft.com/office/powerpoint/2010/main" val="35918781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23" y="398753"/>
            <a:ext cx="5703887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71223" y="4687910"/>
            <a:ext cx="582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Block Coding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958" y="5369555"/>
            <a:ext cx="8339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The resulting bit stream prevents certain bit combinations that when used with line encoding would result in DC components or poor synchronization quality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0219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31" y="449441"/>
            <a:ext cx="8199437" cy="238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6631" y="3142445"/>
            <a:ext cx="866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Using Block Coding </a:t>
            </a:r>
            <a:r>
              <a:rPr lang="en-IN" b="1" dirty="0">
                <a:solidFill>
                  <a:srgbClr val="FF0000"/>
                </a:solidFill>
              </a:rPr>
              <a:t>4B/5B</a:t>
            </a:r>
            <a:r>
              <a:rPr lang="en-IN" b="1" dirty="0"/>
              <a:t> with NRZ-I line coding scheme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631" y="3812146"/>
            <a:ext cx="81994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Issues with NRZ-I (Revisited):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Synchronization problem – a long sequence of 0s can make receiver clock lose 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Resolved with 4B/5B encoding: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Block coded stream does not have more than 3 consecutive </a:t>
            </a:r>
            <a:r>
              <a:rPr lang="en-IN" dirty="0" err="1"/>
              <a:t>zeros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976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64" y="398284"/>
            <a:ext cx="8318500" cy="278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38648" y="3374265"/>
            <a:ext cx="607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Substitution in 4B/5B block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913" y="4108360"/>
            <a:ext cx="8183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Redundancy: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A 4 bit data word can have 2</a:t>
            </a:r>
            <a:r>
              <a:rPr lang="en-US" baseline="30000" dirty="0">
                <a:solidFill>
                  <a:srgbClr val="00B0F0"/>
                </a:solidFill>
              </a:rPr>
              <a:t>4</a:t>
            </a:r>
            <a:r>
              <a:rPr lang="en-US" dirty="0">
                <a:solidFill>
                  <a:srgbClr val="00B0F0"/>
                </a:solidFill>
              </a:rPr>
              <a:t> = 16 combinations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A 5 bit word can have 2</a:t>
            </a:r>
            <a:r>
              <a:rPr lang="en-US" baseline="30000" dirty="0">
                <a:solidFill>
                  <a:srgbClr val="00B0F0"/>
                </a:solidFill>
              </a:rPr>
              <a:t>5 </a:t>
            </a:r>
            <a:r>
              <a:rPr lang="en-US" dirty="0">
                <a:solidFill>
                  <a:srgbClr val="00B0F0"/>
                </a:solidFill>
              </a:rPr>
              <a:t>= 32 combinations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No. of extra words = 32 – 16 =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Some of these extra words are used for control/signaling purposes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5597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0506" y="792051"/>
            <a:ext cx="8721725" cy="5867400"/>
            <a:chOff x="122" y="559"/>
            <a:chExt cx="5494" cy="4058"/>
          </a:xfrm>
        </p:grpSpPr>
        <p:pic>
          <p:nvPicPr>
            <p:cNvPr id="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" y="559"/>
              <a:ext cx="5482" cy="1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" y="2208"/>
              <a:ext cx="5465" cy="2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270456" y="231820"/>
            <a:ext cx="349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4B/5B Mapping codes</a:t>
            </a:r>
          </a:p>
        </p:txBody>
      </p:sp>
    </p:spTree>
    <p:extLst>
      <p:ext uri="{BB962C8B-B14F-4D97-AF65-F5344CB8AC3E}">
        <p14:creationId xmlns:p14="http://schemas.microsoft.com/office/powerpoint/2010/main" val="33580225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0622"/>
            <a:ext cx="7680960" cy="1371600"/>
          </a:xfrm>
        </p:spPr>
        <p:txBody>
          <a:bodyPr>
            <a:noAutofit/>
          </a:bodyPr>
          <a:lstStyle/>
          <a:p>
            <a:r>
              <a:rPr lang="en-US" sz="2800" dirty="0"/>
              <a:t>We need to send data at a 1-Mbps rate. What is the minimum required bandwidth, using a combination of 4B/5B and NRZ-I or Manchester coding?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i="1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</a:rPr>
              <a:t>First 4B/5B block coding increases the bit rate to 1.25 Mbps.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</a:rPr>
              <a:t>The minimum bandwidth using NRZ-I is N/2 or 625 kHz.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</a:rPr>
              <a:t>The Manchester scheme needs a minimum bandwidth of 1.25 </a:t>
            </a:r>
            <a:r>
              <a:rPr lang="en-US" sz="2000" dirty="0" err="1">
                <a:latin typeface="Times" panose="02020603050405020304" pitchFamily="18" charset="0"/>
              </a:rPr>
              <a:t>MHz.</a:t>
            </a:r>
            <a:endParaRPr lang="en-US" sz="2000" dirty="0">
              <a:latin typeface="Times" panose="02020603050405020304" pitchFamily="18" charset="0"/>
            </a:endParaRPr>
          </a:p>
          <a:p>
            <a:pPr algn="just"/>
            <a:r>
              <a:rPr lang="en-US" sz="2000" dirty="0">
                <a:latin typeface="Times" panose="02020603050405020304" pitchFamily="18" charset="0"/>
              </a:rPr>
              <a:t>The first choice needs a lower bandwidth, but has a DC component problem;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</a:rPr>
              <a:t>The second choice needs a higher bandwidth but does not have a DC component problem.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996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37" y="315531"/>
            <a:ext cx="7669213" cy="243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4254" y="2833349"/>
            <a:ext cx="610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8B/10B Block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437" y="3773510"/>
            <a:ext cx="75695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More the bits – better the error correction: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No. of redundant bits = 2</a:t>
            </a:r>
            <a:r>
              <a:rPr lang="en-US" baseline="30000" dirty="0">
                <a:solidFill>
                  <a:srgbClr val="00B0F0"/>
                </a:solidFill>
              </a:rPr>
              <a:t>10</a:t>
            </a:r>
            <a:r>
              <a:rPr lang="en-US" dirty="0">
                <a:solidFill>
                  <a:srgbClr val="00B0F0"/>
                </a:solidFill>
              </a:rPr>
              <a:t> – 2</a:t>
            </a:r>
            <a:r>
              <a:rPr lang="en-US" baseline="30000" dirty="0">
                <a:solidFill>
                  <a:srgbClr val="00B0F0"/>
                </a:solidFill>
              </a:rPr>
              <a:t>8</a:t>
            </a:r>
            <a:r>
              <a:rPr lang="en-US" dirty="0">
                <a:solidFill>
                  <a:srgbClr val="00B0F0"/>
                </a:solidFill>
              </a:rPr>
              <a:t> = 768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The 8B10B block code adds more redundant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Thereby choose code words that would prevent a long run of a voltage level that would cause DC components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2654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Scrambling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093" y="1674253"/>
            <a:ext cx="8525814" cy="4778061"/>
          </a:xfrm>
        </p:spPr>
        <p:txBody>
          <a:bodyPr>
            <a:noAutofit/>
          </a:bodyPr>
          <a:lstStyle/>
          <a:p>
            <a:r>
              <a:rPr lang="en-IN" sz="2000" dirty="0" err="1"/>
              <a:t>Biphase</a:t>
            </a:r>
            <a:r>
              <a:rPr lang="en-IN" sz="2000" dirty="0"/>
              <a:t> schemes are not suitable in long-distance communications due to wide bandwidth requirement</a:t>
            </a:r>
          </a:p>
          <a:p>
            <a:r>
              <a:rPr lang="en-IN" sz="2000" dirty="0"/>
              <a:t>Combination of block codes and NRZ line coding are not suitable for long-distance communications due to the of DC component</a:t>
            </a:r>
          </a:p>
          <a:p>
            <a:r>
              <a:rPr lang="en-IN" sz="2000" dirty="0"/>
              <a:t>Bipolar AMI are preferred for long distances</a:t>
            </a:r>
          </a:p>
          <a:p>
            <a:pPr lvl="1"/>
            <a:r>
              <a:rPr lang="en-IN" sz="1800" dirty="0">
                <a:solidFill>
                  <a:srgbClr val="FF0000"/>
                </a:solidFill>
              </a:rPr>
              <a:t>Scrambling</a:t>
            </a:r>
            <a:r>
              <a:rPr lang="en-IN" sz="1800" dirty="0"/>
              <a:t> offers a solution that does not increase the number of bits and does provide synchronization</a:t>
            </a:r>
          </a:p>
          <a:p>
            <a:pPr lvl="1"/>
            <a:r>
              <a:rPr lang="en-IN" sz="1800" dirty="0"/>
              <a:t>Modifies part of the AMI rule to include scrambling</a:t>
            </a:r>
          </a:p>
          <a:p>
            <a:pPr lvl="1"/>
            <a:r>
              <a:rPr lang="en-IN" dirty="0"/>
              <a:t>Scrambling, as opposed to block coding, is done at the same time as line coding</a:t>
            </a:r>
            <a:endParaRPr lang="en-IN" sz="1800" dirty="0"/>
          </a:p>
          <a:p>
            <a:pPr lvl="1"/>
            <a:r>
              <a:rPr lang="en-IN" sz="1800" dirty="0"/>
              <a:t>System inserts required pulses based on the defined scrambling rules</a:t>
            </a:r>
          </a:p>
          <a:p>
            <a:pPr lvl="1"/>
            <a:r>
              <a:rPr lang="en-IN" sz="1800" dirty="0"/>
              <a:t>Two common scrambling techniques</a:t>
            </a:r>
          </a:p>
          <a:p>
            <a:pPr lvl="2"/>
            <a:r>
              <a:rPr lang="en-IN" sz="1600" dirty="0"/>
              <a:t>B8ZS (</a:t>
            </a:r>
            <a:r>
              <a:rPr lang="en-IN" sz="1600" dirty="0">
                <a:solidFill>
                  <a:srgbClr val="FF0000"/>
                </a:solidFill>
              </a:rPr>
              <a:t>B</a:t>
            </a:r>
            <a:r>
              <a:rPr lang="en-IN" sz="1600" dirty="0"/>
              <a:t>ipolar with </a:t>
            </a:r>
            <a:r>
              <a:rPr lang="en-IN" sz="1600" dirty="0">
                <a:solidFill>
                  <a:srgbClr val="FF0000"/>
                </a:solidFill>
              </a:rPr>
              <a:t>8 Z</a:t>
            </a:r>
            <a:r>
              <a:rPr lang="en-IN" sz="1600" dirty="0"/>
              <a:t>ero </a:t>
            </a:r>
            <a:r>
              <a:rPr lang="en-IN" sz="1600" dirty="0">
                <a:solidFill>
                  <a:srgbClr val="FF0000"/>
                </a:solidFill>
              </a:rPr>
              <a:t>S</a:t>
            </a:r>
            <a:r>
              <a:rPr lang="en-IN" sz="1600" dirty="0"/>
              <a:t>ubstitution)</a:t>
            </a:r>
          </a:p>
          <a:p>
            <a:pPr lvl="2"/>
            <a:r>
              <a:rPr lang="en-IN" sz="1600" dirty="0"/>
              <a:t>HDB3 (</a:t>
            </a:r>
            <a:r>
              <a:rPr lang="en-IN" sz="1600" dirty="0">
                <a:solidFill>
                  <a:srgbClr val="FF0000"/>
                </a:solidFill>
              </a:rPr>
              <a:t>H</a:t>
            </a:r>
            <a:r>
              <a:rPr lang="en-IN" sz="1600" dirty="0"/>
              <a:t>igh-</a:t>
            </a:r>
            <a:r>
              <a:rPr lang="en-IN" sz="1600" dirty="0">
                <a:solidFill>
                  <a:srgbClr val="FF0000"/>
                </a:solidFill>
              </a:rPr>
              <a:t>D</a:t>
            </a:r>
            <a:r>
              <a:rPr lang="en-IN" sz="1600" dirty="0"/>
              <a:t>ensity </a:t>
            </a:r>
            <a:r>
              <a:rPr lang="en-IN" sz="1600" dirty="0">
                <a:solidFill>
                  <a:srgbClr val="FF0000"/>
                </a:solidFill>
              </a:rPr>
              <a:t>B</a:t>
            </a:r>
            <a:r>
              <a:rPr lang="en-IN" sz="1600" dirty="0"/>
              <a:t>ipolar </a:t>
            </a:r>
            <a:r>
              <a:rPr lang="en-IN" sz="1600" dirty="0">
                <a:solidFill>
                  <a:srgbClr val="FF0000"/>
                </a:solidFill>
              </a:rPr>
              <a:t>3</a:t>
            </a:r>
            <a:r>
              <a:rPr lang="en-IN" sz="1600" dirty="0"/>
              <a:t>-zero)</a:t>
            </a:r>
          </a:p>
        </p:txBody>
      </p:sp>
    </p:spTree>
    <p:extLst>
      <p:ext uri="{BB962C8B-B14F-4D97-AF65-F5344CB8AC3E}">
        <p14:creationId xmlns:p14="http://schemas.microsoft.com/office/powerpoint/2010/main" val="22154695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89" y="352425"/>
            <a:ext cx="7861300" cy="261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09859" y="2975020"/>
            <a:ext cx="589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AMI used with Scrambling</a:t>
            </a:r>
          </a:p>
        </p:txBody>
      </p:sp>
    </p:spTree>
    <p:extLst>
      <p:ext uri="{BB962C8B-B14F-4D97-AF65-F5344CB8AC3E}">
        <p14:creationId xmlns:p14="http://schemas.microsoft.com/office/powerpoint/2010/main" val="31195551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5738" y="4497658"/>
            <a:ext cx="8761009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B8ZS substitutes eight consecutive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</a:rPr>
              <a:t>zeros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 with 000VB0VB.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The V stands for violation, it violates the AMI line encoding rule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B stands for bipolar, a nonzero level voltage following the AMI rule 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8" y="445327"/>
            <a:ext cx="8829675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90163" y="3284113"/>
            <a:ext cx="622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Two cases of B8ZS Scrambling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85D7D-E58D-4F7B-833D-868BDE1603D7}"/>
              </a:ext>
            </a:extLst>
          </p:cNvPr>
          <p:cNvSpPr txBox="1"/>
          <p:nvPr/>
        </p:nvSpPr>
        <p:spPr>
          <a:xfrm>
            <a:off x="1133341" y="3667219"/>
            <a:ext cx="7515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dirty="0">
                <a:solidFill>
                  <a:srgbClr val="FF0000"/>
                </a:solidFill>
                <a:effectLst/>
                <a:latin typeface="Times-Roman"/>
              </a:rPr>
              <a:t>The V means the same polarity as the polarity of the previous nonzero pulse; </a:t>
            </a:r>
          </a:p>
          <a:p>
            <a:pPr algn="ctr"/>
            <a:r>
              <a:rPr lang="en-US" sz="1800" b="0" i="0" dirty="0">
                <a:solidFill>
                  <a:srgbClr val="FF0000"/>
                </a:solidFill>
                <a:effectLst/>
                <a:latin typeface="Times-Roman"/>
              </a:rPr>
              <a:t>B means the polarity opposite to the polarity of the previous nonzero pulse.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1638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755" y="4215078"/>
            <a:ext cx="8761009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HDB3 substitutes four consecutive zeros with 000V or B00V depending on the number of nonzero pulses after the last substitution.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If # of non-zero pulses are even, the substitution is B00V to maintain total # of non-zero pulse even.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If # of non-zero pulses are odd, the substitution is 000V to make total # of non-zero pulses even.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902" y="364119"/>
            <a:ext cx="6462713" cy="356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57972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1540579"/>
          </a:xfrm>
        </p:spPr>
        <p:txBody>
          <a:bodyPr/>
          <a:lstStyle/>
          <a:p>
            <a:r>
              <a:rPr lang="en-IN" sz="4800" dirty="0" err="1"/>
              <a:t>Analog</a:t>
            </a:r>
            <a:r>
              <a:rPr lang="en-IN" sz="4800" dirty="0"/>
              <a:t>-to-Digital Conversion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71575" y="3837904"/>
            <a:ext cx="6803136" cy="1347078"/>
          </a:xfrm>
        </p:spPr>
        <p:txBody>
          <a:bodyPr>
            <a:normAutofit/>
          </a:bodyPr>
          <a:lstStyle/>
          <a:p>
            <a:r>
              <a:rPr lang="en-IN" sz="1800" dirty="0"/>
              <a:t>Pulse Code Modulation</a:t>
            </a:r>
          </a:p>
          <a:p>
            <a:r>
              <a:rPr lang="en-IN" sz="1800" dirty="0"/>
              <a:t>Delta Modulation</a:t>
            </a:r>
          </a:p>
        </p:txBody>
      </p:sp>
    </p:spTree>
    <p:extLst>
      <p:ext uri="{BB962C8B-B14F-4D97-AF65-F5344CB8AC3E}">
        <p14:creationId xmlns:p14="http://schemas.microsoft.com/office/powerpoint/2010/main" val="2630393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Pulse Coded Modulation (PCM)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PCM is the most common technique to change an </a:t>
            </a:r>
            <a:r>
              <a:rPr lang="en-IN" dirty="0" err="1"/>
              <a:t>analog</a:t>
            </a:r>
            <a:r>
              <a:rPr lang="en-IN" dirty="0"/>
              <a:t> signal into digital (digitization)</a:t>
            </a:r>
          </a:p>
          <a:p>
            <a:r>
              <a:rPr lang="en-IN" dirty="0"/>
              <a:t>PCM encoder has 3 processes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Sampling</a:t>
            </a:r>
            <a:r>
              <a:rPr lang="en-IN" dirty="0"/>
              <a:t> – </a:t>
            </a:r>
            <a:r>
              <a:rPr lang="en-IN" dirty="0" err="1"/>
              <a:t>analog</a:t>
            </a:r>
            <a:r>
              <a:rPr lang="en-IN" dirty="0"/>
              <a:t> signal is sampled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Quantization</a:t>
            </a:r>
            <a:r>
              <a:rPr lang="en-IN" dirty="0"/>
              <a:t> – </a:t>
            </a:r>
            <a:r>
              <a:rPr lang="en-IN" dirty="0" err="1"/>
              <a:t>analog</a:t>
            </a:r>
            <a:r>
              <a:rPr lang="en-IN" dirty="0"/>
              <a:t> signal is quantized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Encoding</a:t>
            </a:r>
            <a:r>
              <a:rPr lang="en-IN" dirty="0"/>
              <a:t> – quantized values are encoded as stream of bits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3422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84" y="904540"/>
            <a:ext cx="8821737" cy="398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90918" y="5100034"/>
            <a:ext cx="622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Components of the PCM Encoder</a:t>
            </a:r>
          </a:p>
        </p:txBody>
      </p:sp>
    </p:spTree>
    <p:extLst>
      <p:ext uri="{BB962C8B-B14F-4D97-AF65-F5344CB8AC3E}">
        <p14:creationId xmlns:p14="http://schemas.microsoft.com/office/powerpoint/2010/main" val="90701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PCM (Sampling)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37362"/>
            <a:ext cx="8525814" cy="4843744"/>
          </a:xfrm>
        </p:spPr>
        <p:txBody>
          <a:bodyPr>
            <a:noAutofit/>
          </a:bodyPr>
          <a:lstStyle/>
          <a:p>
            <a:r>
              <a:rPr lang="en-US" sz="2000" dirty="0"/>
              <a:t>Analog signal is sampled every T</a:t>
            </a:r>
            <a:r>
              <a:rPr lang="en-US" sz="2000" baseline="-25000" dirty="0"/>
              <a:t>S</a:t>
            </a:r>
            <a:r>
              <a:rPr lang="en-US" sz="2000" dirty="0"/>
              <a:t> </a:t>
            </a:r>
            <a:r>
              <a:rPr lang="en-US" sz="2000" dirty="0" err="1"/>
              <a:t>secs</a:t>
            </a:r>
            <a:endParaRPr lang="en-US" sz="2000" dirty="0"/>
          </a:p>
          <a:p>
            <a:pPr lvl="1"/>
            <a:r>
              <a:rPr lang="en-US" sz="1800" dirty="0" err="1"/>
              <a:t>T</a:t>
            </a:r>
            <a:r>
              <a:rPr lang="en-US" sz="1800" baseline="-25000" dirty="0" err="1"/>
              <a:t>s</a:t>
            </a:r>
            <a:r>
              <a:rPr lang="en-US" sz="1800" dirty="0"/>
              <a:t> is the </a:t>
            </a:r>
            <a:r>
              <a:rPr lang="en-US" sz="1800" dirty="0">
                <a:solidFill>
                  <a:srgbClr val="FF0000"/>
                </a:solidFill>
              </a:rPr>
              <a:t>sample interval </a:t>
            </a:r>
            <a:r>
              <a:rPr lang="en-US" sz="1800" dirty="0"/>
              <a:t>or </a:t>
            </a:r>
            <a:r>
              <a:rPr lang="en-US" sz="1800" dirty="0">
                <a:solidFill>
                  <a:srgbClr val="FF0000"/>
                </a:solidFill>
              </a:rPr>
              <a:t>period</a:t>
            </a:r>
          </a:p>
          <a:p>
            <a:pPr lvl="2"/>
            <a:r>
              <a:rPr lang="en-US" sz="1600" dirty="0"/>
              <a:t>Inverse is called </a:t>
            </a:r>
            <a:r>
              <a:rPr lang="en-US" sz="1600" dirty="0">
                <a:solidFill>
                  <a:srgbClr val="FF0000"/>
                </a:solidFill>
              </a:rPr>
              <a:t>Sampling Rate </a:t>
            </a:r>
            <a:r>
              <a:rPr lang="en-US" sz="1600" dirty="0"/>
              <a:t>or </a:t>
            </a:r>
            <a:r>
              <a:rPr lang="en-US" sz="1600" dirty="0">
                <a:solidFill>
                  <a:srgbClr val="FF0000"/>
                </a:solidFill>
              </a:rPr>
              <a:t>Sampling frequency </a:t>
            </a:r>
            <a:r>
              <a:rPr lang="en-US" sz="1600" dirty="0"/>
              <a:t>(f</a:t>
            </a:r>
            <a:r>
              <a:rPr lang="en-US" sz="1600" baseline="-25000" dirty="0"/>
              <a:t>s</a:t>
            </a:r>
            <a:r>
              <a:rPr lang="en-US" sz="1600" dirty="0"/>
              <a:t>)</a:t>
            </a:r>
          </a:p>
          <a:p>
            <a:r>
              <a:rPr lang="en-US" sz="2000" dirty="0"/>
              <a:t>Three sampling methods:</a:t>
            </a:r>
          </a:p>
          <a:p>
            <a:pPr lvl="1"/>
            <a:r>
              <a:rPr lang="en-US" sz="1800" dirty="0"/>
              <a:t>Ideal - an impulse at each sampling instant</a:t>
            </a:r>
          </a:p>
          <a:p>
            <a:pPr lvl="2"/>
            <a:r>
              <a:rPr lang="en-US" sz="1600" dirty="0"/>
              <a:t>Cannot be easily implemented</a:t>
            </a:r>
          </a:p>
          <a:p>
            <a:pPr lvl="1"/>
            <a:r>
              <a:rPr lang="en-US" sz="1800" dirty="0"/>
              <a:t>Natural - a pulse of short width with varying amplitude</a:t>
            </a:r>
          </a:p>
          <a:p>
            <a:pPr lvl="2"/>
            <a:r>
              <a:rPr lang="en-US" sz="1600" dirty="0"/>
              <a:t>High-speed switch is turned on for a small period</a:t>
            </a:r>
          </a:p>
          <a:p>
            <a:pPr lvl="1"/>
            <a:r>
              <a:rPr lang="en-US" sz="1800" dirty="0"/>
              <a:t>Flat-top - sample and hold, like natural but with single amplitude value</a:t>
            </a:r>
          </a:p>
          <a:p>
            <a:pPr lvl="2"/>
            <a:r>
              <a:rPr lang="en-US" sz="1600" dirty="0"/>
              <a:t>Most common method created using a circuit</a:t>
            </a:r>
          </a:p>
          <a:p>
            <a:r>
              <a:rPr lang="en-US" sz="2000" dirty="0"/>
              <a:t>The process is referred to as pulse amplitude modulation PAM and the outcome is a signal with analog (non integer) values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310558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11" y="488257"/>
            <a:ext cx="8848725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51527" y="5576552"/>
            <a:ext cx="619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 different Sampling Methods for PCM</a:t>
            </a:r>
          </a:p>
        </p:txBody>
      </p:sp>
    </p:spTree>
    <p:extLst>
      <p:ext uri="{BB962C8B-B14F-4D97-AF65-F5344CB8AC3E}">
        <p14:creationId xmlns:p14="http://schemas.microsoft.com/office/powerpoint/2010/main" val="20703206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41291"/>
            <a:ext cx="7680960" cy="510004"/>
          </a:xfrm>
        </p:spPr>
        <p:txBody>
          <a:bodyPr>
            <a:normAutofit fontScale="90000"/>
          </a:bodyPr>
          <a:lstStyle/>
          <a:p>
            <a:r>
              <a:rPr lang="en-IN" dirty="0"/>
              <a:t>PCM: Sampling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168" y="851295"/>
            <a:ext cx="8474298" cy="4901699"/>
          </a:xfrm>
        </p:spPr>
        <p:txBody>
          <a:bodyPr/>
          <a:lstStyle/>
          <a:p>
            <a:r>
              <a:rPr lang="en-IN" dirty="0" err="1">
                <a:solidFill>
                  <a:srgbClr val="FF0000"/>
                </a:solidFill>
              </a:rPr>
              <a:t>Nyquist</a:t>
            </a:r>
            <a:r>
              <a:rPr lang="en-IN" dirty="0">
                <a:solidFill>
                  <a:srgbClr val="FF0000"/>
                </a:solidFill>
              </a:rPr>
              <a:t> Theorem</a:t>
            </a:r>
          </a:p>
          <a:p>
            <a:pPr lvl="1"/>
            <a:r>
              <a:rPr lang="en-IN" dirty="0"/>
              <a:t>To reproduce the original </a:t>
            </a:r>
            <a:r>
              <a:rPr lang="en-IN" dirty="0" err="1"/>
              <a:t>analog</a:t>
            </a:r>
            <a:r>
              <a:rPr lang="en-IN" dirty="0"/>
              <a:t> signal, one necessary condition is that the </a:t>
            </a:r>
            <a:r>
              <a:rPr lang="en-IN" dirty="0">
                <a:solidFill>
                  <a:srgbClr val="00B050"/>
                </a:solidFill>
              </a:rPr>
              <a:t>sampling rate </a:t>
            </a:r>
            <a:r>
              <a:rPr lang="en-IN" dirty="0"/>
              <a:t>be </a:t>
            </a:r>
            <a:r>
              <a:rPr lang="en-IN" dirty="0">
                <a:solidFill>
                  <a:srgbClr val="00B050"/>
                </a:solidFill>
              </a:rPr>
              <a:t>at least twice </a:t>
            </a:r>
            <a:r>
              <a:rPr lang="en-IN" dirty="0"/>
              <a:t>the </a:t>
            </a:r>
            <a:r>
              <a:rPr lang="en-IN" dirty="0">
                <a:solidFill>
                  <a:srgbClr val="00B050"/>
                </a:solidFill>
              </a:rPr>
              <a:t>highest frequency </a:t>
            </a:r>
            <a:r>
              <a:rPr lang="en-IN" dirty="0"/>
              <a:t>in the original signal</a:t>
            </a:r>
          </a:p>
          <a:p>
            <a:pPr lvl="1"/>
            <a:r>
              <a:rPr lang="en-IN" dirty="0"/>
              <a:t>Sampling can be done only if the signal is band-limited i.e. infinite frequency signal can not be sampled</a:t>
            </a:r>
          </a:p>
          <a:p>
            <a:pPr lvl="1"/>
            <a:r>
              <a:rPr lang="en-IN" dirty="0"/>
              <a:t>Sampling rate must be 2 times the highest frequency; not the bandwidth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2774630"/>
            <a:ext cx="7331075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65915" y="6317087"/>
            <a:ext cx="680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Nyquist</a:t>
            </a:r>
            <a:r>
              <a:rPr lang="en-IN" dirty="0"/>
              <a:t> sampling rate for low-pass and </a:t>
            </a:r>
            <a:r>
              <a:rPr lang="en-IN" dirty="0" err="1"/>
              <a:t>bandpass</a:t>
            </a:r>
            <a:r>
              <a:rPr lang="en-IN" dirty="0"/>
              <a:t> signals</a:t>
            </a:r>
          </a:p>
        </p:txBody>
      </p:sp>
    </p:spTree>
    <p:extLst>
      <p:ext uri="{BB962C8B-B14F-4D97-AF65-F5344CB8AC3E}">
        <p14:creationId xmlns:p14="http://schemas.microsoft.com/office/powerpoint/2010/main" val="38140666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99" y="307743"/>
            <a:ext cx="8628845" cy="1134691"/>
          </a:xfrm>
        </p:spPr>
        <p:txBody>
          <a:bodyPr>
            <a:noAutofit/>
          </a:bodyPr>
          <a:lstStyle/>
          <a:p>
            <a:r>
              <a:rPr lang="en-US" sz="2000" b="1" dirty="0"/>
              <a:t>For an intuitive example of the </a:t>
            </a:r>
            <a:r>
              <a:rPr lang="en-US" sz="2000" b="1" dirty="0" err="1"/>
              <a:t>Nyquist</a:t>
            </a:r>
            <a:r>
              <a:rPr lang="en-US" sz="2000" b="1" dirty="0"/>
              <a:t> theorem, let us sample a simple sine wave at three sampling rates: f</a:t>
            </a:r>
            <a:r>
              <a:rPr lang="en-US" sz="2000" b="1" baseline="-25000" dirty="0"/>
              <a:t>s</a:t>
            </a:r>
            <a:r>
              <a:rPr lang="en-US" sz="2000" b="1" dirty="0"/>
              <a:t> = 4f (2 times the </a:t>
            </a:r>
            <a:r>
              <a:rPr lang="en-US" sz="2000" b="1" dirty="0" err="1"/>
              <a:t>Nyquist</a:t>
            </a:r>
            <a:r>
              <a:rPr lang="en-US" sz="2000" b="1" dirty="0"/>
              <a:t> rate), f</a:t>
            </a:r>
            <a:r>
              <a:rPr lang="en-US" sz="2000" b="1" baseline="-25000" dirty="0"/>
              <a:t>s</a:t>
            </a:r>
            <a:r>
              <a:rPr lang="en-US" sz="2000" b="1" dirty="0"/>
              <a:t> = 2f (</a:t>
            </a:r>
            <a:r>
              <a:rPr lang="en-US" sz="2000" b="1" dirty="0" err="1"/>
              <a:t>Nyquist</a:t>
            </a:r>
            <a:r>
              <a:rPr lang="en-US" sz="2000" b="1" dirty="0"/>
              <a:t> rate), and f</a:t>
            </a:r>
            <a:r>
              <a:rPr lang="en-US" sz="2000" b="1" baseline="-25000" dirty="0"/>
              <a:t>s</a:t>
            </a:r>
            <a:r>
              <a:rPr lang="en-US" sz="2000" b="1" dirty="0"/>
              <a:t> = f (one-half the </a:t>
            </a:r>
            <a:r>
              <a:rPr lang="en-US" sz="2000" b="1" dirty="0" err="1"/>
              <a:t>Nyquist</a:t>
            </a:r>
            <a:r>
              <a:rPr lang="en-US" sz="2000" b="1" dirty="0"/>
              <a:t> rate).</a:t>
            </a:r>
            <a:endParaRPr lang="en-IN" sz="2000" b="1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41" y="1565799"/>
            <a:ext cx="5705251" cy="4351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490174" y="6040195"/>
            <a:ext cx="4353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Recovery of a sampled sine wave for different sampling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668" y="2587152"/>
            <a:ext cx="28334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B0F0"/>
                </a:solidFill>
              </a:rPr>
              <a:t>Sampling at the </a:t>
            </a:r>
            <a:r>
              <a:rPr lang="en-US" i="1" dirty="0" err="1">
                <a:solidFill>
                  <a:srgbClr val="00B0F0"/>
                </a:solidFill>
              </a:rPr>
              <a:t>Nyquist</a:t>
            </a:r>
            <a:r>
              <a:rPr lang="en-US" i="1" dirty="0">
                <a:solidFill>
                  <a:srgbClr val="00B0F0"/>
                </a:solidFill>
              </a:rPr>
              <a:t> rate can create a good approximation of the original sine wave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B0F0"/>
                </a:solidFill>
              </a:rPr>
              <a:t>Fig. b and Fig. c does not produce the original signal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8758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3335" y="423679"/>
            <a:ext cx="886066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Consider the revolution of a hand of a clock.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second hand of a clock has a period of 60 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According to the Nyquist theorem, we need to sample the hand every 30 s (T</a:t>
            </a:r>
            <a:r>
              <a:rPr lang="en-US" baseline="-25000" dirty="0"/>
              <a:t>s</a:t>
            </a:r>
            <a:r>
              <a:rPr lang="en-US" dirty="0"/>
              <a:t> = T/2 or f</a:t>
            </a:r>
            <a:r>
              <a:rPr lang="en-US" baseline="-25000" dirty="0"/>
              <a:t>s</a:t>
            </a:r>
            <a:r>
              <a:rPr lang="en-US" dirty="0"/>
              <a:t> = 2f ).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In part a, the sample points, in order, are 12, 6, 12, 6, 12, and 6.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The receiver of the samples cannot tell if the clock is moving forward or backward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part b, we sample at double the </a:t>
            </a:r>
            <a:r>
              <a:rPr lang="en-US" dirty="0" err="1"/>
              <a:t>Nyquist</a:t>
            </a:r>
            <a:r>
              <a:rPr lang="en-US" dirty="0"/>
              <a:t> rate (every 15 s). The sample points are 12, 3, 6, 9, and 12.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The clock is moving forward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part c, we sample below the Nyquist rate (T</a:t>
            </a:r>
            <a:r>
              <a:rPr lang="en-US" baseline="-25000" dirty="0"/>
              <a:t>s</a:t>
            </a:r>
            <a:r>
              <a:rPr lang="en-US" dirty="0"/>
              <a:t> = 3T/4 or f</a:t>
            </a:r>
            <a:r>
              <a:rPr lang="en-US" baseline="-25000" dirty="0"/>
              <a:t>s</a:t>
            </a:r>
            <a:r>
              <a:rPr lang="en-US" dirty="0"/>
              <a:t> = 4f/3 ).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The sample points are 12, 9, 6, 3, and 12.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Although the clock is moving forward, the receiver thinks that the clock is moving backward.</a:t>
            </a:r>
          </a:p>
        </p:txBody>
      </p:sp>
    </p:spTree>
    <p:extLst>
      <p:ext uri="{BB962C8B-B14F-4D97-AF65-F5344CB8AC3E}">
        <p14:creationId xmlns:p14="http://schemas.microsoft.com/office/powerpoint/2010/main" val="14012364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313" y="716142"/>
            <a:ext cx="6727825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52282" y="5589431"/>
            <a:ext cx="631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Sampling of the clock with only one hand</a:t>
            </a:r>
          </a:p>
        </p:txBody>
      </p:sp>
    </p:spTree>
    <p:extLst>
      <p:ext uri="{BB962C8B-B14F-4D97-AF65-F5344CB8AC3E}">
        <p14:creationId xmlns:p14="http://schemas.microsoft.com/office/powerpoint/2010/main" val="24604214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366" y="294659"/>
            <a:ext cx="84099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An example related to seemingly backward rotation of the wheels of a forward-moving car in a movie. This can be explained by under-sampling. A movie is filmed at 24 frames per second. If a wheel is rotating more than 12 times per second, the under-sampling creates the impression of a backward rotation</a:t>
            </a:r>
            <a:endParaRPr lang="en-IN" dirty="0">
              <a:solidFill>
                <a:srgbClr val="00B0F0"/>
              </a:solidFill>
            </a:endParaRPr>
          </a:p>
        </p:txBody>
      </p:sp>
      <p:pic>
        <p:nvPicPr>
          <p:cNvPr id="8" name="Picture 2" descr="Free Wheel Rotation Animation by Hiccup Creation | LottieFiles">
            <a:extLst>
              <a:ext uri="{FF2B5EF4-FFF2-40B4-BE49-F238E27FC236}">
                <a16:creationId xmlns:a16="http://schemas.microsoft.com/office/drawing/2014/main" id="{82431B75-C1A3-4444-B72A-1A3B5A891B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354" y="2662518"/>
            <a:ext cx="2241176" cy="224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617F67-4E76-43FC-AB43-7E0B22898D78}"/>
              </a:ext>
            </a:extLst>
          </p:cNvPr>
          <p:cNvSpPr txBox="1"/>
          <p:nvPr/>
        </p:nvSpPr>
        <p:spPr>
          <a:xfrm>
            <a:off x="386366" y="5611906"/>
            <a:ext cx="3805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Video Demo: C14 5 Wagon wheel effect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81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386366" y="557086"/>
            <a:ext cx="84099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b="1" i="1" dirty="0">
                <a:solidFill>
                  <a:srgbClr val="00B0F0"/>
                </a:solidFill>
              </a:rPr>
              <a:t>Telephone companies digitize voice by assuming a maximum frequency of 4000 Hz. The sampling rate therefore is 8000 samples per second</a:t>
            </a:r>
            <a:endParaRPr lang="en-US" sz="2800" b="1" i="1" baseline="0" dirty="0"/>
          </a:p>
        </p:txBody>
      </p:sp>
      <p:sp>
        <p:nvSpPr>
          <p:cNvPr id="4" name="Rectangle 3"/>
          <p:cNvSpPr/>
          <p:nvPr/>
        </p:nvSpPr>
        <p:spPr>
          <a:xfrm>
            <a:off x="386366" y="1512843"/>
            <a:ext cx="8409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i="1" dirty="0"/>
              <a:t>A complex low-pass signal has a bandwidth of 200 kHz. What is the minimum sampling rate for this signal?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386366" y="2287964"/>
            <a:ext cx="8409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dirty="0">
                <a:latin typeface="Times" panose="02020603050405020304" pitchFamily="18" charset="0"/>
              </a:rPr>
              <a:t>The bandwidth of a low-pass signal is between 0 and f, where f is the maximum frequency in the signal. Therefore, we can sample this signal at 2 times the highest frequency (200 kHz). The sampling rate is therefore 400,000 samples per second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86366" y="3604204"/>
            <a:ext cx="8409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i="1" dirty="0"/>
              <a:t>A complex </a:t>
            </a:r>
            <a:r>
              <a:rPr lang="en-US" b="1" i="1" dirty="0" err="1"/>
              <a:t>bandpass</a:t>
            </a:r>
            <a:r>
              <a:rPr lang="en-US" b="1" i="1" dirty="0"/>
              <a:t> signal has a bandwidth of 200 kHz. What is the minimum sampling rate for this signal?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6366" y="4265895"/>
            <a:ext cx="84099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dirty="0">
                <a:latin typeface="Times" panose="02020603050405020304" pitchFamily="18" charset="0"/>
              </a:rPr>
              <a:t>We cannot find the minimum sampling rate in this case because we do not know where the bandwidth starts or ends. We do not know the maximum frequency in the signal.</a:t>
            </a:r>
          </a:p>
        </p:txBody>
      </p:sp>
    </p:spTree>
    <p:extLst>
      <p:ext uri="{BB962C8B-B14F-4D97-AF65-F5344CB8AC3E}">
        <p14:creationId xmlns:p14="http://schemas.microsoft.com/office/powerpoint/2010/main" val="298231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PCM: 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Sampling results in a series of pulses of varying amplitude values ranging between two limits: </a:t>
            </a:r>
            <a:r>
              <a:rPr lang="en-US" dirty="0" err="1"/>
              <a:t>a</a:t>
            </a:r>
            <a:r>
              <a:rPr lang="en-US" baseline="-25000" dirty="0" err="1"/>
              <a:t>min</a:t>
            </a:r>
            <a:r>
              <a:rPr lang="en-US" dirty="0"/>
              <a:t> and </a:t>
            </a:r>
            <a:r>
              <a:rPr lang="en-US" dirty="0" err="1"/>
              <a:t>a</a:t>
            </a:r>
            <a:r>
              <a:rPr lang="en-US" baseline="-25000" dirty="0" err="1"/>
              <a:t>max</a:t>
            </a:r>
            <a:endParaRPr lang="en-IN" baseline="-25000" dirty="0"/>
          </a:p>
          <a:p>
            <a:r>
              <a:rPr lang="en-US" dirty="0"/>
              <a:t>The amplitude values are infinite between the two limits</a:t>
            </a:r>
          </a:p>
          <a:p>
            <a:r>
              <a:rPr lang="en-US" dirty="0"/>
              <a:t>Need to map the </a:t>
            </a:r>
            <a:r>
              <a:rPr lang="en-US" i="1" dirty="0"/>
              <a:t>infinite</a:t>
            </a:r>
            <a:r>
              <a:rPr lang="en-US" dirty="0"/>
              <a:t> amplitude values onto a finite set of known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This is achieved by dividing the distance between min and max into </a:t>
            </a:r>
            <a:r>
              <a:rPr lang="en-US" dirty="0">
                <a:solidFill>
                  <a:schemeClr val="hlink"/>
                </a:solidFill>
              </a:rPr>
              <a:t>L</a:t>
            </a:r>
            <a:r>
              <a:rPr lang="en-US" dirty="0"/>
              <a:t> </a:t>
            </a:r>
            <a:r>
              <a:rPr lang="en-US" dirty="0">
                <a:solidFill>
                  <a:schemeClr val="hlink"/>
                </a:solidFill>
              </a:rPr>
              <a:t>zones</a:t>
            </a:r>
            <a:r>
              <a:rPr lang="en-US" dirty="0"/>
              <a:t>, each of</a:t>
            </a:r>
            <a:r>
              <a:rPr lang="en-US" dirty="0">
                <a:solidFill>
                  <a:schemeClr val="hlink"/>
                </a:solidFill>
              </a:rPr>
              <a:t> height </a:t>
            </a:r>
            <a:r>
              <a:rPr lang="en-US" dirty="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</a:t>
            </a:r>
          </a:p>
          <a:p>
            <a:pPr algn="ctr">
              <a:lnSpc>
                <a:spcPct val="90000"/>
              </a:lnSpc>
              <a:buFont typeface="Symbol" panose="05050102010706020507" pitchFamily="18" charset="2"/>
              <a:buChar char="D"/>
            </a:pPr>
            <a:r>
              <a:rPr lang="en-US" dirty="0"/>
              <a:t>= (max - min)/L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The midpoint of each zone is assigned a value from 0 to L-1 (resulting in L values)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Each sample falling in a zone is then approximated to the value of the midpoint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0928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817" y="482668"/>
            <a:ext cx="6846887" cy="512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94704" y="5885645"/>
            <a:ext cx="685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Quantization and Encoding of a sampled signal</a:t>
            </a:r>
          </a:p>
        </p:txBody>
      </p:sp>
    </p:spTree>
    <p:extLst>
      <p:ext uri="{BB962C8B-B14F-4D97-AF65-F5344CB8AC3E}">
        <p14:creationId xmlns:p14="http://schemas.microsoft.com/office/powerpoint/2010/main" val="42897245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9" y="1365160"/>
            <a:ext cx="7948841" cy="5009881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Maximum Voltage </a:t>
            </a:r>
            <a:r>
              <a:rPr lang="en-IN" dirty="0" err="1">
                <a:latin typeface="Bookman Old Style" panose="02050604050505020204" pitchFamily="18" charset="0"/>
              </a:rPr>
              <a:t>Vmax</a:t>
            </a:r>
            <a:r>
              <a:rPr lang="en-IN" dirty="0">
                <a:latin typeface="Bookman Old Style" panose="02050604050505020204" pitchFamily="18" charset="0"/>
              </a:rPr>
              <a:t> = 20 V</a:t>
            </a:r>
          </a:p>
          <a:p>
            <a:r>
              <a:rPr lang="en-IN" dirty="0">
                <a:latin typeface="Bookman Old Style" panose="02050604050505020204" pitchFamily="18" charset="0"/>
              </a:rPr>
              <a:t>Minimum Voltage </a:t>
            </a:r>
            <a:r>
              <a:rPr lang="en-IN" dirty="0" err="1">
                <a:latin typeface="Bookman Old Style" panose="02050604050505020204" pitchFamily="18" charset="0"/>
              </a:rPr>
              <a:t>Vmin</a:t>
            </a:r>
            <a:r>
              <a:rPr lang="en-IN" dirty="0">
                <a:latin typeface="Bookman Old Style" panose="02050604050505020204" pitchFamily="18" charset="0"/>
              </a:rPr>
              <a:t> = - 20 V</a:t>
            </a:r>
          </a:p>
          <a:p>
            <a:r>
              <a:rPr lang="en-IN" dirty="0">
                <a:latin typeface="Bookman Old Style" panose="02050604050505020204" pitchFamily="18" charset="0"/>
              </a:rPr>
              <a:t>Figure shows the actual amplitudes (ideal sampling)</a:t>
            </a:r>
          </a:p>
          <a:p>
            <a:r>
              <a:rPr lang="en-IN" dirty="0">
                <a:latin typeface="Bookman Old Style" panose="02050604050505020204" pitchFamily="18" charset="0"/>
              </a:rPr>
              <a:t>Normalized PAM values = actual amplitudes / ∆</a:t>
            </a:r>
          </a:p>
          <a:p>
            <a:r>
              <a:rPr lang="en-IN" dirty="0">
                <a:latin typeface="Bookman Old Style" panose="02050604050505020204" pitchFamily="18" charset="0"/>
              </a:rPr>
              <a:t>Normalized Quantized values = (mid point amplitude in each zone) / ∆ </a:t>
            </a:r>
          </a:p>
          <a:p>
            <a:r>
              <a:rPr lang="en-IN" dirty="0">
                <a:latin typeface="Bookman Old Style" panose="02050604050505020204" pitchFamily="18" charset="0"/>
              </a:rPr>
              <a:t>Normalized error = Normalized Quantized values – Normalized PAM values</a:t>
            </a:r>
          </a:p>
          <a:p>
            <a:r>
              <a:rPr lang="en-IN" dirty="0">
                <a:latin typeface="Bookman Old Style" panose="02050604050505020204" pitchFamily="18" charset="0"/>
              </a:rPr>
              <a:t>Quantization code – is based on the quantization levels at the left of the graph</a:t>
            </a:r>
          </a:p>
          <a:p>
            <a:endParaRPr lang="en-IN" dirty="0">
              <a:latin typeface="Bookman Old Style" panose="02050604050505020204" pitchFamily="18" charset="0"/>
            </a:endParaRPr>
          </a:p>
          <a:p>
            <a:r>
              <a:rPr lang="en-IN" dirty="0">
                <a:latin typeface="Bookman Old Style" panose="02050604050505020204" pitchFamily="18" charset="0"/>
              </a:rPr>
              <a:t>Encoded works – final products of the conversion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221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949" y="359466"/>
            <a:ext cx="2327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Quantization Zones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9476" y="728798"/>
            <a:ext cx="7772400" cy="183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Assume a voltage signal with amplitudes </a:t>
            </a:r>
          </a:p>
          <a:p>
            <a:pPr>
              <a:lnSpc>
                <a:spcPct val="90000"/>
              </a:lnSpc>
            </a:pPr>
            <a:r>
              <a:rPr lang="en-US" dirty="0"/>
              <a:t>	</a:t>
            </a:r>
            <a:r>
              <a:rPr lang="en-US" dirty="0" err="1"/>
              <a:t>V</a:t>
            </a:r>
            <a:r>
              <a:rPr lang="en-US" baseline="-25000" dirty="0" err="1"/>
              <a:t>min</a:t>
            </a:r>
            <a:r>
              <a:rPr lang="en-US" dirty="0"/>
              <a:t>= - 20V and </a:t>
            </a:r>
            <a:r>
              <a:rPr lang="en-US" dirty="0" err="1"/>
              <a:t>V</a:t>
            </a:r>
            <a:r>
              <a:rPr lang="en-US" baseline="-25000" dirty="0" err="1"/>
              <a:t>max</a:t>
            </a:r>
            <a:r>
              <a:rPr lang="en-US" baseline="-25000" dirty="0"/>
              <a:t> </a:t>
            </a:r>
            <a:r>
              <a:rPr lang="en-US" dirty="0"/>
              <a:t>= + 20V.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We want to use L = 8 quantization levels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Zone width</a:t>
            </a:r>
            <a:r>
              <a:rPr lang="en-US" dirty="0">
                <a:latin typeface="Symbol" panose="05050102010706020507" pitchFamily="18" charset="2"/>
                <a:sym typeface="Symbol" panose="05050102010706020507" pitchFamily="18" charset="2"/>
              </a:rPr>
              <a:t></a:t>
            </a:r>
            <a:r>
              <a:rPr lang="en-US" dirty="0"/>
              <a:t> = (20 – (-20))/8 = 5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8 zones are: -20 to -15, -15 to -10, -10 to -5, -5 to 0, 0 to +5, +5 to +10, +10 to +15, +15 to +20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midpoints are: -17.5, -12.5, -7.5, -2.5, 2.5, 7.5, 12.5, 17.5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949" y="2742371"/>
            <a:ext cx="3023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Assigning Codes to Zones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9476" y="3287850"/>
            <a:ext cx="745686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zone is then assigned a binary code.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number of bits required to encode the zones, or the number of bits per sample is as follows: </a:t>
            </a:r>
          </a:p>
          <a:p>
            <a:pPr algn="ctr">
              <a:lnSpc>
                <a:spcPct val="90000"/>
              </a:lnSpc>
            </a:pPr>
            <a:r>
              <a:rPr lang="en-US" dirty="0" err="1"/>
              <a:t>n</a:t>
            </a:r>
            <a:r>
              <a:rPr lang="en-US" baseline="-25000" dirty="0" err="1"/>
              <a:t>b</a:t>
            </a:r>
            <a:r>
              <a:rPr lang="en-US" dirty="0"/>
              <a:t> = log </a:t>
            </a:r>
            <a:r>
              <a:rPr lang="en-US" baseline="-25000" dirty="0"/>
              <a:t>2</a:t>
            </a:r>
            <a:r>
              <a:rPr lang="en-US" dirty="0"/>
              <a:t> L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Given our example, </a:t>
            </a:r>
            <a:r>
              <a:rPr lang="en-US" dirty="0" err="1"/>
              <a:t>n</a:t>
            </a:r>
            <a:r>
              <a:rPr lang="en-US" baseline="-25000" dirty="0" err="1"/>
              <a:t>b</a:t>
            </a:r>
            <a:r>
              <a:rPr lang="en-US" dirty="0"/>
              <a:t> = 3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8 zone (or level) codes are therefore: 000, 001, 010, 011, 100, 101, 110, and 111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Assigning codes to zones: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000 will refer to zone -20 to -15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001 to zone -15 to -10,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27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5507" y="333709"/>
            <a:ext cx="2165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Quantization Error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27278" y="843852"/>
            <a:ext cx="7688688" cy="3696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When a signal is quantized, we introduce an error - the coded signal is an approximation of the actual amplitude value.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difference between actual and coded value (midpoint) is referred to as the quantization error.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more zones, the smaller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sz="2000" dirty="0"/>
              <a:t> which results in smaller errors.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BUT, the more zones the more bits required to encode the samples -&gt; higher bit rate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Changes the signal-to-quantization-noise ratio of the signal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Reduces upper limit capacity (as per Shannon)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Signals with lower amplitude values will suffer more from quantization error as the error range: </a:t>
            </a:r>
            <a:r>
              <a:rPr 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sz="2000" dirty="0"/>
              <a:t>/2, is fixed for all signal levels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Nonlinear quantization is used to alleviate this problem. The goal is to keep SNR fixed for all sample values</a:t>
            </a: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131453" y="4680739"/>
            <a:ext cx="4881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rgbClr val="00B0F0"/>
                </a:solidFill>
              </a:rPr>
              <a:t>SQNR</a:t>
            </a:r>
            <a:r>
              <a:rPr lang="en-IN" b="1" baseline="-25000" dirty="0" err="1">
                <a:solidFill>
                  <a:srgbClr val="00B0F0"/>
                </a:solidFill>
              </a:rPr>
              <a:t>db</a:t>
            </a:r>
            <a:r>
              <a:rPr lang="en-IN" b="1" dirty="0">
                <a:solidFill>
                  <a:srgbClr val="00B0F0"/>
                </a:solidFill>
              </a:rPr>
              <a:t> = 6.02 </a:t>
            </a:r>
            <a:r>
              <a:rPr lang="en-IN" b="1" dirty="0" err="1">
                <a:solidFill>
                  <a:srgbClr val="00B0F0"/>
                </a:solidFill>
              </a:rPr>
              <a:t>n</a:t>
            </a:r>
            <a:r>
              <a:rPr lang="en-IN" b="1" baseline="-25000" dirty="0" err="1">
                <a:solidFill>
                  <a:srgbClr val="00B0F0"/>
                </a:solidFill>
              </a:rPr>
              <a:t>b</a:t>
            </a:r>
            <a:r>
              <a:rPr lang="en-IN" b="1" dirty="0">
                <a:solidFill>
                  <a:srgbClr val="00B0F0"/>
                </a:solidFill>
              </a:rPr>
              <a:t> + 1.76 dB</a:t>
            </a:r>
          </a:p>
          <a:p>
            <a:pPr algn="ctr"/>
            <a:endParaRPr lang="en-IN" b="1" dirty="0">
              <a:solidFill>
                <a:srgbClr val="00B0F0"/>
              </a:solidFill>
            </a:endParaRPr>
          </a:p>
          <a:p>
            <a:pPr algn="ctr"/>
            <a:r>
              <a:rPr lang="en-IN" dirty="0">
                <a:solidFill>
                  <a:srgbClr val="00B0F0"/>
                </a:solidFill>
              </a:rPr>
              <a:t>Where, </a:t>
            </a:r>
            <a:r>
              <a:rPr lang="en-IN" dirty="0" err="1">
                <a:solidFill>
                  <a:srgbClr val="00B0F0"/>
                </a:solidFill>
              </a:rPr>
              <a:t>n</a:t>
            </a:r>
            <a:r>
              <a:rPr lang="en-IN" baseline="-25000" dirty="0" err="1">
                <a:solidFill>
                  <a:srgbClr val="00B0F0"/>
                </a:solidFill>
              </a:rPr>
              <a:t>b</a:t>
            </a:r>
            <a:r>
              <a:rPr lang="en-IN" dirty="0">
                <a:solidFill>
                  <a:srgbClr val="00B0F0"/>
                </a:solidFill>
              </a:rPr>
              <a:t> – number of bits per sample</a:t>
            </a:r>
          </a:p>
          <a:p>
            <a:pPr algn="ctr"/>
            <a:r>
              <a:rPr lang="en-IN" dirty="0" err="1">
                <a:solidFill>
                  <a:srgbClr val="00B0F0"/>
                </a:solidFill>
              </a:rPr>
              <a:t>n</a:t>
            </a:r>
            <a:r>
              <a:rPr lang="en-IN" baseline="-25000" dirty="0" err="1">
                <a:solidFill>
                  <a:srgbClr val="00B0F0"/>
                </a:solidFill>
              </a:rPr>
              <a:t>b</a:t>
            </a:r>
            <a:r>
              <a:rPr lang="en-IN" dirty="0">
                <a:solidFill>
                  <a:srgbClr val="00B0F0"/>
                </a:solidFill>
              </a:rPr>
              <a:t> = log</a:t>
            </a:r>
            <a:r>
              <a:rPr lang="en-IN" baseline="-25000" dirty="0">
                <a:solidFill>
                  <a:srgbClr val="00B0F0"/>
                </a:solidFill>
              </a:rPr>
              <a:t>2</a:t>
            </a:r>
            <a:r>
              <a:rPr lang="en-IN" dirty="0">
                <a:solidFill>
                  <a:srgbClr val="00B0F0"/>
                </a:solidFill>
              </a:rPr>
              <a:t> L</a:t>
            </a:r>
          </a:p>
        </p:txBody>
      </p:sp>
    </p:spTree>
    <p:extLst>
      <p:ext uri="{BB962C8B-B14F-4D97-AF65-F5344CB8AC3E}">
        <p14:creationId xmlns:p14="http://schemas.microsoft.com/office/powerpoint/2010/main" val="101522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rgbClr val="92D050"/>
                </a:solidFill>
              </a:rPr>
              <a:t>What is </a:t>
            </a:r>
            <a:r>
              <a:rPr lang="en-IN" sz="2800" dirty="0" err="1">
                <a:solidFill>
                  <a:srgbClr val="92D050"/>
                </a:solidFill>
              </a:rPr>
              <a:t>SNR</a:t>
            </a:r>
            <a:r>
              <a:rPr lang="en-IN" sz="2800" baseline="-25000" dirty="0" err="1">
                <a:solidFill>
                  <a:srgbClr val="92D050"/>
                </a:solidFill>
              </a:rPr>
              <a:t>db</a:t>
            </a:r>
            <a:r>
              <a:rPr lang="en-IN" sz="2800" dirty="0">
                <a:solidFill>
                  <a:srgbClr val="92D050"/>
                </a:solidFill>
              </a:rPr>
              <a:t> in the previous example?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498412"/>
          </a:xfrm>
        </p:spPr>
        <p:txBody>
          <a:bodyPr/>
          <a:lstStyle/>
          <a:p>
            <a:pPr algn="ctr"/>
            <a:r>
              <a:rPr lang="en-IN" dirty="0" err="1"/>
              <a:t>SNR</a:t>
            </a:r>
            <a:r>
              <a:rPr lang="en-IN" baseline="-25000" dirty="0" err="1"/>
              <a:t>dB</a:t>
            </a:r>
            <a:r>
              <a:rPr lang="en-IN" dirty="0"/>
              <a:t> = 6.02(3) + 1.76 = 19.82 dB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31520" y="3061676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IN" sz="2000" dirty="0">
                <a:solidFill>
                  <a:srgbClr val="92D050"/>
                </a:solidFill>
              </a:rPr>
              <a:t>A telephone subscriber line must have an </a:t>
            </a:r>
            <a:r>
              <a:rPr lang="en-IN" sz="2000" dirty="0" err="1">
                <a:solidFill>
                  <a:srgbClr val="92D050"/>
                </a:solidFill>
              </a:rPr>
              <a:t>SNR</a:t>
            </a:r>
            <a:r>
              <a:rPr lang="en-IN" sz="2000" baseline="-25000" dirty="0" err="1">
                <a:solidFill>
                  <a:srgbClr val="92D050"/>
                </a:solidFill>
              </a:rPr>
              <a:t>db</a:t>
            </a:r>
            <a:r>
              <a:rPr lang="en-IN" sz="2000" dirty="0">
                <a:solidFill>
                  <a:srgbClr val="92D050"/>
                </a:solidFill>
              </a:rPr>
              <a:t> above 40. What is the minimum number of bits per sample?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3651" y="4752304"/>
            <a:ext cx="553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SNR</a:t>
            </a:r>
            <a:r>
              <a:rPr lang="en-IN" baseline="-25000" dirty="0" err="1"/>
              <a:t>db</a:t>
            </a:r>
            <a:r>
              <a:rPr lang="en-IN" dirty="0"/>
              <a:t> = 6.02 </a:t>
            </a:r>
            <a:r>
              <a:rPr lang="en-IN" dirty="0" err="1"/>
              <a:t>n</a:t>
            </a:r>
            <a:r>
              <a:rPr lang="en-IN" baseline="-25000" dirty="0" err="1"/>
              <a:t>b</a:t>
            </a:r>
            <a:r>
              <a:rPr lang="en-IN" dirty="0"/>
              <a:t> + 1.76 = 40 </a:t>
            </a:r>
            <a:r>
              <a:rPr lang="en-IN" dirty="0">
                <a:sym typeface="Wingdings" panose="05000000000000000000" pitchFamily="2" charset="2"/>
              </a:rPr>
              <a:t> n = 6.35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92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76517"/>
            <a:ext cx="7680960" cy="5911403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Uniform Versus </a:t>
            </a:r>
            <a:r>
              <a:rPr lang="en-IN" sz="2400" dirty="0" err="1">
                <a:solidFill>
                  <a:srgbClr val="FF0000"/>
                </a:solidFill>
              </a:rPr>
              <a:t>Nonuniform</a:t>
            </a:r>
            <a:r>
              <a:rPr lang="en-IN" sz="2400" dirty="0">
                <a:solidFill>
                  <a:srgbClr val="FF0000"/>
                </a:solidFill>
              </a:rPr>
              <a:t> Quantization</a:t>
            </a:r>
          </a:p>
          <a:p>
            <a:pPr lvl="1"/>
            <a:r>
              <a:rPr lang="en-IN" sz="2000" dirty="0"/>
              <a:t>For many applications, the distribution of instantaneous amplitudes in the </a:t>
            </a:r>
            <a:r>
              <a:rPr lang="en-IN" sz="2000" dirty="0" err="1"/>
              <a:t>analog</a:t>
            </a:r>
            <a:r>
              <a:rPr lang="en-IN" sz="2000" dirty="0"/>
              <a:t> signal is not uniform</a:t>
            </a:r>
          </a:p>
          <a:p>
            <a:pPr lvl="2"/>
            <a:r>
              <a:rPr lang="en-IN" sz="1800" dirty="0"/>
              <a:t>Amplitude changes more frequently in lower amplitudes than in higher ones</a:t>
            </a:r>
          </a:p>
          <a:p>
            <a:pPr lvl="2"/>
            <a:r>
              <a:rPr lang="en-US" sz="1800" dirty="0"/>
              <a:t>In speech and audio signals, lower amplitudes are more frequent than higher amplitudes.</a:t>
            </a:r>
            <a:endParaRPr lang="en-IN" sz="1800" dirty="0"/>
          </a:p>
          <a:p>
            <a:pPr lvl="1"/>
            <a:r>
              <a:rPr lang="en-IN" sz="2000" dirty="0"/>
              <a:t>Hence, use non-uniform zones</a:t>
            </a:r>
          </a:p>
          <a:p>
            <a:pPr lvl="2"/>
            <a:r>
              <a:rPr lang="en-IN" sz="1800" dirty="0"/>
              <a:t>Height of </a:t>
            </a:r>
            <a:r>
              <a:rPr lang="en-IN" sz="1800" dirty="0">
                <a:latin typeface="Bookman Old Style" panose="02050604050505020204" pitchFamily="18" charset="0"/>
              </a:rPr>
              <a:t>∆ is not fixed</a:t>
            </a:r>
          </a:p>
          <a:p>
            <a:pPr lvl="2"/>
            <a:r>
              <a:rPr lang="en-IN" sz="1800" dirty="0">
                <a:latin typeface="Bookman Old Style" panose="02050604050505020204" pitchFamily="18" charset="0"/>
              </a:rPr>
              <a:t>∆ is smaller at lower amplitudes and greater at higher amplitudes</a:t>
            </a:r>
          </a:p>
          <a:p>
            <a:pPr lvl="1"/>
            <a:r>
              <a:rPr lang="en-IN" sz="2000" dirty="0"/>
              <a:t>Achieved by using a process called </a:t>
            </a:r>
            <a:r>
              <a:rPr lang="en-IN" sz="2000" dirty="0" err="1">
                <a:solidFill>
                  <a:srgbClr val="00B050"/>
                </a:solidFill>
              </a:rPr>
              <a:t>companding</a:t>
            </a:r>
            <a:r>
              <a:rPr lang="en-IN" sz="2000" dirty="0">
                <a:solidFill>
                  <a:srgbClr val="00B050"/>
                </a:solidFill>
              </a:rPr>
              <a:t> (</a:t>
            </a:r>
            <a:r>
              <a:rPr lang="en-IN" sz="2000" dirty="0"/>
              <a:t>at sender</a:t>
            </a:r>
            <a:r>
              <a:rPr lang="en-IN" sz="2000" dirty="0">
                <a:solidFill>
                  <a:srgbClr val="00B050"/>
                </a:solidFill>
              </a:rPr>
              <a:t>)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00B050"/>
                </a:solidFill>
              </a:rPr>
              <a:t>expanding (</a:t>
            </a:r>
            <a:r>
              <a:rPr lang="en-IN" sz="2000" dirty="0"/>
              <a:t>at receiver</a:t>
            </a:r>
            <a:r>
              <a:rPr lang="en-IN" sz="2000" dirty="0">
                <a:solidFill>
                  <a:srgbClr val="00B050"/>
                </a:solidFill>
              </a:rPr>
              <a:t>)</a:t>
            </a:r>
          </a:p>
          <a:p>
            <a:pPr lvl="2"/>
            <a:r>
              <a:rPr lang="en-IN" sz="1800" dirty="0" err="1"/>
              <a:t>Companding</a:t>
            </a:r>
            <a:r>
              <a:rPr lang="en-IN" sz="1800" dirty="0"/>
              <a:t> reduces the instantaneous voltage amplitude for large values</a:t>
            </a:r>
          </a:p>
          <a:p>
            <a:pPr lvl="3"/>
            <a:r>
              <a:rPr lang="en-IN" sz="1800" dirty="0"/>
              <a:t>Gives greater weightage to strong signals</a:t>
            </a:r>
          </a:p>
          <a:p>
            <a:pPr lvl="3"/>
            <a:r>
              <a:rPr lang="en-IN" sz="1800" dirty="0"/>
              <a:t>Gives less weightage to weak signals</a:t>
            </a:r>
          </a:p>
          <a:p>
            <a:pPr lvl="2"/>
            <a:r>
              <a:rPr lang="en-IN" sz="1800" dirty="0"/>
              <a:t>Expanding is the opposite of </a:t>
            </a:r>
            <a:r>
              <a:rPr lang="en-IN" sz="1800" dirty="0" err="1"/>
              <a:t>companding</a:t>
            </a:r>
            <a:endParaRPr lang="en-IN" sz="1800" dirty="0"/>
          </a:p>
          <a:p>
            <a:pPr lvl="1"/>
            <a:r>
              <a:rPr lang="en-IN" sz="2000" dirty="0"/>
              <a:t>Effectively reduces </a:t>
            </a:r>
            <a:r>
              <a:rPr lang="en-IN" sz="2000" dirty="0" err="1"/>
              <a:t>SNR</a:t>
            </a:r>
            <a:r>
              <a:rPr lang="en-IN" sz="2000" baseline="-25000" dirty="0" err="1"/>
              <a:t>db</a:t>
            </a:r>
            <a:r>
              <a:rPr lang="en-IN" sz="2000" dirty="0"/>
              <a:t> of quantization</a:t>
            </a:r>
          </a:p>
        </p:txBody>
      </p:sp>
    </p:spTree>
    <p:extLst>
      <p:ext uri="{BB962C8B-B14F-4D97-AF65-F5344CB8AC3E}">
        <p14:creationId xmlns:p14="http://schemas.microsoft.com/office/powerpoint/2010/main" val="41202725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76517"/>
            <a:ext cx="7680960" cy="5911403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Uniform Versus Nonuniform Quantization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9E622-55DE-422D-884B-ABE1CFD15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883"/>
            <a:ext cx="9144000" cy="502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047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731520" y="476518"/>
            <a:ext cx="7680960" cy="3606086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</a:rPr>
              <a:t>Encoding</a:t>
            </a:r>
          </a:p>
          <a:p>
            <a:pPr lvl="1"/>
            <a:r>
              <a:rPr lang="en-IN" sz="2200" dirty="0"/>
              <a:t>After each sample is quantized, number of bits per sample is decided</a:t>
            </a:r>
          </a:p>
          <a:p>
            <a:pPr lvl="1"/>
            <a:r>
              <a:rPr lang="en-IN" sz="2200" dirty="0"/>
              <a:t>Each sample is changed to an </a:t>
            </a:r>
            <a:r>
              <a:rPr lang="en-IN" sz="2200" dirty="0" err="1"/>
              <a:t>n</a:t>
            </a:r>
            <a:r>
              <a:rPr lang="en-IN" sz="2200" baseline="-25000" dirty="0" err="1"/>
              <a:t>b</a:t>
            </a:r>
            <a:r>
              <a:rPr lang="en-IN" sz="2200" dirty="0"/>
              <a:t> – bit code word</a:t>
            </a:r>
          </a:p>
          <a:p>
            <a:pPr lvl="1"/>
            <a:r>
              <a:rPr lang="en-IN" sz="2200" dirty="0"/>
              <a:t>Number of bits for each sample (</a:t>
            </a:r>
            <a:r>
              <a:rPr lang="en-IN" sz="2200" dirty="0" err="1"/>
              <a:t>n</a:t>
            </a:r>
            <a:r>
              <a:rPr lang="en-IN" sz="2200" baseline="-25000" dirty="0" err="1"/>
              <a:t>b</a:t>
            </a:r>
            <a:r>
              <a:rPr lang="en-IN" sz="2200" dirty="0"/>
              <a:t>) is determined by the number of quantization levels (L)</a:t>
            </a:r>
          </a:p>
          <a:p>
            <a:pPr lvl="2"/>
            <a:r>
              <a:rPr lang="en-IN" sz="2000" dirty="0" err="1"/>
              <a:t>n</a:t>
            </a:r>
            <a:r>
              <a:rPr lang="en-IN" sz="2000" baseline="-25000" dirty="0" err="1"/>
              <a:t>b</a:t>
            </a:r>
            <a:r>
              <a:rPr lang="en-IN" sz="2000" dirty="0"/>
              <a:t> = log </a:t>
            </a:r>
            <a:r>
              <a:rPr lang="en-IN" sz="2000" baseline="-25000" dirty="0"/>
              <a:t>2</a:t>
            </a:r>
            <a:r>
              <a:rPr lang="en-IN" sz="2000" dirty="0"/>
              <a:t> L</a:t>
            </a:r>
          </a:p>
          <a:p>
            <a:pPr lvl="1"/>
            <a:r>
              <a:rPr lang="en-IN" sz="2200" dirty="0"/>
              <a:t>Bit rate = sampling rate X number of bits per sample</a:t>
            </a:r>
          </a:p>
          <a:p>
            <a:pPr lvl="1" algn="ctr"/>
            <a:r>
              <a:rPr lang="en-IN" sz="2200" dirty="0"/>
              <a:t>Bit rate = f</a:t>
            </a:r>
            <a:r>
              <a:rPr lang="en-IN" sz="2200" baseline="-25000" dirty="0"/>
              <a:t>s</a:t>
            </a:r>
            <a:r>
              <a:rPr lang="en-IN" sz="2200" dirty="0"/>
              <a:t> x </a:t>
            </a:r>
            <a:r>
              <a:rPr lang="en-IN" sz="2200" dirty="0" err="1"/>
              <a:t>n</a:t>
            </a:r>
            <a:r>
              <a:rPr lang="en-IN" sz="2200" baseline="-25000" dirty="0" err="1"/>
              <a:t>b</a:t>
            </a:r>
            <a:endParaRPr lang="en-IN" sz="2200" baseline="-25000" dirty="0"/>
          </a:p>
          <a:p>
            <a:pPr lvl="1"/>
            <a:endParaRPr lang="en-IN" sz="2200" dirty="0"/>
          </a:p>
          <a:p>
            <a:pPr lvl="1"/>
            <a:endParaRPr lang="en-IN" sz="2200" dirty="0"/>
          </a:p>
        </p:txBody>
      </p:sp>
      <p:sp>
        <p:nvSpPr>
          <p:cNvPr id="5" name="Rectangle 4"/>
          <p:cNvSpPr/>
          <p:nvPr/>
        </p:nvSpPr>
        <p:spPr>
          <a:xfrm>
            <a:off x="354168" y="4082604"/>
            <a:ext cx="86224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want to digitize the human voice. What is the bit rate, assuming 8 bits per sample?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18186" y="4728935"/>
            <a:ext cx="81008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dirty="0">
                <a:latin typeface="Times" panose="02020603050405020304" pitchFamily="18" charset="0"/>
              </a:rPr>
              <a:t>The human voice normally contains frequencies from 0 to 4000 Hz. So the sampling rate and bit rate are calculated as follows:</a:t>
            </a:r>
            <a:endParaRPr lang="en-IN" dirty="0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7" y="5817628"/>
            <a:ext cx="4886325" cy="65722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360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731520" y="347729"/>
            <a:ext cx="7680960" cy="606595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</a:rPr>
              <a:t>Original Signal recovery</a:t>
            </a:r>
          </a:p>
          <a:p>
            <a:pPr lvl="1"/>
            <a:r>
              <a:rPr lang="en-IN" sz="2200" dirty="0"/>
              <a:t>Requires PCM decoder</a:t>
            </a:r>
          </a:p>
          <a:p>
            <a:pPr lvl="1"/>
            <a:r>
              <a:rPr lang="en-IN" sz="2200" dirty="0"/>
              <a:t>Decoder uses circuitry to convert the code words into a pulse that holds the amplitude until the next pulse</a:t>
            </a:r>
          </a:p>
          <a:p>
            <a:pPr lvl="1"/>
            <a:r>
              <a:rPr lang="en-IN" sz="2200" dirty="0"/>
              <a:t>Stair-case pulse so created is sent through low pass filter to generate smooth </a:t>
            </a:r>
            <a:r>
              <a:rPr lang="en-IN" sz="2200" dirty="0" err="1"/>
              <a:t>analog</a:t>
            </a:r>
            <a:r>
              <a:rPr lang="en-IN" sz="2200" dirty="0"/>
              <a:t> signal</a:t>
            </a:r>
          </a:p>
          <a:p>
            <a:pPr lvl="2"/>
            <a:r>
              <a:rPr lang="en-IN" sz="2000" dirty="0"/>
              <a:t>Filter has same cut-off frequency as the original signal at the sender</a:t>
            </a:r>
          </a:p>
          <a:p>
            <a:pPr lvl="1"/>
            <a:r>
              <a:rPr lang="en-IN" sz="2200" dirty="0"/>
              <a:t>If the signal is sampled at the </a:t>
            </a:r>
            <a:r>
              <a:rPr lang="en-IN" sz="2200" dirty="0" err="1"/>
              <a:t>Nyquist</a:t>
            </a:r>
            <a:r>
              <a:rPr lang="en-IN" sz="2200" dirty="0"/>
              <a:t> sampling rate (or greater), if enough quantization levels are available, original signal will be recreated</a:t>
            </a:r>
          </a:p>
          <a:p>
            <a:pPr lvl="1"/>
            <a:r>
              <a:rPr lang="en-IN" sz="2200" dirty="0"/>
              <a:t>Maximum and minimum values of original signal can be achieved by amplification</a:t>
            </a:r>
          </a:p>
          <a:p>
            <a:pPr lvl="2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983043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45648"/>
            <a:ext cx="8510588" cy="337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00011" y="4765183"/>
            <a:ext cx="620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Components of the PCM decoder</a:t>
            </a:r>
          </a:p>
        </p:txBody>
      </p:sp>
    </p:spTree>
    <p:extLst>
      <p:ext uri="{BB962C8B-B14F-4D97-AF65-F5344CB8AC3E}">
        <p14:creationId xmlns:p14="http://schemas.microsoft.com/office/powerpoint/2010/main" val="20791792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731520" y="347729"/>
            <a:ext cx="7680960" cy="606595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</a:rPr>
              <a:t>PCM Bandwidth</a:t>
            </a:r>
          </a:p>
          <a:p>
            <a:pPr lvl="1"/>
            <a:r>
              <a:rPr lang="en-IN" sz="2200" dirty="0"/>
              <a:t>Minimum bandwidth of a line-encoded signal </a:t>
            </a:r>
          </a:p>
          <a:p>
            <a:pPr lvl="1" algn="ctr"/>
            <a:r>
              <a:rPr lang="en-IN" sz="2200" dirty="0" err="1"/>
              <a:t>B</a:t>
            </a:r>
            <a:r>
              <a:rPr lang="en-IN" sz="2200" baseline="-25000" dirty="0" err="1"/>
              <a:t>min</a:t>
            </a:r>
            <a:r>
              <a:rPr lang="en-IN" sz="2200" dirty="0"/>
              <a:t> = c * N * (1/r)</a:t>
            </a:r>
          </a:p>
          <a:p>
            <a:pPr lvl="1" algn="ctr"/>
            <a:r>
              <a:rPr lang="en-IN" sz="2200" dirty="0" err="1"/>
              <a:t>B</a:t>
            </a:r>
            <a:r>
              <a:rPr lang="en-IN" sz="2200" baseline="-25000" dirty="0" err="1"/>
              <a:t>min</a:t>
            </a:r>
            <a:r>
              <a:rPr lang="en-IN" sz="2200" dirty="0"/>
              <a:t> = c * </a:t>
            </a:r>
            <a:r>
              <a:rPr lang="en-IN" sz="2200" dirty="0" err="1"/>
              <a:t>n</a:t>
            </a:r>
            <a:r>
              <a:rPr lang="en-IN" sz="2200" baseline="-25000" dirty="0" err="1"/>
              <a:t>b</a:t>
            </a:r>
            <a:r>
              <a:rPr lang="en-IN" sz="2200" dirty="0"/>
              <a:t> * f</a:t>
            </a:r>
            <a:r>
              <a:rPr lang="en-IN" sz="2200" baseline="-25000" dirty="0"/>
              <a:t>s</a:t>
            </a:r>
            <a:r>
              <a:rPr lang="en-IN" sz="2200" dirty="0"/>
              <a:t> * (1/r)</a:t>
            </a:r>
          </a:p>
          <a:p>
            <a:pPr lvl="1" algn="ctr"/>
            <a:r>
              <a:rPr lang="en-IN" sz="2200" dirty="0" err="1"/>
              <a:t>B</a:t>
            </a:r>
            <a:r>
              <a:rPr lang="en-IN" sz="2200" baseline="-25000" dirty="0" err="1"/>
              <a:t>min</a:t>
            </a:r>
            <a:r>
              <a:rPr lang="en-IN" sz="2200" dirty="0"/>
              <a:t> = c * </a:t>
            </a:r>
            <a:r>
              <a:rPr lang="en-IN" sz="2200" dirty="0" err="1"/>
              <a:t>n</a:t>
            </a:r>
            <a:r>
              <a:rPr lang="en-IN" sz="2200" baseline="-25000" dirty="0" err="1"/>
              <a:t>b</a:t>
            </a:r>
            <a:r>
              <a:rPr lang="en-IN" sz="2200" dirty="0"/>
              <a:t> * 2 * </a:t>
            </a:r>
            <a:r>
              <a:rPr lang="en-IN" sz="2200" dirty="0" err="1"/>
              <a:t>B</a:t>
            </a:r>
            <a:r>
              <a:rPr lang="en-IN" sz="2200" baseline="-25000" dirty="0" err="1"/>
              <a:t>analog</a:t>
            </a:r>
            <a:r>
              <a:rPr lang="en-IN" sz="2200" dirty="0"/>
              <a:t> * (1/r)</a:t>
            </a:r>
          </a:p>
          <a:p>
            <a:pPr lvl="1"/>
            <a:r>
              <a:rPr lang="en-IN" sz="2200" dirty="0"/>
              <a:t>When 1/r = 1 for NRZ or bipolar and c = ½ (the average situation)</a:t>
            </a:r>
          </a:p>
          <a:p>
            <a:pPr lvl="2" algn="ctr"/>
            <a:r>
              <a:rPr lang="en-IN" sz="2000" dirty="0" err="1"/>
              <a:t>B</a:t>
            </a:r>
            <a:r>
              <a:rPr lang="en-IN" sz="2000" baseline="-25000" dirty="0" err="1"/>
              <a:t>min</a:t>
            </a:r>
            <a:r>
              <a:rPr lang="en-IN" sz="2000" dirty="0"/>
              <a:t> = </a:t>
            </a:r>
            <a:r>
              <a:rPr lang="en-IN" sz="2000" dirty="0" err="1"/>
              <a:t>n</a:t>
            </a:r>
            <a:r>
              <a:rPr lang="en-IN" sz="2000" baseline="-25000" dirty="0" err="1"/>
              <a:t>b</a:t>
            </a:r>
            <a:r>
              <a:rPr lang="en-IN" sz="2000" dirty="0"/>
              <a:t> * </a:t>
            </a:r>
            <a:r>
              <a:rPr lang="en-IN" sz="2000" dirty="0" err="1"/>
              <a:t>B</a:t>
            </a:r>
            <a:r>
              <a:rPr lang="en-IN" sz="2000" baseline="-25000" dirty="0" err="1"/>
              <a:t>analog</a:t>
            </a:r>
            <a:endParaRPr lang="en-IN" sz="2000" baseline="-25000" dirty="0"/>
          </a:p>
          <a:p>
            <a:pPr lvl="2"/>
            <a:r>
              <a:rPr lang="en-IN" sz="2000" dirty="0"/>
              <a:t>Minimum bandwidth of the digital signal is </a:t>
            </a:r>
            <a:r>
              <a:rPr lang="en-IN" sz="2000" dirty="0" err="1"/>
              <a:t>n</a:t>
            </a:r>
            <a:r>
              <a:rPr lang="en-IN" sz="2000" baseline="-25000" dirty="0" err="1"/>
              <a:t>b</a:t>
            </a:r>
            <a:r>
              <a:rPr lang="en-IN" sz="2000" dirty="0"/>
              <a:t> times greater than the bandwidth of the </a:t>
            </a:r>
            <a:r>
              <a:rPr lang="en-IN" sz="2000" dirty="0" err="1"/>
              <a:t>analog</a:t>
            </a:r>
            <a:r>
              <a:rPr lang="en-IN" sz="2000" dirty="0"/>
              <a:t> signal</a:t>
            </a:r>
          </a:p>
          <a:p>
            <a:pPr lvl="3"/>
            <a:r>
              <a:rPr lang="en-IN" sz="2000" dirty="0"/>
              <a:t>Price we pay for digitization</a:t>
            </a:r>
          </a:p>
        </p:txBody>
      </p:sp>
    </p:spTree>
    <p:extLst>
      <p:ext uri="{BB962C8B-B14F-4D97-AF65-F5344CB8AC3E}">
        <p14:creationId xmlns:p14="http://schemas.microsoft.com/office/powerpoint/2010/main" val="5451290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28600" y="589209"/>
            <a:ext cx="8686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2400" i="1" baseline="0" dirty="0">
                <a:solidFill>
                  <a:srgbClr val="00B0F0"/>
                </a:solidFill>
              </a:rPr>
              <a:t>We have a low-pass analog signal of 4 kHz. If we send the analog signal, we need a channel with a minimum bandwidth of 4 kHz. If we digitize the signal and send 8 bits per sample, we need a channel with a minimum bandwidth of 8 × 4 kHz = 32 kHz.</a:t>
            </a:r>
          </a:p>
        </p:txBody>
      </p:sp>
    </p:spTree>
    <p:extLst>
      <p:ext uri="{BB962C8B-B14F-4D97-AF65-F5344CB8AC3E}">
        <p14:creationId xmlns:p14="http://schemas.microsoft.com/office/powerpoint/2010/main" val="41038665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231819"/>
            <a:ext cx="8603088" cy="6336405"/>
          </a:xfrm>
        </p:spPr>
        <p:txBody>
          <a:bodyPr/>
          <a:lstStyle/>
          <a:p>
            <a:r>
              <a:rPr lang="en-IN" dirty="0"/>
              <a:t>Maximum Data Rate of a Channel</a:t>
            </a:r>
          </a:p>
          <a:p>
            <a:pPr lvl="1"/>
            <a:r>
              <a:rPr lang="en-IN" dirty="0"/>
              <a:t>Data rate of the channel </a:t>
            </a:r>
          </a:p>
          <a:p>
            <a:pPr marL="274320" lvl="1" indent="0" algn="ctr">
              <a:buNone/>
            </a:pPr>
            <a:r>
              <a:rPr lang="en-IN" sz="2000" b="1" dirty="0" err="1">
                <a:solidFill>
                  <a:srgbClr val="00B0F0"/>
                </a:solidFill>
              </a:rPr>
              <a:t>N</a:t>
            </a:r>
            <a:r>
              <a:rPr lang="en-IN" sz="2000" b="1" baseline="-25000" dirty="0" err="1">
                <a:solidFill>
                  <a:srgbClr val="00B0F0"/>
                </a:solidFill>
              </a:rPr>
              <a:t>max</a:t>
            </a:r>
            <a:r>
              <a:rPr lang="en-IN" sz="2000" b="1" dirty="0">
                <a:solidFill>
                  <a:srgbClr val="00B0F0"/>
                </a:solidFill>
              </a:rPr>
              <a:t> = 2 * B * log </a:t>
            </a:r>
            <a:r>
              <a:rPr lang="en-IN" sz="2000" b="1" baseline="-25000" dirty="0">
                <a:solidFill>
                  <a:srgbClr val="00B0F0"/>
                </a:solidFill>
              </a:rPr>
              <a:t>2</a:t>
            </a:r>
            <a:r>
              <a:rPr lang="en-IN" sz="2000" b="1" dirty="0">
                <a:solidFill>
                  <a:srgbClr val="00B0F0"/>
                </a:solidFill>
              </a:rPr>
              <a:t> L</a:t>
            </a:r>
          </a:p>
          <a:p>
            <a:r>
              <a:rPr lang="en-IN" dirty="0">
                <a:solidFill>
                  <a:srgbClr val="92D050"/>
                </a:solidFill>
              </a:rPr>
              <a:t>Proof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Assume that the available channel is low-pass with bandwidth B</a:t>
            </a:r>
          </a:p>
          <a:p>
            <a:pPr lvl="1"/>
            <a:r>
              <a:rPr lang="en-IN" dirty="0"/>
              <a:t>Assume that the digital signal we want to send has L levels, each level is a signal element</a:t>
            </a:r>
          </a:p>
          <a:p>
            <a:pPr marL="274320" lvl="1" indent="0" algn="ctr">
              <a:buNone/>
            </a:pPr>
            <a:r>
              <a:rPr lang="en-IN" sz="2000" b="1" dirty="0">
                <a:solidFill>
                  <a:srgbClr val="00B0F0"/>
                </a:solidFill>
              </a:rPr>
              <a:t>r = 1/log </a:t>
            </a:r>
            <a:r>
              <a:rPr lang="en-IN" sz="2000" b="1" baseline="-25000" dirty="0">
                <a:solidFill>
                  <a:srgbClr val="00B0F0"/>
                </a:solidFill>
              </a:rPr>
              <a:t>2</a:t>
            </a:r>
            <a:r>
              <a:rPr lang="en-IN" sz="2000" b="1" dirty="0">
                <a:solidFill>
                  <a:srgbClr val="00B0F0"/>
                </a:solidFill>
              </a:rPr>
              <a:t> L</a:t>
            </a:r>
          </a:p>
          <a:p>
            <a:pPr lvl="1"/>
            <a:r>
              <a:rPr lang="en-IN" dirty="0"/>
              <a:t>First, pass the digital signal through a low – pass filter to cut off the frequencies above B Hz</a:t>
            </a:r>
          </a:p>
          <a:p>
            <a:pPr lvl="1"/>
            <a:r>
              <a:rPr lang="en-IN" dirty="0"/>
              <a:t>Treat the resulting signal as an </a:t>
            </a:r>
            <a:r>
              <a:rPr lang="en-IN" dirty="0" err="1"/>
              <a:t>analog</a:t>
            </a:r>
            <a:r>
              <a:rPr lang="en-IN" dirty="0"/>
              <a:t> signal and sample it at 2 * B samples per second and quantize it using L levels</a:t>
            </a:r>
          </a:p>
          <a:p>
            <a:pPr lvl="2"/>
            <a:r>
              <a:rPr lang="en-IN" dirty="0"/>
              <a:t>Additional levels are useless as the original signal had L levels</a:t>
            </a:r>
          </a:p>
          <a:p>
            <a:pPr lvl="1"/>
            <a:r>
              <a:rPr lang="en-IN" dirty="0"/>
              <a:t>Resulting bit rate is </a:t>
            </a:r>
          </a:p>
          <a:p>
            <a:pPr marL="274320" lvl="1" indent="0" algn="ctr">
              <a:buNone/>
            </a:pPr>
            <a:r>
              <a:rPr lang="en-IN" dirty="0">
                <a:solidFill>
                  <a:srgbClr val="00B0F0"/>
                </a:solidFill>
              </a:rPr>
              <a:t>N = f</a:t>
            </a:r>
            <a:r>
              <a:rPr lang="en-IN" baseline="-25000" dirty="0">
                <a:solidFill>
                  <a:srgbClr val="00B0F0"/>
                </a:solidFill>
              </a:rPr>
              <a:t>s</a:t>
            </a:r>
            <a:r>
              <a:rPr lang="en-IN" dirty="0">
                <a:solidFill>
                  <a:srgbClr val="00B0F0"/>
                </a:solidFill>
              </a:rPr>
              <a:t> * </a:t>
            </a:r>
            <a:r>
              <a:rPr lang="en-IN" dirty="0" err="1">
                <a:solidFill>
                  <a:srgbClr val="00B0F0"/>
                </a:solidFill>
              </a:rPr>
              <a:t>n</a:t>
            </a:r>
            <a:r>
              <a:rPr lang="en-IN" baseline="-25000" dirty="0" err="1">
                <a:solidFill>
                  <a:srgbClr val="00B0F0"/>
                </a:solidFill>
              </a:rPr>
              <a:t>b</a:t>
            </a:r>
            <a:r>
              <a:rPr lang="en-IN" dirty="0">
                <a:solidFill>
                  <a:srgbClr val="00B0F0"/>
                </a:solidFill>
              </a:rPr>
              <a:t> = 2 * B * log </a:t>
            </a:r>
            <a:r>
              <a:rPr lang="en-IN" baseline="-25000" dirty="0">
                <a:solidFill>
                  <a:srgbClr val="00B0F0"/>
                </a:solidFill>
              </a:rPr>
              <a:t>2</a:t>
            </a:r>
            <a:r>
              <a:rPr lang="en-IN" dirty="0">
                <a:solidFill>
                  <a:srgbClr val="00B0F0"/>
                </a:solidFill>
              </a:rPr>
              <a:t> L</a:t>
            </a:r>
          </a:p>
          <a:p>
            <a:pPr lvl="1"/>
            <a:r>
              <a:rPr lang="en-IN" dirty="0"/>
              <a:t>Hence, the maximum bitrate is </a:t>
            </a:r>
          </a:p>
          <a:p>
            <a:pPr marL="274320" lvl="1" indent="0" algn="ctr">
              <a:buNone/>
            </a:pPr>
            <a:r>
              <a:rPr lang="en-IN" sz="2800" b="1" dirty="0" err="1">
                <a:solidFill>
                  <a:srgbClr val="00B0F0"/>
                </a:solidFill>
              </a:rPr>
              <a:t>N</a:t>
            </a:r>
            <a:r>
              <a:rPr lang="en-IN" sz="2800" b="1" baseline="-25000" dirty="0" err="1">
                <a:solidFill>
                  <a:srgbClr val="00B0F0"/>
                </a:solidFill>
              </a:rPr>
              <a:t>max</a:t>
            </a:r>
            <a:r>
              <a:rPr lang="en-IN" sz="2800" b="1" dirty="0">
                <a:solidFill>
                  <a:srgbClr val="00B0F0"/>
                </a:solidFill>
              </a:rPr>
              <a:t> = 2 * B * log</a:t>
            </a:r>
            <a:r>
              <a:rPr lang="en-IN" sz="2800" b="1" baseline="-25000" dirty="0">
                <a:solidFill>
                  <a:srgbClr val="00B0F0"/>
                </a:solidFill>
              </a:rPr>
              <a:t>2</a:t>
            </a:r>
            <a:r>
              <a:rPr lang="en-IN" sz="2800" b="1" dirty="0">
                <a:solidFill>
                  <a:srgbClr val="00B0F0"/>
                </a:solidFill>
              </a:rPr>
              <a:t>L 	bps</a:t>
            </a:r>
          </a:p>
          <a:p>
            <a:pPr lvl="1"/>
            <a:r>
              <a:rPr lang="en-IN" dirty="0"/>
              <a:t>Minimum Required Bandwidth</a:t>
            </a:r>
          </a:p>
          <a:p>
            <a:pPr marL="274320" lvl="1" indent="0" algn="ctr">
              <a:buNone/>
            </a:pPr>
            <a:r>
              <a:rPr lang="en-IN" sz="2800" b="1" dirty="0" err="1">
                <a:solidFill>
                  <a:srgbClr val="00B0F0"/>
                </a:solidFill>
              </a:rPr>
              <a:t>B</a:t>
            </a:r>
            <a:r>
              <a:rPr lang="en-IN" sz="2800" b="1" baseline="-25000" dirty="0" err="1">
                <a:solidFill>
                  <a:srgbClr val="00B0F0"/>
                </a:solidFill>
              </a:rPr>
              <a:t>min</a:t>
            </a:r>
            <a:r>
              <a:rPr lang="en-IN" sz="2800" b="1" dirty="0">
                <a:solidFill>
                  <a:srgbClr val="00B0F0"/>
                </a:solidFill>
              </a:rPr>
              <a:t> = N /(2 * log</a:t>
            </a:r>
            <a:r>
              <a:rPr lang="en-IN" sz="2800" b="1" baseline="-25000" dirty="0">
                <a:solidFill>
                  <a:srgbClr val="00B0F0"/>
                </a:solidFill>
              </a:rPr>
              <a:t>2</a:t>
            </a:r>
            <a:r>
              <a:rPr lang="en-IN" sz="2800" b="1" dirty="0">
                <a:solidFill>
                  <a:srgbClr val="00B0F0"/>
                </a:solidFill>
              </a:rPr>
              <a:t>L)	Hz</a:t>
            </a:r>
          </a:p>
        </p:txBody>
      </p:sp>
    </p:spTree>
    <p:extLst>
      <p:ext uri="{BB962C8B-B14F-4D97-AF65-F5344CB8AC3E}">
        <p14:creationId xmlns:p14="http://schemas.microsoft.com/office/powerpoint/2010/main" val="3919584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Delta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74254"/>
            <a:ext cx="7680960" cy="4360786"/>
          </a:xfrm>
        </p:spPr>
        <p:txBody>
          <a:bodyPr/>
          <a:lstStyle/>
          <a:p>
            <a:r>
              <a:rPr lang="en-IN" dirty="0"/>
              <a:t>PCM is a very complex technique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59687"/>
              </p:ext>
            </p:extLst>
          </p:nvPr>
        </p:nvGraphicFramePr>
        <p:xfrm>
          <a:off x="412122" y="2221248"/>
          <a:ext cx="8306874" cy="6400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15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PCM finds value of signal amplitude for each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DM finds change from previous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" y="2959770"/>
            <a:ext cx="7870825" cy="300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15166" y="5944863"/>
            <a:ext cx="507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Process of delta modulation</a:t>
            </a:r>
          </a:p>
        </p:txBody>
      </p:sp>
    </p:spTree>
    <p:extLst>
      <p:ext uri="{BB962C8B-B14F-4D97-AF65-F5344CB8AC3E}">
        <p14:creationId xmlns:p14="http://schemas.microsoft.com/office/powerpoint/2010/main" val="2861875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81" y="322936"/>
            <a:ext cx="8428037" cy="254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90917" y="2867698"/>
            <a:ext cx="636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Components of Delta Modulation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980" y="3228584"/>
            <a:ext cx="84280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</a:rPr>
              <a:t>Modulator used at sender site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Create stream of bits from the </a:t>
            </a:r>
            <a:r>
              <a:rPr lang="en-IN" sz="2000" dirty="0" err="1"/>
              <a:t>analog</a:t>
            </a:r>
            <a:r>
              <a:rPr lang="en-IN" sz="2000" dirty="0"/>
              <a:t>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Process records small positive or negative changes called delta (</a:t>
            </a:r>
            <a:r>
              <a:rPr lang="en-IN" sz="2000" dirty="0">
                <a:latin typeface="Bookman Old Style" panose="02050604050505020204" pitchFamily="18" charset="0"/>
              </a:rPr>
              <a:t>)</a:t>
            </a:r>
            <a:endParaRPr lang="en-IN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/>
              <a:t>Records 1 or 0 respectively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Process needs a base </a:t>
            </a:r>
            <a:r>
              <a:rPr lang="en-US" sz="2000" dirty="0"/>
              <a:t>against which the analog signal is compared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Builds a second signal that resembles a staircase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Hence, finding the change is reduced to comparing the input signal with the gradually made staircase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Delay unit holds the staircase function for a period between two comparisons</a:t>
            </a:r>
          </a:p>
        </p:txBody>
      </p:sp>
    </p:spTree>
    <p:extLst>
      <p:ext uri="{BB962C8B-B14F-4D97-AF65-F5344CB8AC3E}">
        <p14:creationId xmlns:p14="http://schemas.microsoft.com/office/powerpoint/2010/main" val="13340562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7981" y="315701"/>
            <a:ext cx="84280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</a:rPr>
              <a:t>Modulator used at sender site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</a:t>
            </a:r>
            <a:r>
              <a:rPr lang="en-US" sz="2000" b="1" dirty="0"/>
              <a:t>difference</a:t>
            </a:r>
            <a:r>
              <a:rPr lang="en-US" sz="2000" dirty="0"/>
              <a:t> between the current and previous sample is </a:t>
            </a:r>
            <a:r>
              <a:rPr lang="en-US" sz="2000" b="1" dirty="0"/>
              <a:t>greater than or equal to Δ</a:t>
            </a:r>
            <a:r>
              <a:rPr lang="en-US" sz="2000" dirty="0"/>
              <a:t>, the system registers an </a:t>
            </a:r>
            <a:r>
              <a:rPr lang="en-US" sz="2000" b="1" dirty="0"/>
              <a:t>increase (1)</a:t>
            </a:r>
            <a:r>
              <a:rPr lang="en-US" sz="2000" dirty="0"/>
              <a:t> or </a:t>
            </a:r>
            <a:r>
              <a:rPr lang="en-US" sz="2000" b="1" dirty="0"/>
              <a:t>decrease (0)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difference is </a:t>
            </a:r>
            <a:r>
              <a:rPr lang="en-US" sz="2000" b="1" dirty="0"/>
              <a:t>smaller than Δ</a:t>
            </a:r>
            <a:r>
              <a:rPr lang="en-US" sz="2000" dirty="0"/>
              <a:t>, the output remains unchanged.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</a:rPr>
              <a:t>Key Implications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Smaller 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Captures </a:t>
            </a:r>
            <a:r>
              <a:rPr lang="en-US" sz="2000" b="1" dirty="0"/>
              <a:t>small variations</a:t>
            </a:r>
            <a:r>
              <a:rPr lang="en-US" sz="2000" dirty="0"/>
              <a:t> in the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Reduces </a:t>
            </a:r>
            <a:r>
              <a:rPr lang="en-US" sz="2000" b="1" dirty="0"/>
              <a:t>granular noise</a:t>
            </a:r>
            <a:r>
              <a:rPr lang="en-US" sz="2000" dirty="0"/>
              <a:t> but increases the chance of </a:t>
            </a:r>
            <a:r>
              <a:rPr lang="en-US" sz="2000" b="1" dirty="0"/>
              <a:t>slope overload</a:t>
            </a:r>
            <a:r>
              <a:rPr lang="en-US" sz="2000" dirty="0"/>
              <a:t> for fast-changing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Larger </a:t>
            </a:r>
            <a:r>
              <a:rPr lang="el-GR" sz="2000" b="1" dirty="0"/>
              <a:t>Δ</a:t>
            </a:r>
            <a:endParaRPr lang="en-I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Better for tracking rapid changes in the signal.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May ignore small variations, leading to granular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Example, Suppose Δ = 0.5V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previous sample = 2.0V and the current sample = 2.3V, Since (2.3V - 2.0V = 0.3V &lt; 0.5V), no change is recorded.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the current sample = 2.6V, Since (2.6V - 2.0V = 0.6V &gt; 0.5V), an increase is recorded (output = ‘1’).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90458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0917" y="2738908"/>
            <a:ext cx="636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Components of Delta demodulation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980" y="3228584"/>
            <a:ext cx="84280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</a:rPr>
              <a:t>Demodulator used at receiver site</a:t>
            </a:r>
            <a:r>
              <a:rPr lang="en-IN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Takes digital data and, using staircase maker and delay unit, creates </a:t>
            </a:r>
            <a:r>
              <a:rPr lang="en-IN" sz="2000" dirty="0" err="1"/>
              <a:t>analog</a:t>
            </a:r>
            <a:r>
              <a:rPr lang="en-IN" sz="2000" dirty="0"/>
              <a:t>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dirty="0" err="1"/>
              <a:t>analog</a:t>
            </a:r>
            <a:r>
              <a:rPr lang="en-IN" sz="2000" dirty="0"/>
              <a:t> signal needs to pass through a low pass filter for smoothing 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09" y="222721"/>
            <a:ext cx="7669212" cy="251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7300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981" y="566678"/>
            <a:ext cx="84280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</a:rPr>
              <a:t>Adaptive DM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If </a:t>
            </a:r>
            <a:r>
              <a:rPr lang="en-IN" sz="2000" dirty="0">
                <a:latin typeface="Bookman Old Style" panose="02050604050505020204" pitchFamily="18" charset="0"/>
              </a:rPr>
              <a:t></a:t>
            </a:r>
            <a:r>
              <a:rPr lang="en-IN" sz="2000" dirty="0"/>
              <a:t> value is not fixed, better performance can be achieved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/>
              <a:t>Value of </a:t>
            </a:r>
            <a:r>
              <a:rPr lang="en-IN" sz="2000" dirty="0">
                <a:latin typeface="Bookman Old Style" panose="02050604050505020204" pitchFamily="18" charset="0"/>
              </a:rPr>
              <a:t></a:t>
            </a:r>
            <a:r>
              <a:rPr lang="en-IN" sz="2000" dirty="0"/>
              <a:t> changes according to the amplitude of the </a:t>
            </a:r>
            <a:r>
              <a:rPr lang="en-IN" sz="2000" dirty="0" err="1"/>
              <a:t>analog</a:t>
            </a:r>
            <a:r>
              <a:rPr lang="en-IN" sz="2000" dirty="0"/>
              <a:t>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</a:rPr>
              <a:t>Quantization error </a:t>
            </a:r>
            <a:r>
              <a:rPr lang="en-IN" sz="2000" dirty="0"/>
              <a:t>is introduced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But, much less than that for PCM</a:t>
            </a:r>
          </a:p>
        </p:txBody>
      </p:sp>
    </p:spTree>
    <p:extLst>
      <p:ext uri="{BB962C8B-B14F-4D97-AF65-F5344CB8AC3E}">
        <p14:creationId xmlns:p14="http://schemas.microsoft.com/office/powerpoint/2010/main" val="26462601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Transmission modes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Parallel Transmission</a:t>
            </a:r>
          </a:p>
          <a:p>
            <a:r>
              <a:rPr lang="en-IN" dirty="0"/>
              <a:t>Serial Transmission</a:t>
            </a:r>
          </a:p>
        </p:txBody>
      </p:sp>
    </p:spTree>
    <p:extLst>
      <p:ext uri="{BB962C8B-B14F-4D97-AF65-F5344CB8AC3E}">
        <p14:creationId xmlns:p14="http://schemas.microsoft.com/office/powerpoint/2010/main" val="21910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83" y="975753"/>
            <a:ext cx="8410575" cy="306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02287" y="4340180"/>
            <a:ext cx="507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Data Transmission Modes</a:t>
            </a:r>
          </a:p>
        </p:txBody>
      </p:sp>
    </p:spTree>
    <p:extLst>
      <p:ext uri="{BB962C8B-B14F-4D97-AF65-F5344CB8AC3E}">
        <p14:creationId xmlns:p14="http://schemas.microsoft.com/office/powerpoint/2010/main" val="36365384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Parallel Transmission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2103120"/>
            <a:ext cx="8551572" cy="4452226"/>
          </a:xfrm>
        </p:spPr>
        <p:txBody>
          <a:bodyPr>
            <a:no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Parallel Transmission </a:t>
            </a:r>
            <a:r>
              <a:rPr lang="en-IN" sz="2000" dirty="0"/>
              <a:t>– multiple bits are sent with each clock tick</a:t>
            </a:r>
          </a:p>
          <a:p>
            <a:pPr lvl="1"/>
            <a:r>
              <a:rPr lang="en-IN" sz="1800" dirty="0"/>
              <a:t>Binary data is organized into groups of </a:t>
            </a:r>
            <a:r>
              <a:rPr lang="en-IN" sz="1800" i="1" dirty="0"/>
              <a:t>n</a:t>
            </a:r>
            <a:r>
              <a:rPr lang="en-IN" sz="1800" dirty="0"/>
              <a:t> bits each</a:t>
            </a:r>
          </a:p>
          <a:p>
            <a:pPr lvl="1"/>
            <a:r>
              <a:rPr lang="en-IN" sz="1800" dirty="0"/>
              <a:t>By grouping, we send data </a:t>
            </a:r>
            <a:r>
              <a:rPr lang="en-IN" sz="1800" i="1" dirty="0"/>
              <a:t>n</a:t>
            </a:r>
            <a:r>
              <a:rPr lang="en-IN" sz="1800" dirty="0"/>
              <a:t> bits at a time instead of 1</a:t>
            </a:r>
          </a:p>
          <a:p>
            <a:r>
              <a:rPr lang="en-IN" sz="2000" dirty="0"/>
              <a:t>Use </a:t>
            </a:r>
            <a:r>
              <a:rPr lang="en-IN" sz="2000" i="1" dirty="0"/>
              <a:t>n</a:t>
            </a:r>
            <a:r>
              <a:rPr lang="en-IN" sz="2000" dirty="0"/>
              <a:t> wires to send </a:t>
            </a:r>
            <a:r>
              <a:rPr lang="en-IN" sz="2000" i="1" dirty="0"/>
              <a:t>n</a:t>
            </a:r>
            <a:r>
              <a:rPr lang="en-IN" sz="2000" dirty="0"/>
              <a:t> bits at one time</a:t>
            </a:r>
          </a:p>
          <a:p>
            <a:r>
              <a:rPr lang="en-IN" sz="2000" dirty="0"/>
              <a:t>Advantage:</a:t>
            </a:r>
          </a:p>
          <a:p>
            <a:pPr lvl="1"/>
            <a:r>
              <a:rPr lang="en-IN" sz="1800" dirty="0"/>
              <a:t>Speed</a:t>
            </a:r>
          </a:p>
          <a:p>
            <a:pPr lvl="1"/>
            <a:r>
              <a:rPr lang="en-IN" sz="1800" dirty="0"/>
              <a:t>Can increase transfer speed by a factor of n over serial transmission</a:t>
            </a:r>
          </a:p>
          <a:p>
            <a:r>
              <a:rPr lang="en-IN" sz="2000" dirty="0"/>
              <a:t>Disadvantage</a:t>
            </a:r>
          </a:p>
          <a:p>
            <a:pPr lvl="1"/>
            <a:r>
              <a:rPr lang="en-IN" sz="1800" dirty="0"/>
              <a:t>Cost </a:t>
            </a:r>
          </a:p>
          <a:p>
            <a:pPr lvl="1"/>
            <a:r>
              <a:rPr lang="en-IN" sz="1800" dirty="0"/>
              <a:t>Hence, limited to short distances</a:t>
            </a:r>
          </a:p>
        </p:txBody>
      </p:sp>
    </p:spTree>
    <p:extLst>
      <p:ext uri="{BB962C8B-B14F-4D97-AF65-F5344CB8AC3E}">
        <p14:creationId xmlns:p14="http://schemas.microsoft.com/office/powerpoint/2010/main" val="15331922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2434" y="4726546"/>
            <a:ext cx="59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Parallel Transmission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98" y="1016872"/>
            <a:ext cx="5878512" cy="342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99542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13" y="2103119"/>
            <a:ext cx="8564451" cy="4400711"/>
          </a:xfrm>
        </p:spPr>
        <p:txBody>
          <a:bodyPr>
            <a:normAutofit/>
          </a:bodyPr>
          <a:lstStyle/>
          <a:p>
            <a:r>
              <a:rPr lang="en-IN" dirty="0"/>
              <a:t>One bit follows another</a:t>
            </a:r>
          </a:p>
          <a:p>
            <a:pPr lvl="1"/>
            <a:r>
              <a:rPr lang="en-IN" dirty="0"/>
              <a:t>Hence, only one communication channel is needed rather than </a:t>
            </a:r>
            <a:r>
              <a:rPr lang="en-IN" i="1" dirty="0"/>
              <a:t>n</a:t>
            </a:r>
            <a:r>
              <a:rPr lang="en-IN" dirty="0"/>
              <a:t> to transmit data between two communicating devices</a:t>
            </a:r>
          </a:p>
          <a:p>
            <a:r>
              <a:rPr lang="en-IN" dirty="0"/>
              <a:t>Advantage:</a:t>
            </a:r>
          </a:p>
          <a:p>
            <a:pPr lvl="1"/>
            <a:r>
              <a:rPr lang="en-IN" dirty="0"/>
              <a:t>Reduces cost of transmission over parallel by roughly a factor of n</a:t>
            </a:r>
          </a:p>
          <a:p>
            <a:r>
              <a:rPr lang="en-IN" dirty="0"/>
              <a:t>Since communication within devices is parallel</a:t>
            </a:r>
          </a:p>
          <a:p>
            <a:pPr lvl="1"/>
            <a:r>
              <a:rPr lang="en-IN" dirty="0"/>
              <a:t>Conversion devices are required at interface between sender and the line (parallel – to – serial) and between the line and the receiver (serial – to – parallel) </a:t>
            </a:r>
          </a:p>
          <a:p>
            <a:r>
              <a:rPr lang="en-IN" dirty="0"/>
              <a:t>Serial transmission occurs in </a:t>
            </a:r>
          </a:p>
          <a:p>
            <a:pPr lvl="1"/>
            <a:r>
              <a:rPr lang="en-IN" dirty="0"/>
              <a:t>Asynchronous</a:t>
            </a:r>
          </a:p>
          <a:p>
            <a:pPr lvl="1"/>
            <a:r>
              <a:rPr lang="en-IN" dirty="0"/>
              <a:t>Synchronous</a:t>
            </a:r>
          </a:p>
          <a:p>
            <a:pPr lvl="1"/>
            <a:r>
              <a:rPr lang="en-IN" dirty="0" err="1"/>
              <a:t>Isosynchronous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0771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860" y="1092558"/>
            <a:ext cx="6608763" cy="339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89408" y="4790941"/>
            <a:ext cx="500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Serial Transmission</a:t>
            </a:r>
          </a:p>
        </p:txBody>
      </p:sp>
    </p:spTree>
    <p:extLst>
      <p:ext uri="{BB962C8B-B14F-4D97-AF65-F5344CB8AC3E}">
        <p14:creationId xmlns:p14="http://schemas.microsoft.com/office/powerpoint/2010/main" val="5772036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Serial transmission: Asynchronous </a:t>
            </a:r>
            <a:br>
              <a:rPr lang="en-IN" dirty="0"/>
            </a:br>
            <a:r>
              <a:rPr lang="en-IN" dirty="0"/>
              <a:t>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51" y="1896932"/>
            <a:ext cx="8564450" cy="224993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Timing of the signal is unimportant</a:t>
            </a:r>
          </a:p>
          <a:p>
            <a:r>
              <a:rPr lang="en-IN" dirty="0"/>
              <a:t>Information is received and translated by agreed upon </a:t>
            </a:r>
            <a:r>
              <a:rPr lang="en-IN" dirty="0">
                <a:solidFill>
                  <a:srgbClr val="FF0000"/>
                </a:solidFill>
              </a:rPr>
              <a:t>patterns</a:t>
            </a:r>
          </a:p>
          <a:p>
            <a:pPr lvl="1"/>
            <a:r>
              <a:rPr lang="en-IN" dirty="0"/>
              <a:t>Patterns are based on grouping bit stream into bytes</a:t>
            </a:r>
          </a:p>
          <a:p>
            <a:r>
              <a:rPr lang="en-IN" dirty="0"/>
              <a:t>Each group (8 bits) is sent along the link as a unit</a:t>
            </a:r>
          </a:p>
          <a:p>
            <a:r>
              <a:rPr lang="en-IN" dirty="0"/>
              <a:t>Sending system handles each group independently </a:t>
            </a:r>
          </a:p>
          <a:p>
            <a:pPr lvl="1"/>
            <a:r>
              <a:rPr lang="en-IN" dirty="0"/>
              <a:t>Relaying to link without regard to a timer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34851" y="4230836"/>
            <a:ext cx="84485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50"/>
                </a:solidFill>
              </a:rPr>
              <a:t>Without synchronization</a:t>
            </a:r>
            <a:r>
              <a:rPr lang="en-IN" dirty="0"/>
              <a:t>, receiver cannot use timing to predict when the next group will arrive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 alert receiver, an extra bit (0) is added to beginning of each byte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Also called </a:t>
            </a:r>
            <a:r>
              <a:rPr lang="en-IN" dirty="0">
                <a:solidFill>
                  <a:srgbClr val="FF0000"/>
                </a:solidFill>
              </a:rPr>
              <a:t>start bit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 let receiver know that the byte is finished, 1 or more additional bits are appended to the end of the byte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Also called </a:t>
            </a:r>
            <a:r>
              <a:rPr lang="en-IN" dirty="0">
                <a:solidFill>
                  <a:srgbClr val="FF0000"/>
                </a:solidFill>
              </a:rPr>
              <a:t>stop bits</a:t>
            </a:r>
          </a:p>
        </p:txBody>
      </p:sp>
    </p:spTree>
    <p:extLst>
      <p:ext uri="{BB962C8B-B14F-4D97-AF65-F5344CB8AC3E}">
        <p14:creationId xmlns:p14="http://schemas.microsoft.com/office/powerpoint/2010/main" val="36563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6754" y="3584013"/>
            <a:ext cx="8761009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In asynchronous transmission, we send 1 start bit (0) at the beginning and 1 or more stop bits (1s) at the end of each byte. There may be a gap between each byte.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755" y="4998543"/>
            <a:ext cx="8761009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Asynchronous here means “asynchronous at the byte level,”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but the bits are still synchronized; </a:t>
            </a:r>
            <a:b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</a:b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their durations are the same.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639" y="515155"/>
            <a:ext cx="8229600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 transmit 1 byte, at least 10 bits are transmitted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2 additional bits for control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Transmission of each byte may be followed by a gap of varying duration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gap can be represented either by an idle channel or by a stream of additional stop bits</a:t>
            </a:r>
          </a:p>
        </p:txBody>
      </p:sp>
    </p:spTree>
    <p:extLst>
      <p:ext uri="{BB962C8B-B14F-4D97-AF65-F5344CB8AC3E}">
        <p14:creationId xmlns:p14="http://schemas.microsoft.com/office/powerpoint/2010/main" val="36302181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27" y="771101"/>
            <a:ext cx="7805737" cy="304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48496" y="3966693"/>
            <a:ext cx="540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Asynchronous Transmission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7627" y="4726546"/>
            <a:ext cx="7805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Connection of a keyboard to a computer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 types only one character at a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Extremely slowly in terms of data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Leaves unpredictable gaps of time between characters</a:t>
            </a:r>
          </a:p>
        </p:txBody>
      </p:sp>
    </p:spTree>
    <p:extLst>
      <p:ext uri="{BB962C8B-B14F-4D97-AF65-F5344CB8AC3E}">
        <p14:creationId xmlns:p14="http://schemas.microsoft.com/office/powerpoint/2010/main" val="413972801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 Transmission: Synchronous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Bit stream is combined into longer </a:t>
            </a:r>
            <a:r>
              <a:rPr lang="en-IN" sz="2000" dirty="0">
                <a:solidFill>
                  <a:srgbClr val="00B050"/>
                </a:solidFill>
              </a:rPr>
              <a:t>frames</a:t>
            </a:r>
            <a:r>
              <a:rPr lang="en-IN" sz="2000" dirty="0"/>
              <a:t>, which may contain multiple bytes</a:t>
            </a:r>
          </a:p>
          <a:p>
            <a:pPr lvl="1"/>
            <a:r>
              <a:rPr lang="en-IN" sz="1800" dirty="0"/>
              <a:t>Each byte is introduced onto the transmission link without a gap between it and the next one</a:t>
            </a:r>
          </a:p>
          <a:p>
            <a:r>
              <a:rPr lang="en-IN" sz="2000" dirty="0"/>
              <a:t>Left to the Receiver to separate bit stream into bytes for decoding purposes</a:t>
            </a:r>
          </a:p>
          <a:p>
            <a:pPr lvl="1"/>
            <a:r>
              <a:rPr lang="en-IN" sz="1800" dirty="0"/>
              <a:t>Data are transmitted as an unbroken string of 1s and 0s and receiver separates that string into bytes or characters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495" y="5296903"/>
            <a:ext cx="8761009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In synchronous transmission, we need bits one after another without start or stop bits or gaps. It is the responsibility of the receiver to group the bits. </a:t>
            </a:r>
          </a:p>
        </p:txBody>
      </p:sp>
    </p:spTree>
    <p:extLst>
      <p:ext uri="{BB962C8B-B14F-4D97-AF65-F5344CB8AC3E}">
        <p14:creationId xmlns:p14="http://schemas.microsoft.com/office/powerpoint/2010/main" val="30484176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427172"/>
            <a:ext cx="7797800" cy="20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44710" y="2614409"/>
            <a:ext cx="489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Synchronous transmission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907" y="3116435"/>
            <a:ext cx="8422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divisions shown do not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Sender puts data onto the line as long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sender puts data in </a:t>
            </a:r>
            <a:r>
              <a:rPr lang="en-IN" dirty="0">
                <a:solidFill>
                  <a:srgbClr val="00B050"/>
                </a:solidFill>
              </a:rPr>
              <a:t>bursts</a:t>
            </a:r>
            <a:r>
              <a:rPr lang="en-IN" dirty="0"/>
              <a:t>, the gaps must be filled with special sequence of 0s and 1s i.e. to represent an </a:t>
            </a:r>
            <a:r>
              <a:rPr lang="en-IN" dirty="0">
                <a:solidFill>
                  <a:srgbClr val="00B050"/>
                </a:solidFill>
              </a:rPr>
              <a:t>idle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Faster than the asynchronous as no extra bits or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More useful for high-speed applications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Byte synchronization is accomplished in the data-link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Uneven gaps may be found between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795" y="5649789"/>
            <a:ext cx="876100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</a:rPr>
              <a:t>Without gaps, start and stop bits, there is no built-in mechanism to help receiving device adjust its bit synchronization midstream. </a:t>
            </a:r>
          </a:p>
        </p:txBody>
      </p:sp>
    </p:spTree>
    <p:extLst>
      <p:ext uri="{BB962C8B-B14F-4D97-AF65-F5344CB8AC3E}">
        <p14:creationId xmlns:p14="http://schemas.microsoft.com/office/powerpoint/2010/main" val="11564913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 Transmission: Isochronous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1966604"/>
          </a:xfrm>
        </p:spPr>
        <p:txBody>
          <a:bodyPr>
            <a:normAutofit/>
          </a:bodyPr>
          <a:lstStyle/>
          <a:p>
            <a:r>
              <a:rPr lang="en-IN" dirty="0"/>
              <a:t>In real-time audio and video, uneven delays between frames are not acceptable</a:t>
            </a:r>
          </a:p>
          <a:p>
            <a:pPr lvl="1"/>
            <a:r>
              <a:rPr lang="en-IN" dirty="0"/>
              <a:t>Synchronous transmission hence fails</a:t>
            </a:r>
          </a:p>
          <a:p>
            <a:pPr lvl="1"/>
            <a:r>
              <a:rPr lang="en-IN" dirty="0"/>
              <a:t>Guarantees that the data arrive at a fixed rate</a:t>
            </a:r>
          </a:p>
          <a:p>
            <a:pPr marL="201168" lvl="1" indent="0">
              <a:buNone/>
            </a:pPr>
            <a:r>
              <a:rPr lang="en-US" sz="2000" dirty="0"/>
              <a:t>Isochronous transmission is a type of serial data transmission where data is sent at regular, time-sensitive intervals without delays</a:t>
            </a: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4069724"/>
            <a:ext cx="7820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TV images are broadcast at the rate of 30 images per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They must be viewed at the same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If each image is sent by using one or more frames, there should be no delays between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Hence synchronization of characters is not enough; the entire stream of bits must be synchronized</a:t>
            </a:r>
          </a:p>
        </p:txBody>
      </p:sp>
    </p:spTree>
    <p:extLst>
      <p:ext uri="{BB962C8B-B14F-4D97-AF65-F5344CB8AC3E}">
        <p14:creationId xmlns:p14="http://schemas.microsoft.com/office/powerpoint/2010/main" val="397518308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92883" y="2574425"/>
            <a:ext cx="7680960" cy="1371600"/>
          </a:xfrm>
        </p:spPr>
        <p:txBody>
          <a:bodyPr/>
          <a:lstStyle/>
          <a:p>
            <a:r>
              <a:rPr lang="en-IN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13107869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13489</TotalTime>
  <Words>6389</Words>
  <Application>Microsoft Office PowerPoint</Application>
  <PresentationFormat>On-screen Show (4:3)</PresentationFormat>
  <Paragraphs>596</Paragraphs>
  <Slides>100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9" baseType="lpstr">
      <vt:lpstr>Arial</vt:lpstr>
      <vt:lpstr>Bookman Old Style</vt:lpstr>
      <vt:lpstr>Calibri</vt:lpstr>
      <vt:lpstr>Garamond</vt:lpstr>
      <vt:lpstr>Symbol</vt:lpstr>
      <vt:lpstr>Times</vt:lpstr>
      <vt:lpstr>Times-Roman</vt:lpstr>
      <vt:lpstr>Wingdings</vt:lpstr>
      <vt:lpstr>Retrospect</vt:lpstr>
      <vt:lpstr>Digital transmission</vt:lpstr>
      <vt:lpstr>Contents </vt:lpstr>
      <vt:lpstr>Digital Transmission</vt:lpstr>
      <vt:lpstr>Digital-to-Digital Conversion </vt:lpstr>
      <vt:lpstr>Line Coding</vt:lpstr>
      <vt:lpstr>Line Coding</vt:lpstr>
      <vt:lpstr>Line Coding: Common Characteristics</vt:lpstr>
      <vt:lpstr>PowerPoint Presentation</vt:lpstr>
      <vt:lpstr>Line Coding: Common Characteristics</vt:lpstr>
      <vt:lpstr>PowerPoint Presentation</vt:lpstr>
      <vt:lpstr>A signal is carrying data in which one data element is encoded as one signal element ( r = 1). If the bit rate is 100 kbps, what is the average value of the baud rate if c is between 0 and 1? </vt:lpstr>
      <vt:lpstr>Line Coding: Common Characteristics</vt:lpstr>
      <vt:lpstr>PowerPoint Presentation</vt:lpstr>
      <vt:lpstr>The maximum data rate of a channel (see Chapter 3) is Nmax = 2 × B × log2 L (defined by the Nyquist formula). Does this agree with the previous formula for Nmax?</vt:lpstr>
      <vt:lpstr>Line Coding: Common Characteristics</vt:lpstr>
      <vt:lpstr>Line Coding: Common Characteristics</vt:lpstr>
      <vt:lpstr>Line Coding: Common Characteristics</vt:lpstr>
      <vt:lpstr>Line Coding: Common Characteristics</vt:lpstr>
      <vt:lpstr>PowerPoint Presentation</vt:lpstr>
      <vt:lpstr>Line Coding: Common Characteristics</vt:lpstr>
      <vt:lpstr>Line Coding Schemes</vt:lpstr>
      <vt:lpstr>Line Coding Schemes: Unipolar</vt:lpstr>
      <vt:lpstr>PowerPoint Presentation</vt:lpstr>
      <vt:lpstr>Normalized Power</vt:lpstr>
      <vt:lpstr>Power Spectral Density (PSD)</vt:lpstr>
      <vt:lpstr>Line Coding: Polar</vt:lpstr>
      <vt:lpstr>PowerPoint Presentation</vt:lpstr>
      <vt:lpstr>A system is using NRZ-I to transfer 1-Mbps data. What are the average signal rate and minimum bandwidth?</vt:lpstr>
      <vt:lpstr>Line Coding: Polar</vt:lpstr>
      <vt:lpstr>PowerPoint Presentation</vt:lpstr>
      <vt:lpstr>Line Coding: Polar</vt:lpstr>
      <vt:lpstr>PowerPoint Presentation</vt:lpstr>
      <vt:lpstr>Line Coding: Bipolar</vt:lpstr>
      <vt:lpstr>Line Coding: Bipolar</vt:lpstr>
      <vt:lpstr>Line Coding: Multilevel Schemes</vt:lpstr>
      <vt:lpstr>Line Coding: Multilevel Schemes</vt:lpstr>
      <vt:lpstr>PowerPoint Presentation</vt:lpstr>
      <vt:lpstr>PowerPoint Presentation</vt:lpstr>
      <vt:lpstr>PowerPoint Presentation</vt:lpstr>
      <vt:lpstr>Line Coding: 4D-PAM5</vt:lpstr>
      <vt:lpstr>PowerPoint Presentation</vt:lpstr>
      <vt:lpstr>PowerPoint Presentation</vt:lpstr>
      <vt:lpstr>Line Coding: Multitransition: MLT-3</vt:lpstr>
      <vt:lpstr>PowerPoint Presentation</vt:lpstr>
      <vt:lpstr>PowerPoint Presentation</vt:lpstr>
      <vt:lpstr>PowerPoint Presentation</vt:lpstr>
      <vt:lpstr>Block Coding</vt:lpstr>
      <vt:lpstr>PowerPoint Presentation</vt:lpstr>
      <vt:lpstr>PowerPoint Presentation</vt:lpstr>
      <vt:lpstr>PowerPoint Presentation</vt:lpstr>
      <vt:lpstr>PowerPoint Presentation</vt:lpstr>
      <vt:lpstr>We need to send data at a 1-Mbps rate. What is the minimum required bandwidth, using a combination of 4B/5B and NRZ-I or Manchester coding?</vt:lpstr>
      <vt:lpstr>PowerPoint Presentation</vt:lpstr>
      <vt:lpstr>Scrambling</vt:lpstr>
      <vt:lpstr>PowerPoint Presentation</vt:lpstr>
      <vt:lpstr>PowerPoint Presentation</vt:lpstr>
      <vt:lpstr>PowerPoint Presentation</vt:lpstr>
      <vt:lpstr>Analog-to-Digital Conversion</vt:lpstr>
      <vt:lpstr>Pulse Coded Modulation (PCM)</vt:lpstr>
      <vt:lpstr>PowerPoint Presentation</vt:lpstr>
      <vt:lpstr>PCM (Sampling)</vt:lpstr>
      <vt:lpstr>PowerPoint Presentation</vt:lpstr>
      <vt:lpstr>PCM: Sampling Rate</vt:lpstr>
      <vt:lpstr>For an intuitive example of the Nyquist theorem, let us sample a simple sine wave at three sampling rates: fs = 4f (2 times the Nyquist rate), fs = 2f (Nyquist rate), and fs = f (one-half the Nyquist rate).</vt:lpstr>
      <vt:lpstr>PowerPoint Presentation</vt:lpstr>
      <vt:lpstr>PowerPoint Presentation</vt:lpstr>
      <vt:lpstr>PowerPoint Presentation</vt:lpstr>
      <vt:lpstr>PowerPoint Presentation</vt:lpstr>
      <vt:lpstr>PCM: Quantization</vt:lpstr>
      <vt:lpstr>PowerPoint Presentation</vt:lpstr>
      <vt:lpstr>PowerPoint Presentation</vt:lpstr>
      <vt:lpstr>PowerPoint Presentation</vt:lpstr>
      <vt:lpstr>PowerPoint Presentation</vt:lpstr>
      <vt:lpstr>What is SNRdb in the previous example?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Delta Modulation</vt:lpstr>
      <vt:lpstr>PowerPoint Presentation</vt:lpstr>
      <vt:lpstr>PowerPoint Presentation</vt:lpstr>
      <vt:lpstr>PowerPoint Presentation</vt:lpstr>
      <vt:lpstr>PowerPoint Presentation</vt:lpstr>
      <vt:lpstr>Transmission modes</vt:lpstr>
      <vt:lpstr>PowerPoint Presentation</vt:lpstr>
      <vt:lpstr>Parallel Transmission </vt:lpstr>
      <vt:lpstr>PowerPoint Presentation</vt:lpstr>
      <vt:lpstr>Serial Transmission</vt:lpstr>
      <vt:lpstr>PowerPoint Presentation</vt:lpstr>
      <vt:lpstr>Serial transmission: Asynchronous  Transmission</vt:lpstr>
      <vt:lpstr>PowerPoint Presentation</vt:lpstr>
      <vt:lpstr>PowerPoint Presentation</vt:lpstr>
      <vt:lpstr>Serial Transmission: Synchronous Transmission</vt:lpstr>
      <vt:lpstr>PowerPoint Presentation</vt:lpstr>
      <vt:lpstr>Serial Transmission: Isochronous</vt:lpstr>
      <vt:lpstr>Thank You!!!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transmission</dc:title>
  <dc:creator>Administrator</dc:creator>
  <cp:lastModifiedBy>Vijay Ukani</cp:lastModifiedBy>
  <cp:revision>731</cp:revision>
  <dcterms:created xsi:type="dcterms:W3CDTF">2020-08-24T09:41:12Z</dcterms:created>
  <dcterms:modified xsi:type="dcterms:W3CDTF">2026-03-07T03:56:20Z</dcterms:modified>
</cp:coreProperties>
</file>
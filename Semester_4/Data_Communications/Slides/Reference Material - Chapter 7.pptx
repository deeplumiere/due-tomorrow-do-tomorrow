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61" r:id="rId4"/>
    <p:sldId id="262" r:id="rId5"/>
    <p:sldId id="259" r:id="rId6"/>
    <p:sldId id="258" r:id="rId7"/>
    <p:sldId id="263" r:id="rId8"/>
    <p:sldId id="267" r:id="rId9"/>
    <p:sldId id="265" r:id="rId10"/>
    <p:sldId id="266" r:id="rId11"/>
    <p:sldId id="264" r:id="rId12"/>
    <p:sldId id="268" r:id="rId13"/>
    <p:sldId id="269" r:id="rId14"/>
    <p:sldId id="270" r:id="rId15"/>
    <p:sldId id="271" r:id="rId16"/>
    <p:sldId id="272" r:id="rId17"/>
    <p:sldId id="283" r:id="rId18"/>
    <p:sldId id="273" r:id="rId19"/>
    <p:sldId id="274" r:id="rId20"/>
    <p:sldId id="284" r:id="rId21"/>
    <p:sldId id="275" r:id="rId22"/>
    <p:sldId id="276" r:id="rId23"/>
    <p:sldId id="277" r:id="rId24"/>
    <p:sldId id="278" r:id="rId25"/>
    <p:sldId id="279" r:id="rId26"/>
    <p:sldId id="280" r:id="rId27"/>
    <p:sldId id="281" r:id="rId28"/>
    <p:sldId id="282" r:id="rId29"/>
    <p:sldId id="285" r:id="rId30"/>
    <p:sldId id="286" r:id="rId31"/>
    <p:sldId id="287" r:id="rId32"/>
    <p:sldId id="288" r:id="rId33"/>
    <p:sldId id="289" r:id="rId34"/>
    <p:sldId id="290" r:id="rId35"/>
    <p:sldId id="291"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27B155-B7B4-4C9B-98AE-F0ECA2892FC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4EC73BC-7AB4-4E6C-A014-654DF7D46A94}">
      <dgm:prSet custT="1"/>
      <dgm:spPr/>
      <dgm:t>
        <a:bodyPr/>
        <a:lstStyle/>
        <a:p>
          <a:pPr algn="just">
            <a:lnSpc>
              <a:spcPct val="100000"/>
            </a:lnSpc>
          </a:pPr>
          <a:r>
            <a:rPr lang="en-IN" sz="2200">
              <a:latin typeface="Nunito" pitchFamily="2" charset="77"/>
            </a:rPr>
            <a:t>Transmission medium can be guided or unguided.</a:t>
          </a:r>
          <a:endParaRPr lang="en-US" sz="2200">
            <a:latin typeface="Nunito" pitchFamily="2" charset="77"/>
          </a:endParaRPr>
        </a:p>
      </dgm:t>
    </dgm:pt>
    <dgm:pt modelId="{2CA46A47-5788-49E1-9AF6-31D4C4470791}" type="parTrans" cxnId="{05FCEECA-04CD-481B-A6F9-9B09F7D58E3B}">
      <dgm:prSet/>
      <dgm:spPr/>
      <dgm:t>
        <a:bodyPr/>
        <a:lstStyle/>
        <a:p>
          <a:pPr algn="just"/>
          <a:endParaRPr lang="en-US" sz="2200">
            <a:latin typeface="Nunito" pitchFamily="2" charset="77"/>
          </a:endParaRPr>
        </a:p>
      </dgm:t>
    </dgm:pt>
    <dgm:pt modelId="{CC4CB1B8-A2EE-4583-AFFF-7D573EF7B778}" type="sibTrans" cxnId="{05FCEECA-04CD-481B-A6F9-9B09F7D58E3B}">
      <dgm:prSet/>
      <dgm:spPr/>
      <dgm:t>
        <a:bodyPr/>
        <a:lstStyle/>
        <a:p>
          <a:pPr algn="just"/>
          <a:endParaRPr lang="en-US" sz="2200">
            <a:latin typeface="Nunito" pitchFamily="2" charset="77"/>
          </a:endParaRPr>
        </a:p>
      </dgm:t>
    </dgm:pt>
    <dgm:pt modelId="{B1C7D6C3-C4B5-4C6C-83C1-75BA450F079C}">
      <dgm:prSet custT="1"/>
      <dgm:spPr/>
      <dgm:t>
        <a:bodyPr/>
        <a:lstStyle/>
        <a:p>
          <a:pPr algn="just">
            <a:lnSpc>
              <a:spcPct val="100000"/>
            </a:lnSpc>
          </a:pPr>
          <a:r>
            <a:rPr lang="en-IN" sz="2200" b="0" i="0">
              <a:latin typeface="Nunito" pitchFamily="2" charset="77"/>
            </a:rPr>
            <a:t>Both guided and unguided are used for short distance (LANs, MANs) as well as long distance (WANs) communication.</a:t>
          </a:r>
          <a:endParaRPr lang="en-US" sz="2200">
            <a:latin typeface="Nunito" pitchFamily="2" charset="77"/>
          </a:endParaRPr>
        </a:p>
      </dgm:t>
    </dgm:pt>
    <dgm:pt modelId="{B9CB171D-F776-4FA9-B3AA-E2AD4665952D}" type="parTrans" cxnId="{67BFFEF5-F44C-48E6-B35B-DEB56238B7E2}">
      <dgm:prSet/>
      <dgm:spPr/>
      <dgm:t>
        <a:bodyPr/>
        <a:lstStyle/>
        <a:p>
          <a:pPr algn="just"/>
          <a:endParaRPr lang="en-US" sz="2200">
            <a:latin typeface="Nunito" pitchFamily="2" charset="77"/>
          </a:endParaRPr>
        </a:p>
      </dgm:t>
    </dgm:pt>
    <dgm:pt modelId="{B02F4A63-9442-4916-A4F1-2E488B6961B0}" type="sibTrans" cxnId="{67BFFEF5-F44C-48E6-B35B-DEB56238B7E2}">
      <dgm:prSet/>
      <dgm:spPr/>
      <dgm:t>
        <a:bodyPr/>
        <a:lstStyle/>
        <a:p>
          <a:pPr algn="just"/>
          <a:endParaRPr lang="en-US" sz="2200">
            <a:latin typeface="Nunito" pitchFamily="2" charset="77"/>
          </a:endParaRPr>
        </a:p>
      </dgm:t>
    </dgm:pt>
    <dgm:pt modelId="{EE13BBC3-C731-46CB-BE6D-EED6EB655F15}">
      <dgm:prSet custT="1"/>
      <dgm:spPr/>
      <dgm:t>
        <a:bodyPr/>
        <a:lstStyle/>
        <a:p>
          <a:pPr algn="just">
            <a:lnSpc>
              <a:spcPct val="100000"/>
            </a:lnSpc>
          </a:pPr>
          <a:r>
            <a:rPr lang="en-IN" sz="2200" dirty="0">
              <a:latin typeface="Nunito" pitchFamily="2" charset="77"/>
            </a:rPr>
            <a:t>Both mediums are different, but their motive is to transfer the signals. </a:t>
          </a:r>
          <a:endParaRPr lang="en-US" sz="2200" dirty="0">
            <a:latin typeface="Nunito" pitchFamily="2" charset="77"/>
          </a:endParaRPr>
        </a:p>
      </dgm:t>
    </dgm:pt>
    <dgm:pt modelId="{C14236EE-D2DA-4156-B558-C915208DAD4F}" type="parTrans" cxnId="{03F0E8C5-C6D0-4349-9CA6-E49C16988C71}">
      <dgm:prSet/>
      <dgm:spPr/>
      <dgm:t>
        <a:bodyPr/>
        <a:lstStyle/>
        <a:p>
          <a:pPr algn="just"/>
          <a:endParaRPr lang="en-US" sz="2200">
            <a:latin typeface="Nunito" pitchFamily="2" charset="77"/>
          </a:endParaRPr>
        </a:p>
      </dgm:t>
    </dgm:pt>
    <dgm:pt modelId="{E3C30FCB-446D-4C8A-86CB-30ADBAB3836A}" type="sibTrans" cxnId="{03F0E8C5-C6D0-4349-9CA6-E49C16988C71}">
      <dgm:prSet/>
      <dgm:spPr/>
      <dgm:t>
        <a:bodyPr/>
        <a:lstStyle/>
        <a:p>
          <a:pPr algn="just"/>
          <a:endParaRPr lang="en-US" sz="2200">
            <a:latin typeface="Nunito" pitchFamily="2" charset="77"/>
          </a:endParaRPr>
        </a:p>
      </dgm:t>
    </dgm:pt>
    <dgm:pt modelId="{455E0341-B3AD-410C-9704-D63B73864AB7}" type="pres">
      <dgm:prSet presAssocID="{4627B155-B7B4-4C9B-98AE-F0ECA2892FC5}" presName="root" presStyleCnt="0">
        <dgm:presLayoutVars>
          <dgm:dir/>
          <dgm:resizeHandles val="exact"/>
        </dgm:presLayoutVars>
      </dgm:prSet>
      <dgm:spPr/>
    </dgm:pt>
    <dgm:pt modelId="{64731E7C-2F10-4190-A05B-CE14479ACECB}" type="pres">
      <dgm:prSet presAssocID="{44EC73BC-7AB4-4E6C-A014-654DF7D46A94}" presName="compNode" presStyleCnt="0"/>
      <dgm:spPr/>
    </dgm:pt>
    <dgm:pt modelId="{E7E03BA3-2AAC-4A42-B340-0BE2B21B0F4E}" type="pres">
      <dgm:prSet presAssocID="{44EC73BC-7AB4-4E6C-A014-654DF7D46A94}" presName="bgRect" presStyleLbl="bgShp" presStyleIdx="0" presStyleCnt="3"/>
      <dgm:spPr/>
    </dgm:pt>
    <dgm:pt modelId="{342ABD8A-D5A1-4B9D-874F-C426A4B1ACA9}" type="pres">
      <dgm:prSet presAssocID="{44EC73BC-7AB4-4E6C-A014-654DF7D46A9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dish"/>
        </a:ext>
      </dgm:extLst>
    </dgm:pt>
    <dgm:pt modelId="{BCA63E2B-6F44-46C4-931A-3268438E956D}" type="pres">
      <dgm:prSet presAssocID="{44EC73BC-7AB4-4E6C-A014-654DF7D46A94}" presName="spaceRect" presStyleCnt="0"/>
      <dgm:spPr/>
    </dgm:pt>
    <dgm:pt modelId="{B5706F4F-C8F1-418B-8743-3A62E8E3DEEC}" type="pres">
      <dgm:prSet presAssocID="{44EC73BC-7AB4-4E6C-A014-654DF7D46A94}" presName="parTx" presStyleLbl="revTx" presStyleIdx="0" presStyleCnt="3">
        <dgm:presLayoutVars>
          <dgm:chMax val="0"/>
          <dgm:chPref val="0"/>
        </dgm:presLayoutVars>
      </dgm:prSet>
      <dgm:spPr/>
    </dgm:pt>
    <dgm:pt modelId="{ABAD7542-EB06-45E3-9A3F-3FB6C215ACE5}" type="pres">
      <dgm:prSet presAssocID="{CC4CB1B8-A2EE-4583-AFFF-7D573EF7B778}" presName="sibTrans" presStyleCnt="0"/>
      <dgm:spPr/>
    </dgm:pt>
    <dgm:pt modelId="{401E80D4-4784-4F12-827B-B504BAE6171C}" type="pres">
      <dgm:prSet presAssocID="{B1C7D6C3-C4B5-4C6C-83C1-75BA450F079C}" presName="compNode" presStyleCnt="0"/>
      <dgm:spPr/>
    </dgm:pt>
    <dgm:pt modelId="{4280D7F1-325E-4C4E-BDA5-B27B5C3232D0}" type="pres">
      <dgm:prSet presAssocID="{B1C7D6C3-C4B5-4C6C-83C1-75BA450F079C}" presName="bgRect" presStyleLbl="bgShp" presStyleIdx="1" presStyleCnt="3"/>
      <dgm:spPr/>
    </dgm:pt>
    <dgm:pt modelId="{4FC61EEE-590D-4275-9E8E-67D9346C6D52}" type="pres">
      <dgm:prSet presAssocID="{B1C7D6C3-C4B5-4C6C-83C1-75BA450F07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8E89D379-887E-4917-B01C-A8CAB835AB04}" type="pres">
      <dgm:prSet presAssocID="{B1C7D6C3-C4B5-4C6C-83C1-75BA450F079C}" presName="spaceRect" presStyleCnt="0"/>
      <dgm:spPr/>
    </dgm:pt>
    <dgm:pt modelId="{8242310D-7BB7-483D-A8E2-5D90E918DD99}" type="pres">
      <dgm:prSet presAssocID="{B1C7D6C3-C4B5-4C6C-83C1-75BA450F079C}" presName="parTx" presStyleLbl="revTx" presStyleIdx="1" presStyleCnt="3">
        <dgm:presLayoutVars>
          <dgm:chMax val="0"/>
          <dgm:chPref val="0"/>
        </dgm:presLayoutVars>
      </dgm:prSet>
      <dgm:spPr/>
    </dgm:pt>
    <dgm:pt modelId="{334DAC5B-C15D-4D14-9C63-3934237760A4}" type="pres">
      <dgm:prSet presAssocID="{B02F4A63-9442-4916-A4F1-2E488B6961B0}" presName="sibTrans" presStyleCnt="0"/>
      <dgm:spPr/>
    </dgm:pt>
    <dgm:pt modelId="{40957326-600D-44E7-A4F5-E4A7021FF2A5}" type="pres">
      <dgm:prSet presAssocID="{EE13BBC3-C731-46CB-BE6D-EED6EB655F15}" presName="compNode" presStyleCnt="0"/>
      <dgm:spPr/>
    </dgm:pt>
    <dgm:pt modelId="{A9913260-FD78-4192-B19B-AA0D1E108D0A}" type="pres">
      <dgm:prSet presAssocID="{EE13BBC3-C731-46CB-BE6D-EED6EB655F15}" presName="bgRect" presStyleLbl="bgShp" presStyleIdx="2" presStyleCnt="3"/>
      <dgm:spPr/>
    </dgm:pt>
    <dgm:pt modelId="{147DFCE6-E001-4060-96A3-4BA797DF10F9}" type="pres">
      <dgm:prSet presAssocID="{EE13BBC3-C731-46CB-BE6D-EED6EB655F1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ransfer"/>
        </a:ext>
      </dgm:extLst>
    </dgm:pt>
    <dgm:pt modelId="{EFD59C2E-087D-405B-A746-237A89CC3F77}" type="pres">
      <dgm:prSet presAssocID="{EE13BBC3-C731-46CB-BE6D-EED6EB655F15}" presName="spaceRect" presStyleCnt="0"/>
      <dgm:spPr/>
    </dgm:pt>
    <dgm:pt modelId="{90000A29-8B72-461B-9356-C9FCB2C4A322}" type="pres">
      <dgm:prSet presAssocID="{EE13BBC3-C731-46CB-BE6D-EED6EB655F15}" presName="parTx" presStyleLbl="revTx" presStyleIdx="2" presStyleCnt="3">
        <dgm:presLayoutVars>
          <dgm:chMax val="0"/>
          <dgm:chPref val="0"/>
        </dgm:presLayoutVars>
      </dgm:prSet>
      <dgm:spPr/>
    </dgm:pt>
  </dgm:ptLst>
  <dgm:cxnLst>
    <dgm:cxn modelId="{EDCFAC1C-E574-400F-8EA0-9070CD3C558B}" type="presOf" srcId="{44EC73BC-7AB4-4E6C-A014-654DF7D46A94}" destId="{B5706F4F-C8F1-418B-8743-3A62E8E3DEEC}" srcOrd="0" destOrd="0" presId="urn:microsoft.com/office/officeart/2018/2/layout/IconVerticalSolidList"/>
    <dgm:cxn modelId="{1701C734-DED8-411C-AA8E-D11AD9EBE1CB}" type="presOf" srcId="{EE13BBC3-C731-46CB-BE6D-EED6EB655F15}" destId="{90000A29-8B72-461B-9356-C9FCB2C4A322}" srcOrd="0" destOrd="0" presId="urn:microsoft.com/office/officeart/2018/2/layout/IconVerticalSolidList"/>
    <dgm:cxn modelId="{60D29999-D0F0-425B-A666-E7AB25433AE6}" type="presOf" srcId="{4627B155-B7B4-4C9B-98AE-F0ECA2892FC5}" destId="{455E0341-B3AD-410C-9704-D63B73864AB7}" srcOrd="0" destOrd="0" presId="urn:microsoft.com/office/officeart/2018/2/layout/IconVerticalSolidList"/>
    <dgm:cxn modelId="{9598B6A2-FE4D-4CA7-B864-D841E99AB414}" type="presOf" srcId="{B1C7D6C3-C4B5-4C6C-83C1-75BA450F079C}" destId="{8242310D-7BB7-483D-A8E2-5D90E918DD99}" srcOrd="0" destOrd="0" presId="urn:microsoft.com/office/officeart/2018/2/layout/IconVerticalSolidList"/>
    <dgm:cxn modelId="{03F0E8C5-C6D0-4349-9CA6-E49C16988C71}" srcId="{4627B155-B7B4-4C9B-98AE-F0ECA2892FC5}" destId="{EE13BBC3-C731-46CB-BE6D-EED6EB655F15}" srcOrd="2" destOrd="0" parTransId="{C14236EE-D2DA-4156-B558-C915208DAD4F}" sibTransId="{E3C30FCB-446D-4C8A-86CB-30ADBAB3836A}"/>
    <dgm:cxn modelId="{05FCEECA-04CD-481B-A6F9-9B09F7D58E3B}" srcId="{4627B155-B7B4-4C9B-98AE-F0ECA2892FC5}" destId="{44EC73BC-7AB4-4E6C-A014-654DF7D46A94}" srcOrd="0" destOrd="0" parTransId="{2CA46A47-5788-49E1-9AF6-31D4C4470791}" sibTransId="{CC4CB1B8-A2EE-4583-AFFF-7D573EF7B778}"/>
    <dgm:cxn modelId="{67BFFEF5-F44C-48E6-B35B-DEB56238B7E2}" srcId="{4627B155-B7B4-4C9B-98AE-F0ECA2892FC5}" destId="{B1C7D6C3-C4B5-4C6C-83C1-75BA450F079C}" srcOrd="1" destOrd="0" parTransId="{B9CB171D-F776-4FA9-B3AA-E2AD4665952D}" sibTransId="{B02F4A63-9442-4916-A4F1-2E488B6961B0}"/>
    <dgm:cxn modelId="{99B3A477-3D58-4318-9DB1-62AE5C045EC8}" type="presParOf" srcId="{455E0341-B3AD-410C-9704-D63B73864AB7}" destId="{64731E7C-2F10-4190-A05B-CE14479ACECB}" srcOrd="0" destOrd="0" presId="urn:microsoft.com/office/officeart/2018/2/layout/IconVerticalSolidList"/>
    <dgm:cxn modelId="{A6008EE9-6FB8-4161-BD1F-56DB520264E9}" type="presParOf" srcId="{64731E7C-2F10-4190-A05B-CE14479ACECB}" destId="{E7E03BA3-2AAC-4A42-B340-0BE2B21B0F4E}" srcOrd="0" destOrd="0" presId="urn:microsoft.com/office/officeart/2018/2/layout/IconVerticalSolidList"/>
    <dgm:cxn modelId="{6E24BD70-B51B-496F-AA05-6CD73D976DE4}" type="presParOf" srcId="{64731E7C-2F10-4190-A05B-CE14479ACECB}" destId="{342ABD8A-D5A1-4B9D-874F-C426A4B1ACA9}" srcOrd="1" destOrd="0" presId="urn:microsoft.com/office/officeart/2018/2/layout/IconVerticalSolidList"/>
    <dgm:cxn modelId="{3312E904-A7B4-4FF7-9477-2CEA25175F18}" type="presParOf" srcId="{64731E7C-2F10-4190-A05B-CE14479ACECB}" destId="{BCA63E2B-6F44-46C4-931A-3268438E956D}" srcOrd="2" destOrd="0" presId="urn:microsoft.com/office/officeart/2018/2/layout/IconVerticalSolidList"/>
    <dgm:cxn modelId="{982DD95D-E262-4E41-9880-FCFA37BC0C38}" type="presParOf" srcId="{64731E7C-2F10-4190-A05B-CE14479ACECB}" destId="{B5706F4F-C8F1-418B-8743-3A62E8E3DEEC}" srcOrd="3" destOrd="0" presId="urn:microsoft.com/office/officeart/2018/2/layout/IconVerticalSolidList"/>
    <dgm:cxn modelId="{834BAB70-00C0-47BA-B23E-B27BC21BB86F}" type="presParOf" srcId="{455E0341-B3AD-410C-9704-D63B73864AB7}" destId="{ABAD7542-EB06-45E3-9A3F-3FB6C215ACE5}" srcOrd="1" destOrd="0" presId="urn:microsoft.com/office/officeart/2018/2/layout/IconVerticalSolidList"/>
    <dgm:cxn modelId="{47360FB8-C4B9-488D-A304-F282341EE452}" type="presParOf" srcId="{455E0341-B3AD-410C-9704-D63B73864AB7}" destId="{401E80D4-4784-4F12-827B-B504BAE6171C}" srcOrd="2" destOrd="0" presId="urn:microsoft.com/office/officeart/2018/2/layout/IconVerticalSolidList"/>
    <dgm:cxn modelId="{CCCB8A05-AEAC-4DF3-B967-1E0D178F1996}" type="presParOf" srcId="{401E80D4-4784-4F12-827B-B504BAE6171C}" destId="{4280D7F1-325E-4C4E-BDA5-B27B5C3232D0}" srcOrd="0" destOrd="0" presId="urn:microsoft.com/office/officeart/2018/2/layout/IconVerticalSolidList"/>
    <dgm:cxn modelId="{D8103410-CA33-4500-8092-AE623A4681F5}" type="presParOf" srcId="{401E80D4-4784-4F12-827B-B504BAE6171C}" destId="{4FC61EEE-590D-4275-9E8E-67D9346C6D52}" srcOrd="1" destOrd="0" presId="urn:microsoft.com/office/officeart/2018/2/layout/IconVerticalSolidList"/>
    <dgm:cxn modelId="{581E69E7-314D-48E1-9451-C55DF8C49FFA}" type="presParOf" srcId="{401E80D4-4784-4F12-827B-B504BAE6171C}" destId="{8E89D379-887E-4917-B01C-A8CAB835AB04}" srcOrd="2" destOrd="0" presId="urn:microsoft.com/office/officeart/2018/2/layout/IconVerticalSolidList"/>
    <dgm:cxn modelId="{CEA9078B-DE8C-451B-849B-F444E2F4A395}" type="presParOf" srcId="{401E80D4-4784-4F12-827B-B504BAE6171C}" destId="{8242310D-7BB7-483D-A8E2-5D90E918DD99}" srcOrd="3" destOrd="0" presId="urn:microsoft.com/office/officeart/2018/2/layout/IconVerticalSolidList"/>
    <dgm:cxn modelId="{82CC548A-188C-408F-9B21-AD7C5DCAC9D1}" type="presParOf" srcId="{455E0341-B3AD-410C-9704-D63B73864AB7}" destId="{334DAC5B-C15D-4D14-9C63-3934237760A4}" srcOrd="3" destOrd="0" presId="urn:microsoft.com/office/officeart/2018/2/layout/IconVerticalSolidList"/>
    <dgm:cxn modelId="{07C01CB7-380B-4D55-BEFA-529EC0128160}" type="presParOf" srcId="{455E0341-B3AD-410C-9704-D63B73864AB7}" destId="{40957326-600D-44E7-A4F5-E4A7021FF2A5}" srcOrd="4" destOrd="0" presId="urn:microsoft.com/office/officeart/2018/2/layout/IconVerticalSolidList"/>
    <dgm:cxn modelId="{B565A383-67CE-4BA2-8DA9-2A48301746F8}" type="presParOf" srcId="{40957326-600D-44E7-A4F5-E4A7021FF2A5}" destId="{A9913260-FD78-4192-B19B-AA0D1E108D0A}" srcOrd="0" destOrd="0" presId="urn:microsoft.com/office/officeart/2018/2/layout/IconVerticalSolidList"/>
    <dgm:cxn modelId="{C2453765-A533-4988-9B5D-FAE1735E1367}" type="presParOf" srcId="{40957326-600D-44E7-A4F5-E4A7021FF2A5}" destId="{147DFCE6-E001-4060-96A3-4BA797DF10F9}" srcOrd="1" destOrd="0" presId="urn:microsoft.com/office/officeart/2018/2/layout/IconVerticalSolidList"/>
    <dgm:cxn modelId="{1DB4F128-0770-4806-AA65-080C9437A337}" type="presParOf" srcId="{40957326-600D-44E7-A4F5-E4A7021FF2A5}" destId="{EFD59C2E-087D-405B-A746-237A89CC3F77}" srcOrd="2" destOrd="0" presId="urn:microsoft.com/office/officeart/2018/2/layout/IconVerticalSolidList"/>
    <dgm:cxn modelId="{C9FFA134-2C38-4792-9647-E55519456F58}" type="presParOf" srcId="{40957326-600D-44E7-A4F5-E4A7021FF2A5}" destId="{90000A29-8B72-461B-9356-C9FCB2C4A32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E03BA3-2AAC-4A42-B340-0BE2B21B0F4E}">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2ABD8A-D5A1-4B9D-874F-C426A4B1ACA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706F4F-C8F1-418B-8743-3A62E8E3DEEC}">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just" defTabSz="977900">
            <a:lnSpc>
              <a:spcPct val="100000"/>
            </a:lnSpc>
            <a:spcBef>
              <a:spcPct val="0"/>
            </a:spcBef>
            <a:spcAft>
              <a:spcPct val="35000"/>
            </a:spcAft>
            <a:buNone/>
          </a:pPr>
          <a:r>
            <a:rPr lang="en-IN" sz="2200" kern="1200">
              <a:latin typeface="Nunito" pitchFamily="2" charset="77"/>
            </a:rPr>
            <a:t>Transmission medium can be guided or unguided.</a:t>
          </a:r>
          <a:endParaRPr lang="en-US" sz="2200" kern="1200">
            <a:latin typeface="Nunito" pitchFamily="2" charset="77"/>
          </a:endParaRPr>
        </a:p>
      </dsp:txBody>
      <dsp:txXfrm>
        <a:off x="1435590" y="531"/>
        <a:ext cx="9080009" cy="1242935"/>
      </dsp:txXfrm>
    </dsp:sp>
    <dsp:sp modelId="{4280D7F1-325E-4C4E-BDA5-B27B5C3232D0}">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C61EEE-590D-4275-9E8E-67D9346C6D52}">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2310D-7BB7-483D-A8E2-5D90E918DD99}">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just" defTabSz="977900">
            <a:lnSpc>
              <a:spcPct val="100000"/>
            </a:lnSpc>
            <a:spcBef>
              <a:spcPct val="0"/>
            </a:spcBef>
            <a:spcAft>
              <a:spcPct val="35000"/>
            </a:spcAft>
            <a:buNone/>
          </a:pPr>
          <a:r>
            <a:rPr lang="en-IN" sz="2200" b="0" i="0" kern="1200">
              <a:latin typeface="Nunito" pitchFamily="2" charset="77"/>
            </a:rPr>
            <a:t>Both guided and unguided are used for short distance (LANs, MANs) as well as long distance (WANs) communication.</a:t>
          </a:r>
          <a:endParaRPr lang="en-US" sz="2200" kern="1200">
            <a:latin typeface="Nunito" pitchFamily="2" charset="77"/>
          </a:endParaRPr>
        </a:p>
      </dsp:txBody>
      <dsp:txXfrm>
        <a:off x="1435590" y="1554201"/>
        <a:ext cx="9080009" cy="1242935"/>
      </dsp:txXfrm>
    </dsp:sp>
    <dsp:sp modelId="{A9913260-FD78-4192-B19B-AA0D1E108D0A}">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7DFCE6-E001-4060-96A3-4BA797DF10F9}">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000A29-8B72-461B-9356-C9FCB2C4A322}">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just" defTabSz="977900">
            <a:lnSpc>
              <a:spcPct val="100000"/>
            </a:lnSpc>
            <a:spcBef>
              <a:spcPct val="0"/>
            </a:spcBef>
            <a:spcAft>
              <a:spcPct val="35000"/>
            </a:spcAft>
            <a:buNone/>
          </a:pPr>
          <a:r>
            <a:rPr lang="en-IN" sz="2200" kern="1200" dirty="0">
              <a:latin typeface="Nunito" pitchFamily="2" charset="77"/>
            </a:rPr>
            <a:t>Both mediums are different, but their motive is to transfer the signals. </a:t>
          </a:r>
          <a:endParaRPr lang="en-US" sz="2200" kern="1200" dirty="0">
            <a:latin typeface="Nunito" pitchFamily="2" charset="77"/>
          </a:endParaRPr>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45040-930C-3B2A-FE9D-0E92C208529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9165623-B9A0-7EEB-207C-AF4B1EBF50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14883A8-FFC4-379C-0D46-A26ECF224CF1}"/>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5" name="Footer Placeholder 4">
            <a:extLst>
              <a:ext uri="{FF2B5EF4-FFF2-40B4-BE49-F238E27FC236}">
                <a16:creationId xmlns:a16="http://schemas.microsoft.com/office/drawing/2014/main" id="{BBDD07E2-EF42-40EE-ACD2-FF907B3AF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C7434-0476-649E-CBCB-12CAF6F86FB2}"/>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157200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AC96E-A8D7-3C79-ACCB-E36FB64F434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61850F8-F25B-DBE7-68C6-ED62BEF0582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F206AC-37A0-9F83-81B6-7405610A7C3A}"/>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5" name="Footer Placeholder 4">
            <a:extLst>
              <a:ext uri="{FF2B5EF4-FFF2-40B4-BE49-F238E27FC236}">
                <a16:creationId xmlns:a16="http://schemas.microsoft.com/office/drawing/2014/main" id="{C01B6D0B-7DE4-CCDE-58EE-951CCDF55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641D0-6EC1-805A-A328-9B40D11B0267}"/>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415044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EA2F-D9DE-B2A6-8C37-A4732A2445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7296E8C-CB58-EBA2-D867-06051E2BF3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BB63005-B67A-6DA1-143E-5520AF1A2D73}"/>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5" name="Footer Placeholder 4">
            <a:extLst>
              <a:ext uri="{FF2B5EF4-FFF2-40B4-BE49-F238E27FC236}">
                <a16:creationId xmlns:a16="http://schemas.microsoft.com/office/drawing/2014/main" id="{275315E8-F60B-2629-E301-24D1BB88B2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D7C793-96FD-2DE4-5A58-9C1D02952F38}"/>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3391640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A00D-C03A-9953-44C9-488A6E76AB4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8054611-3999-A125-5C1F-D66D742FD47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D2DF0F2-A926-D8A7-2A2A-94BB40108AB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B9081AA-1DB3-2104-C677-8F9B1C86AC15}"/>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6" name="Footer Placeholder 5">
            <a:extLst>
              <a:ext uri="{FF2B5EF4-FFF2-40B4-BE49-F238E27FC236}">
                <a16:creationId xmlns:a16="http://schemas.microsoft.com/office/drawing/2014/main" id="{A7D90E8B-FF77-3552-EE58-99ED59D5C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517365-D472-E5AE-E278-812434480B05}"/>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292871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E9EA1-1722-25AE-138E-62303AF59BE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BCA900-80BC-597E-F516-63996E1154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22BCA0-0450-3F94-643C-651FF0A5C82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BA39253-9744-0F3B-A276-2942628DE6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0B9FB2A-DC4E-8528-CE5C-610C567433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F2A5B74-B83C-BE96-6901-4B804D121D42}"/>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8" name="Footer Placeholder 7">
            <a:extLst>
              <a:ext uri="{FF2B5EF4-FFF2-40B4-BE49-F238E27FC236}">
                <a16:creationId xmlns:a16="http://schemas.microsoft.com/office/drawing/2014/main" id="{FF7EAB38-08FF-7F76-0747-9E5E5272F2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31820B-937A-65AA-6549-9B7A22CCDFF4}"/>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637340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54F48-F2E4-8205-926F-2511CEBD884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B905D32-511E-5A10-1255-DE2307AF7828}"/>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4" name="Footer Placeholder 3">
            <a:extLst>
              <a:ext uri="{FF2B5EF4-FFF2-40B4-BE49-F238E27FC236}">
                <a16:creationId xmlns:a16="http://schemas.microsoft.com/office/drawing/2014/main" id="{228BBB2B-1157-E417-E107-65791BC3C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2E853-A69E-6A4A-A389-2990EA48E7DD}"/>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1816923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16A81-A010-CFD4-98CD-8EDC2FA6CB89}"/>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3" name="Footer Placeholder 2">
            <a:extLst>
              <a:ext uri="{FF2B5EF4-FFF2-40B4-BE49-F238E27FC236}">
                <a16:creationId xmlns:a16="http://schemas.microsoft.com/office/drawing/2014/main" id="{674D0D0A-3FE9-941D-6FF7-4C7BB3A0BE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A19E35-265E-8F9E-272B-E1E5A4D854D8}"/>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1556292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0FFF2-F223-25EC-0D67-6099542C690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44DD81A-0381-4F03-883D-024505321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A2E3987-EE5A-CF8F-B136-17682771A1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3D4211-6875-A5AD-D313-F9FC700D5035}"/>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6" name="Footer Placeholder 5">
            <a:extLst>
              <a:ext uri="{FF2B5EF4-FFF2-40B4-BE49-F238E27FC236}">
                <a16:creationId xmlns:a16="http://schemas.microsoft.com/office/drawing/2014/main" id="{92F812E0-269C-E710-6C2B-9116462461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592B0A-EDCC-12CC-8C5F-B5CFEA655377}"/>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2466725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41A3-2E41-83C4-C688-0FB8A5A28B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373D26F-582C-F8C3-1137-5A9C14396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90F9B1-F862-BBCD-E1B1-124CDB4AA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CB137BF-BBE2-2E43-FE76-19891697105C}"/>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6" name="Footer Placeholder 5">
            <a:extLst>
              <a:ext uri="{FF2B5EF4-FFF2-40B4-BE49-F238E27FC236}">
                <a16:creationId xmlns:a16="http://schemas.microsoft.com/office/drawing/2014/main" id="{59D6069C-72C5-A90F-BEDF-ED3C22248B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2BEB53-57FE-478B-53CB-3ED3D234273D}"/>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1274774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7FE5-E425-D515-EF0E-DB3D37E57CA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D202D8-9BC3-FF13-DFB7-A0DF7EA9B07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4CAE603-5AB6-F00D-07CA-C154F4138089}"/>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5" name="Footer Placeholder 4">
            <a:extLst>
              <a:ext uri="{FF2B5EF4-FFF2-40B4-BE49-F238E27FC236}">
                <a16:creationId xmlns:a16="http://schemas.microsoft.com/office/drawing/2014/main" id="{F5D80D0B-D20A-0D01-92AB-F187D7D6D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6B9D6-3100-1A57-D049-DBB6A1CAFF7F}"/>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29995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C7A6E7-A02D-F68D-745C-7859C864607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BF8F38-0C74-9E66-DCEF-E87566F6A6A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C8CCED-666F-B085-0F5D-AFD2FE9DE351}"/>
              </a:ext>
            </a:extLst>
          </p:cNvPr>
          <p:cNvSpPr>
            <a:spLocks noGrp="1"/>
          </p:cNvSpPr>
          <p:nvPr>
            <p:ph type="dt" sz="half" idx="10"/>
          </p:nvPr>
        </p:nvSpPr>
        <p:spPr/>
        <p:txBody>
          <a:bodyPr/>
          <a:lstStyle/>
          <a:p>
            <a:fld id="{95824AFA-DC8A-8143-B733-275F3395F01B}" type="datetimeFigureOut">
              <a:rPr lang="en-US" smtClean="0"/>
              <a:t>4/12/2024</a:t>
            </a:fld>
            <a:endParaRPr lang="en-US"/>
          </a:p>
        </p:txBody>
      </p:sp>
      <p:sp>
        <p:nvSpPr>
          <p:cNvPr id="5" name="Footer Placeholder 4">
            <a:extLst>
              <a:ext uri="{FF2B5EF4-FFF2-40B4-BE49-F238E27FC236}">
                <a16:creationId xmlns:a16="http://schemas.microsoft.com/office/drawing/2014/main" id="{9EF0239B-BAE8-D896-6190-F842E838C4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1C5EC-3954-1A2E-B2A4-1510A01B82F9}"/>
              </a:ext>
            </a:extLst>
          </p:cNvPr>
          <p:cNvSpPr>
            <a:spLocks noGrp="1"/>
          </p:cNvSpPr>
          <p:nvPr>
            <p:ph type="sldNum" sz="quarter" idx="12"/>
          </p:nvPr>
        </p:nvSpPr>
        <p:spPr/>
        <p:txBody>
          <a:bodyPr/>
          <a:lstStyle/>
          <a:p>
            <a:fld id="{18DE4D20-ED0B-3344-820D-E1630341556F}" type="slidenum">
              <a:rPr lang="en-US" smtClean="0"/>
              <a:t>‹#›</a:t>
            </a:fld>
            <a:endParaRPr lang="en-US"/>
          </a:p>
        </p:txBody>
      </p:sp>
    </p:spTree>
    <p:extLst>
      <p:ext uri="{BB962C8B-B14F-4D97-AF65-F5344CB8AC3E}">
        <p14:creationId xmlns:p14="http://schemas.microsoft.com/office/powerpoint/2010/main" val="308106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004C69-63FC-A550-859C-331A2BD5FD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CF8CA6-2D96-1FC4-19E5-912285844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A80447-0D57-FB41-8E2C-7438D1FF7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824AFA-DC8A-8143-B733-275F3395F01B}" type="datetimeFigureOut">
              <a:rPr lang="en-US" smtClean="0"/>
              <a:t>4/12/2024</a:t>
            </a:fld>
            <a:endParaRPr lang="en-US"/>
          </a:p>
        </p:txBody>
      </p:sp>
      <p:sp>
        <p:nvSpPr>
          <p:cNvPr id="5" name="Footer Placeholder 4">
            <a:extLst>
              <a:ext uri="{FF2B5EF4-FFF2-40B4-BE49-F238E27FC236}">
                <a16:creationId xmlns:a16="http://schemas.microsoft.com/office/drawing/2014/main" id="{ED3C2BEE-6966-12DB-BFD5-0E1E5473A5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E2600EA-053B-BEB5-8AA3-A37E4DE124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DE4D20-ED0B-3344-820D-E1630341556F}" type="slidenum">
              <a:rPr lang="en-US" smtClean="0"/>
              <a:t>‹#›</a:t>
            </a:fld>
            <a:endParaRPr lang="en-US"/>
          </a:p>
        </p:txBody>
      </p:sp>
    </p:spTree>
    <p:extLst>
      <p:ext uri="{BB962C8B-B14F-4D97-AF65-F5344CB8AC3E}">
        <p14:creationId xmlns:p14="http://schemas.microsoft.com/office/powerpoint/2010/main" val="3193686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ell towers">
            <a:extLst>
              <a:ext uri="{FF2B5EF4-FFF2-40B4-BE49-F238E27FC236}">
                <a16:creationId xmlns:a16="http://schemas.microsoft.com/office/drawing/2014/main" id="{894597F1-1305-6108-3EEB-2EE61AA980CB}"/>
              </a:ext>
            </a:extLst>
          </p:cNvPr>
          <p:cNvPicPr>
            <a:picLocks noChangeAspect="1"/>
          </p:cNvPicPr>
          <p:nvPr/>
        </p:nvPicPr>
        <p:blipFill rotWithShape="1">
          <a:blip r:embed="rId2"/>
          <a:srcRect l="5884" r="-1" b="-1"/>
          <a:stretch/>
        </p:blipFill>
        <p:spPr>
          <a:xfrm>
            <a:off x="2522358" y="10"/>
            <a:ext cx="9669642" cy="6857990"/>
          </a:xfrm>
          <a:prstGeom prst="rect">
            <a:avLst/>
          </a:prstGeom>
        </p:spPr>
      </p:pic>
      <p:sp>
        <p:nvSpPr>
          <p:cNvPr id="22" name="Rectangle 2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7DA90B-9CA7-2834-3DDC-DFCA0C1179F6}"/>
              </a:ext>
            </a:extLst>
          </p:cNvPr>
          <p:cNvSpPr>
            <a:spLocks noGrp="1"/>
          </p:cNvSpPr>
          <p:nvPr>
            <p:ph type="ctrTitle"/>
          </p:nvPr>
        </p:nvSpPr>
        <p:spPr>
          <a:xfrm>
            <a:off x="952228" y="743447"/>
            <a:ext cx="5573832" cy="3692028"/>
          </a:xfrm>
          <a:noFill/>
        </p:spPr>
        <p:txBody>
          <a:bodyPr>
            <a:normAutofit/>
          </a:bodyPr>
          <a:lstStyle/>
          <a:p>
            <a:pPr algn="l"/>
            <a:r>
              <a:rPr lang="en-US" sz="5200" b="1" dirty="0">
                <a:latin typeface="American Typewriter" panose="02090604020004020304" pitchFamily="18" charset="77"/>
              </a:rPr>
              <a:t>Transmission Media</a:t>
            </a:r>
          </a:p>
        </p:txBody>
      </p:sp>
      <p:sp>
        <p:nvSpPr>
          <p:cNvPr id="6" name="Subtitle 5">
            <a:extLst>
              <a:ext uri="{FF2B5EF4-FFF2-40B4-BE49-F238E27FC236}">
                <a16:creationId xmlns:a16="http://schemas.microsoft.com/office/drawing/2014/main" id="{88F0352F-7549-4E0F-ACE4-1F77B3D949F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44173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p:txBody>
          <a:bodyPr>
            <a:normAutofit/>
          </a:bodyPr>
          <a:lstStyle/>
          <a:p>
            <a:pPr algn="just"/>
            <a:r>
              <a:rPr lang="en-IN" sz="2400" b="0" i="0" dirty="0">
                <a:solidFill>
                  <a:srgbClr val="000000"/>
                </a:solidFill>
                <a:effectLst/>
                <a:latin typeface="Nunito" pitchFamily="2" charset="77"/>
              </a:rPr>
              <a:t>In transmission, media is the way the systems are connected to route data signals in a network.</a:t>
            </a:r>
          </a:p>
          <a:p>
            <a:pPr algn="just"/>
            <a:r>
              <a:rPr lang="en-IN" sz="2400" dirty="0">
                <a:solidFill>
                  <a:srgbClr val="000000"/>
                </a:solidFill>
                <a:latin typeface="Nunito" pitchFamily="2" charset="77"/>
              </a:rPr>
              <a:t>The electrical or optical signals are transmitted through either </a:t>
            </a:r>
            <a:r>
              <a:rPr lang="en-IN" sz="2400" b="1" dirty="0">
                <a:solidFill>
                  <a:srgbClr val="FF0000"/>
                </a:solidFill>
                <a:latin typeface="Nunito" pitchFamily="2" charset="77"/>
              </a:rPr>
              <a:t>copper or </a:t>
            </a:r>
            <a:r>
              <a:rPr lang="en-IN" sz="2400" b="1" dirty="0" err="1">
                <a:solidFill>
                  <a:srgbClr val="FF0000"/>
                </a:solidFill>
                <a:latin typeface="Nunito" pitchFamily="2" charset="77"/>
              </a:rPr>
              <a:t>fiber</a:t>
            </a:r>
            <a:r>
              <a:rPr lang="en-IN" sz="2400" dirty="0">
                <a:solidFill>
                  <a:srgbClr val="000000"/>
                </a:solidFill>
                <a:latin typeface="Nunito" pitchFamily="2" charset="77"/>
              </a:rPr>
              <a:t>-based transmission media.</a:t>
            </a:r>
          </a:p>
          <a:p>
            <a:pPr algn="just"/>
            <a:r>
              <a:rPr lang="en-IN" sz="2400" dirty="0">
                <a:solidFill>
                  <a:srgbClr val="000000"/>
                </a:solidFill>
                <a:latin typeface="Nunito" pitchFamily="2" charset="77"/>
              </a:rPr>
              <a:t>In a copper cable network, bits are available in the form of </a:t>
            </a:r>
            <a:r>
              <a:rPr lang="en-IN" sz="2400" b="1" dirty="0">
                <a:solidFill>
                  <a:srgbClr val="FF0000"/>
                </a:solidFill>
                <a:latin typeface="Nunito" pitchFamily="2" charset="77"/>
              </a:rPr>
              <a:t>electrical signals</a:t>
            </a:r>
            <a:r>
              <a:rPr lang="en-IN" sz="2400" dirty="0">
                <a:solidFill>
                  <a:srgbClr val="000000"/>
                </a:solidFill>
                <a:latin typeface="Nunito" pitchFamily="2" charset="77"/>
              </a:rPr>
              <a:t>, whereas in a </a:t>
            </a:r>
            <a:r>
              <a:rPr lang="en-IN" sz="2400" dirty="0" err="1">
                <a:solidFill>
                  <a:srgbClr val="000000"/>
                </a:solidFill>
                <a:latin typeface="Nunito" pitchFamily="2" charset="77"/>
              </a:rPr>
              <a:t>fiber</a:t>
            </a:r>
            <a:r>
              <a:rPr lang="en-IN" sz="2400" dirty="0">
                <a:solidFill>
                  <a:srgbClr val="000000"/>
                </a:solidFill>
                <a:latin typeface="Nunito" pitchFamily="2" charset="77"/>
              </a:rPr>
              <a:t> network, bits are available in the form of </a:t>
            </a:r>
            <a:r>
              <a:rPr lang="en-IN" sz="2400" b="1" dirty="0">
                <a:solidFill>
                  <a:srgbClr val="00B050"/>
                </a:solidFill>
                <a:latin typeface="Nunito" pitchFamily="2" charset="77"/>
              </a:rPr>
              <a:t>light pulses</a:t>
            </a:r>
            <a:r>
              <a:rPr lang="en-IN" sz="2400" dirty="0">
                <a:solidFill>
                  <a:srgbClr val="000000"/>
                </a:solidFill>
                <a:latin typeface="Nunito" pitchFamily="2" charset="77"/>
              </a:rPr>
              <a:t>. </a:t>
            </a:r>
          </a:p>
          <a:p>
            <a:pPr algn="just"/>
            <a:r>
              <a:rPr lang="en-IN" sz="2400" dirty="0">
                <a:solidFill>
                  <a:srgbClr val="000000"/>
                </a:solidFill>
                <a:latin typeface="Nunito" pitchFamily="2" charset="77"/>
              </a:rPr>
              <a:t>The parameters of the medium and signal can be used to determine the quality and characteristics of data transmission.</a:t>
            </a:r>
          </a:p>
          <a:p>
            <a:pPr algn="just"/>
            <a:r>
              <a:rPr lang="en-IN" sz="2400" dirty="0">
                <a:solidFill>
                  <a:srgbClr val="000000"/>
                </a:solidFill>
                <a:latin typeface="Nunito" pitchFamily="2" charset="77"/>
              </a:rPr>
              <a:t>Delay, bandwidth, maintenance, cost, and ease of installation are all characteristics of various transmission media.</a:t>
            </a:r>
          </a:p>
        </p:txBody>
      </p:sp>
    </p:spTree>
    <p:extLst>
      <p:ext uri="{BB962C8B-B14F-4D97-AF65-F5344CB8AC3E}">
        <p14:creationId xmlns:p14="http://schemas.microsoft.com/office/powerpoint/2010/main" val="356198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p:txBody>
          <a:bodyPr>
            <a:normAutofit/>
          </a:bodyPr>
          <a:lstStyle/>
          <a:p>
            <a:pPr algn="just"/>
            <a:r>
              <a:rPr lang="en-IN" sz="2400" dirty="0">
                <a:solidFill>
                  <a:srgbClr val="000000"/>
                </a:solidFill>
                <a:latin typeface="Nunito" pitchFamily="2" charset="77"/>
              </a:rPr>
              <a:t>The use of long-distance communication using electric signals started with the invention of the </a:t>
            </a:r>
            <a:r>
              <a:rPr lang="en-IN" sz="2400" b="1" dirty="0">
                <a:solidFill>
                  <a:srgbClr val="000000"/>
                </a:solidFill>
                <a:latin typeface="Nunito" pitchFamily="2" charset="77"/>
              </a:rPr>
              <a:t>telegraph</a:t>
            </a:r>
            <a:r>
              <a:rPr lang="en-IN" sz="2400" dirty="0">
                <a:solidFill>
                  <a:srgbClr val="000000"/>
                </a:solidFill>
                <a:latin typeface="Nunito" pitchFamily="2" charset="77"/>
              </a:rPr>
              <a:t> by Morse in the 19th century.</a:t>
            </a:r>
          </a:p>
          <a:p>
            <a:pPr algn="just"/>
            <a:r>
              <a:rPr lang="en-IN" sz="2400" dirty="0">
                <a:solidFill>
                  <a:srgbClr val="000000"/>
                </a:solidFill>
                <a:latin typeface="Nunito" pitchFamily="2" charset="77"/>
              </a:rPr>
              <a:t>Communication by telegraph was slow and dependent on a metallic medium.</a:t>
            </a:r>
          </a:p>
          <a:p>
            <a:pPr algn="just"/>
            <a:r>
              <a:rPr lang="en-IN" sz="2400" dirty="0">
                <a:solidFill>
                  <a:srgbClr val="000000"/>
                </a:solidFill>
                <a:latin typeface="Nunito" pitchFamily="2" charset="77"/>
              </a:rPr>
              <a:t>Extending the range of the human voice became possible when the </a:t>
            </a:r>
            <a:r>
              <a:rPr lang="en-IN" sz="2400" b="1" dirty="0">
                <a:solidFill>
                  <a:srgbClr val="000000"/>
                </a:solidFill>
                <a:latin typeface="Nunito" pitchFamily="2" charset="77"/>
              </a:rPr>
              <a:t>telephone</a:t>
            </a:r>
            <a:r>
              <a:rPr lang="en-IN" sz="2400" dirty="0">
                <a:solidFill>
                  <a:srgbClr val="000000"/>
                </a:solidFill>
                <a:latin typeface="Nunito" pitchFamily="2" charset="77"/>
              </a:rPr>
              <a:t> was invented in 1869.</a:t>
            </a:r>
          </a:p>
          <a:p>
            <a:pPr algn="just"/>
            <a:r>
              <a:rPr lang="en-IN" sz="2400" dirty="0">
                <a:solidFill>
                  <a:srgbClr val="000000"/>
                </a:solidFill>
                <a:latin typeface="Nunito" pitchFamily="2" charset="77"/>
              </a:rPr>
              <a:t>Telephone communication also needed a metallic medium to carry the electric signals, a result of a conversion from the human voice.</a:t>
            </a:r>
          </a:p>
          <a:p>
            <a:r>
              <a:rPr lang="en-IN" sz="2400" dirty="0">
                <a:solidFill>
                  <a:srgbClr val="000000"/>
                </a:solidFill>
                <a:latin typeface="Nunito" pitchFamily="2" charset="77"/>
              </a:rPr>
              <a:t>Wireless communication started in 1895 when Hertz was able to send high frequency signals.</a:t>
            </a:r>
          </a:p>
          <a:p>
            <a:pPr algn="just"/>
            <a:endParaRPr lang="en-IN" sz="2400" dirty="0">
              <a:solidFill>
                <a:srgbClr val="000000"/>
              </a:solidFill>
              <a:latin typeface="Nunito" pitchFamily="2" charset="77"/>
            </a:endParaRPr>
          </a:p>
        </p:txBody>
      </p:sp>
    </p:spTree>
    <p:extLst>
      <p:ext uri="{BB962C8B-B14F-4D97-AF65-F5344CB8AC3E}">
        <p14:creationId xmlns:p14="http://schemas.microsoft.com/office/powerpoint/2010/main" val="100689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p:txBody>
          <a:bodyPr>
            <a:normAutofit/>
          </a:bodyPr>
          <a:lstStyle/>
          <a:p>
            <a:r>
              <a:rPr lang="en-IN" sz="2400" dirty="0">
                <a:solidFill>
                  <a:srgbClr val="000000"/>
                </a:solidFill>
                <a:latin typeface="Nunito" pitchFamily="2" charset="77"/>
              </a:rPr>
              <a:t>Better metallic media have been invented (twisted-pair and coaxial cables).</a:t>
            </a:r>
          </a:p>
          <a:p>
            <a:r>
              <a:rPr lang="en-IN" sz="2400" dirty="0">
                <a:solidFill>
                  <a:srgbClr val="000000"/>
                </a:solidFill>
                <a:latin typeface="Nunito" pitchFamily="2" charset="77"/>
              </a:rPr>
              <a:t>The use of </a:t>
            </a:r>
            <a:r>
              <a:rPr lang="en-IN" sz="2400" b="1" dirty="0">
                <a:solidFill>
                  <a:srgbClr val="000000"/>
                </a:solidFill>
                <a:latin typeface="Nunito" pitchFamily="2" charset="77"/>
              </a:rPr>
              <a:t>optical </a:t>
            </a:r>
            <a:r>
              <a:rPr lang="en-IN" sz="2400" b="1" dirty="0" err="1">
                <a:solidFill>
                  <a:srgbClr val="000000"/>
                </a:solidFill>
                <a:latin typeface="Nunito" pitchFamily="2" charset="77"/>
              </a:rPr>
              <a:t>fibers</a:t>
            </a:r>
            <a:r>
              <a:rPr lang="en-IN" sz="2400" b="1" dirty="0">
                <a:solidFill>
                  <a:srgbClr val="000000"/>
                </a:solidFill>
                <a:latin typeface="Nunito" pitchFamily="2" charset="77"/>
              </a:rPr>
              <a:t> </a:t>
            </a:r>
            <a:r>
              <a:rPr lang="en-IN" sz="2400" dirty="0">
                <a:solidFill>
                  <a:srgbClr val="000000"/>
                </a:solidFill>
                <a:latin typeface="Nunito" pitchFamily="2" charset="77"/>
              </a:rPr>
              <a:t>has increased the data rate incredibly.</a:t>
            </a:r>
          </a:p>
          <a:p>
            <a:r>
              <a:rPr lang="en-IN" sz="2400" dirty="0">
                <a:solidFill>
                  <a:srgbClr val="000000"/>
                </a:solidFill>
                <a:latin typeface="Nunito" pitchFamily="2" charset="77"/>
              </a:rPr>
              <a:t>Free space (air, vacuum, and water) is used more efficiently</a:t>
            </a:r>
          </a:p>
          <a:p>
            <a:endParaRPr lang="en-IN" sz="2400" dirty="0">
              <a:solidFill>
                <a:srgbClr val="000000"/>
              </a:solidFill>
              <a:latin typeface="Nunito" pitchFamily="2" charset="77"/>
            </a:endParaRPr>
          </a:p>
        </p:txBody>
      </p:sp>
      <p:pic>
        <p:nvPicPr>
          <p:cNvPr id="4" name="Picture 7">
            <a:extLst>
              <a:ext uri="{FF2B5EF4-FFF2-40B4-BE49-F238E27FC236}">
                <a16:creationId xmlns:a16="http://schemas.microsoft.com/office/drawing/2014/main" id="{909523ED-E445-072F-9C0B-EB7527587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809" y="3922353"/>
            <a:ext cx="8986381" cy="257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3371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Introduction	</a:t>
            </a:r>
          </a:p>
        </p:txBody>
      </p:sp>
      <p:graphicFrame>
        <p:nvGraphicFramePr>
          <p:cNvPr id="5" name="Content Placeholder 2">
            <a:extLst>
              <a:ext uri="{FF2B5EF4-FFF2-40B4-BE49-F238E27FC236}">
                <a16:creationId xmlns:a16="http://schemas.microsoft.com/office/drawing/2014/main" id="{C87C5C6A-5D89-BD43-D62E-5526C06588DB}"/>
              </a:ext>
            </a:extLst>
          </p:cNvPr>
          <p:cNvGraphicFramePr>
            <a:graphicFrameLocks noGrp="1"/>
          </p:cNvGraphicFramePr>
          <p:nvPr>
            <p:ph idx="1"/>
            <p:extLst>
              <p:ext uri="{D42A27DB-BD31-4B8C-83A1-F6EECF244321}">
                <p14:modId xmlns:p14="http://schemas.microsoft.com/office/powerpoint/2010/main" val="33781950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2033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E040-27FB-909B-566B-897B02CCA910}"/>
              </a:ext>
            </a:extLst>
          </p:cNvPr>
          <p:cNvSpPr>
            <a:spLocks noGrp="1"/>
          </p:cNvSpPr>
          <p:nvPr>
            <p:ph type="title"/>
          </p:nvPr>
        </p:nvSpPr>
        <p:spPr/>
        <p:txBody>
          <a:bodyPr/>
          <a:lstStyle/>
          <a:p>
            <a:r>
              <a:rPr lang="en-US" altLang="en-US" sz="4400" b="1" dirty="0">
                <a:latin typeface="Times New Roman" panose="02020603050405020304" pitchFamily="18" charset="0"/>
              </a:rPr>
              <a:t>Transmission </a:t>
            </a:r>
            <a:r>
              <a:rPr lang="en-US" altLang="en-US" b="1" dirty="0">
                <a:latin typeface="Times New Roman" panose="02020603050405020304" pitchFamily="18" charset="0"/>
              </a:rPr>
              <a:t>M</a:t>
            </a:r>
            <a:r>
              <a:rPr lang="en-US" altLang="en-US" sz="4400" b="1" dirty="0">
                <a:latin typeface="Times New Roman" panose="02020603050405020304" pitchFamily="18" charset="0"/>
              </a:rPr>
              <a:t>edia Classification</a:t>
            </a:r>
            <a:endParaRPr lang="en-US" b="1" dirty="0"/>
          </a:p>
        </p:txBody>
      </p:sp>
      <p:pic>
        <p:nvPicPr>
          <p:cNvPr id="3074" name="Picture 2" descr="Transmission Media - TAE">
            <a:extLst>
              <a:ext uri="{FF2B5EF4-FFF2-40B4-BE49-F238E27FC236}">
                <a16:creationId xmlns:a16="http://schemas.microsoft.com/office/drawing/2014/main" id="{34024C59-AE48-3ED9-1D4D-B9A6DFEF34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0597" y="1430837"/>
            <a:ext cx="9394521" cy="5243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242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Guided Media</a:t>
            </a:r>
          </a:p>
        </p:txBody>
      </p:sp>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p:txBody>
          <a:bodyPr>
            <a:normAutofit lnSpcReduction="10000"/>
          </a:bodyPr>
          <a:lstStyle/>
          <a:p>
            <a:pPr algn="just"/>
            <a:r>
              <a:rPr lang="en-IN" sz="2400" dirty="0">
                <a:solidFill>
                  <a:srgbClr val="000000"/>
                </a:solidFill>
                <a:latin typeface="Nunito" pitchFamily="2" charset="77"/>
              </a:rPr>
              <a:t>It provides a conduit from one device to another, include twisted-pair cable, coaxial cable, and </a:t>
            </a:r>
            <a:r>
              <a:rPr lang="en-IN" sz="2400" dirty="0" err="1">
                <a:solidFill>
                  <a:srgbClr val="000000"/>
                </a:solidFill>
                <a:latin typeface="Nunito" pitchFamily="2" charset="77"/>
              </a:rPr>
              <a:t>fiber</a:t>
            </a:r>
            <a:r>
              <a:rPr lang="en-IN" sz="2400" dirty="0">
                <a:solidFill>
                  <a:srgbClr val="000000"/>
                </a:solidFill>
                <a:latin typeface="Nunito" pitchFamily="2" charset="77"/>
              </a:rPr>
              <a:t>-optic cable.</a:t>
            </a:r>
          </a:p>
          <a:p>
            <a:pPr algn="just"/>
            <a:r>
              <a:rPr lang="en-IN" sz="2400" b="1" dirty="0">
                <a:solidFill>
                  <a:srgbClr val="000000"/>
                </a:solidFill>
                <a:latin typeface="Nunito" pitchFamily="2" charset="77"/>
              </a:rPr>
              <a:t>Twisted-pair and coaxial cable </a:t>
            </a:r>
            <a:r>
              <a:rPr lang="en-IN" sz="2400" dirty="0">
                <a:solidFill>
                  <a:srgbClr val="000000"/>
                </a:solidFill>
                <a:latin typeface="Nunito" pitchFamily="2" charset="77"/>
              </a:rPr>
              <a:t>use metallic (copper) conductors that accept and transport signals in the form of electric current. </a:t>
            </a:r>
          </a:p>
          <a:p>
            <a:pPr algn="just"/>
            <a:r>
              <a:rPr lang="en-IN" sz="2400" b="1" dirty="0">
                <a:solidFill>
                  <a:srgbClr val="000000"/>
                </a:solidFill>
                <a:latin typeface="Nunito" pitchFamily="2" charset="77"/>
              </a:rPr>
              <a:t>Optical </a:t>
            </a:r>
            <a:r>
              <a:rPr lang="en-IN" sz="2400" b="1" dirty="0" err="1">
                <a:solidFill>
                  <a:srgbClr val="000000"/>
                </a:solidFill>
                <a:latin typeface="Nunito" pitchFamily="2" charset="77"/>
              </a:rPr>
              <a:t>fiber</a:t>
            </a:r>
            <a:r>
              <a:rPr lang="en-IN" sz="2400" b="1" dirty="0">
                <a:solidFill>
                  <a:srgbClr val="000000"/>
                </a:solidFill>
                <a:latin typeface="Nunito" pitchFamily="2" charset="77"/>
              </a:rPr>
              <a:t> </a:t>
            </a:r>
            <a:r>
              <a:rPr lang="en-IN" sz="2400" dirty="0">
                <a:solidFill>
                  <a:srgbClr val="000000"/>
                </a:solidFill>
                <a:latin typeface="Nunito" pitchFamily="2" charset="77"/>
              </a:rPr>
              <a:t>is a cable that accepts and transports signals in the form of light.</a:t>
            </a:r>
          </a:p>
          <a:p>
            <a:r>
              <a:rPr lang="en-IN" sz="2400" dirty="0">
                <a:solidFill>
                  <a:srgbClr val="000000"/>
                </a:solidFill>
                <a:latin typeface="Nunito" pitchFamily="2" charset="77"/>
              </a:rPr>
              <a:t>A signal traveling along any of these media is directed and contained by the physical limits of the medium.</a:t>
            </a:r>
          </a:p>
          <a:p>
            <a:r>
              <a:rPr lang="en-IN" sz="2400" dirty="0">
                <a:solidFill>
                  <a:srgbClr val="000000"/>
                </a:solidFill>
                <a:latin typeface="Nunito" pitchFamily="2" charset="77"/>
              </a:rPr>
              <a:t>One of the most prominent aspects of Guided Media is its fast transmission velocity.</a:t>
            </a:r>
          </a:p>
          <a:p>
            <a:r>
              <a:rPr lang="en-IN" sz="2400" dirty="0">
                <a:solidFill>
                  <a:srgbClr val="000000"/>
                </a:solidFill>
                <a:latin typeface="Nunito" pitchFamily="2" charset="77"/>
              </a:rPr>
              <a:t>Other reason is transmission security within a limited geographical area.</a:t>
            </a:r>
          </a:p>
        </p:txBody>
      </p:sp>
    </p:spTree>
    <p:extLst>
      <p:ext uri="{BB962C8B-B14F-4D97-AF65-F5344CB8AC3E}">
        <p14:creationId xmlns:p14="http://schemas.microsoft.com/office/powerpoint/2010/main" val="565877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87853-8B5C-B6B4-A65B-14E264ADA927}"/>
              </a:ext>
            </a:extLst>
          </p:cNvPr>
          <p:cNvSpPr>
            <a:spLocks noGrp="1"/>
          </p:cNvSpPr>
          <p:nvPr>
            <p:ph type="title"/>
          </p:nvPr>
        </p:nvSpPr>
        <p:spPr/>
        <p:txBody>
          <a:bodyPr/>
          <a:lstStyle/>
          <a:p>
            <a:r>
              <a:rPr lang="en-US" b="1" dirty="0">
                <a:latin typeface="Times New Roman" panose="02020603050405020304" pitchFamily="18" charset="0"/>
              </a:rPr>
              <a:t>Guided Media: Disadvantages</a:t>
            </a:r>
            <a:endParaRPr lang="en-US" dirty="0"/>
          </a:p>
        </p:txBody>
      </p:sp>
      <p:sp>
        <p:nvSpPr>
          <p:cNvPr id="3" name="Content Placeholder 2">
            <a:extLst>
              <a:ext uri="{FF2B5EF4-FFF2-40B4-BE49-F238E27FC236}">
                <a16:creationId xmlns:a16="http://schemas.microsoft.com/office/drawing/2014/main" id="{708CC688-B58A-32E1-1D3B-31F688C940AC}"/>
              </a:ext>
            </a:extLst>
          </p:cNvPr>
          <p:cNvSpPr>
            <a:spLocks noGrp="1"/>
          </p:cNvSpPr>
          <p:nvPr>
            <p:ph idx="1"/>
          </p:nvPr>
        </p:nvSpPr>
        <p:spPr/>
        <p:txBody>
          <a:bodyPr/>
          <a:lstStyle/>
          <a:p>
            <a:r>
              <a:rPr lang="en-IN" sz="2400" dirty="0">
                <a:solidFill>
                  <a:srgbClr val="000000"/>
                </a:solidFill>
                <a:latin typeface="Nunito" pitchFamily="2" charset="77"/>
              </a:rPr>
              <a:t>Bandwidth is very low in guided media.</a:t>
            </a:r>
          </a:p>
          <a:p>
            <a:r>
              <a:rPr lang="en-IN" sz="2400" dirty="0">
                <a:solidFill>
                  <a:srgbClr val="000000"/>
                </a:solidFill>
                <a:latin typeface="Nunito" pitchFamily="2" charset="77"/>
              </a:rPr>
              <a:t>Susceptible to interference and noise- (Noise is an electrical disturbance that can degrade communication).</a:t>
            </a:r>
          </a:p>
          <a:p>
            <a:r>
              <a:rPr lang="en-IN" sz="2400" dirty="0">
                <a:solidFill>
                  <a:srgbClr val="000000"/>
                </a:solidFill>
                <a:latin typeface="Nunito" pitchFamily="2" charset="77"/>
              </a:rPr>
              <a:t>High maintenance and installation costs.</a:t>
            </a:r>
          </a:p>
          <a:p>
            <a:endParaRPr lang="en-US" dirty="0"/>
          </a:p>
        </p:txBody>
      </p:sp>
    </p:spTree>
    <p:extLst>
      <p:ext uri="{BB962C8B-B14F-4D97-AF65-F5344CB8AC3E}">
        <p14:creationId xmlns:p14="http://schemas.microsoft.com/office/powerpoint/2010/main" val="1800717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a:xfrm>
            <a:off x="838201" y="3998018"/>
            <a:ext cx="3981854" cy="2216513"/>
          </a:xfrm>
        </p:spPr>
        <p:txBody>
          <a:bodyPr>
            <a:normAutofit/>
          </a:bodyPr>
          <a:lstStyle/>
          <a:p>
            <a:r>
              <a:rPr lang="en-US" b="1" dirty="0">
                <a:latin typeface="Times New Roman" panose="02020603050405020304" pitchFamily="18" charset="0"/>
              </a:rPr>
              <a:t>Twisted-Pair Cable</a:t>
            </a:r>
          </a:p>
        </p:txBody>
      </p:sp>
      <p:sp>
        <p:nvSpPr>
          <p:cNvPr id="11" name="Arc 10">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Picture 6">
            <a:extLst>
              <a:ext uri="{FF2B5EF4-FFF2-40B4-BE49-F238E27FC236}">
                <a16:creationId xmlns:a16="http://schemas.microsoft.com/office/drawing/2014/main" id="{1FDD71F3-74AB-6163-16E3-FB7367FC643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9914" y="1414297"/>
            <a:ext cx="10872172" cy="1537886"/>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a:xfrm>
            <a:off x="4970835" y="3998019"/>
            <a:ext cx="6382966" cy="2216512"/>
          </a:xfrm>
        </p:spPr>
        <p:txBody>
          <a:bodyPr>
            <a:normAutofit/>
          </a:bodyPr>
          <a:lstStyle/>
          <a:p>
            <a:r>
              <a:rPr lang="en-IN">
                <a:latin typeface="Nunito" pitchFamily="2" charset="77"/>
              </a:rPr>
              <a:t>A twisted pair consists of two conductors (normally copper), each with its own plastic insulation and twisted together.</a:t>
            </a:r>
          </a:p>
          <a:p>
            <a:endParaRPr lang="en-IN">
              <a:latin typeface="Nunito" pitchFamily="2" charset="77"/>
            </a:endParaRPr>
          </a:p>
        </p:txBody>
      </p:sp>
    </p:spTree>
    <p:extLst>
      <p:ext uri="{BB962C8B-B14F-4D97-AF65-F5344CB8AC3E}">
        <p14:creationId xmlns:p14="http://schemas.microsoft.com/office/powerpoint/2010/main" val="3919048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Twisted-Pair Cable</a:t>
            </a:r>
          </a:p>
        </p:txBody>
      </p:sp>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p:txBody>
          <a:bodyPr>
            <a:normAutofit/>
          </a:bodyPr>
          <a:lstStyle/>
          <a:p>
            <a:pPr algn="just"/>
            <a:r>
              <a:rPr lang="en-IN" sz="2400" dirty="0">
                <a:solidFill>
                  <a:srgbClr val="000000"/>
                </a:solidFill>
                <a:latin typeface="Nunito" pitchFamily="2" charset="77"/>
              </a:rPr>
              <a:t>One of the wires is used to </a:t>
            </a:r>
            <a:r>
              <a:rPr lang="en-IN" sz="2400" b="1" dirty="0">
                <a:solidFill>
                  <a:srgbClr val="000000"/>
                </a:solidFill>
                <a:latin typeface="Nunito" pitchFamily="2" charset="77"/>
              </a:rPr>
              <a:t>carry signals </a:t>
            </a:r>
            <a:r>
              <a:rPr lang="en-IN" sz="2400" dirty="0">
                <a:solidFill>
                  <a:srgbClr val="000000"/>
                </a:solidFill>
                <a:latin typeface="Nunito" pitchFamily="2" charset="77"/>
              </a:rPr>
              <a:t>to the receiver, and the other is used only as a </a:t>
            </a:r>
            <a:r>
              <a:rPr lang="en-IN" sz="2400" b="1" dirty="0">
                <a:solidFill>
                  <a:srgbClr val="000000"/>
                </a:solidFill>
                <a:latin typeface="Nunito" pitchFamily="2" charset="77"/>
              </a:rPr>
              <a:t>ground reference</a:t>
            </a:r>
            <a:r>
              <a:rPr lang="en-IN" sz="2400" dirty="0">
                <a:solidFill>
                  <a:srgbClr val="000000"/>
                </a:solidFill>
                <a:latin typeface="Nunito" pitchFamily="2" charset="77"/>
              </a:rPr>
              <a:t>.</a:t>
            </a:r>
          </a:p>
          <a:p>
            <a:pPr algn="just"/>
            <a:r>
              <a:rPr lang="en-IN" sz="2400" dirty="0">
                <a:solidFill>
                  <a:srgbClr val="000000"/>
                </a:solidFill>
                <a:latin typeface="Nunito" pitchFamily="2" charset="77"/>
              </a:rPr>
              <a:t>In addition to the signal sent by the sender on one of the wires, </a:t>
            </a:r>
            <a:r>
              <a:rPr lang="en-IN" sz="2400" b="1" dirty="0">
                <a:solidFill>
                  <a:srgbClr val="000000"/>
                </a:solidFill>
                <a:latin typeface="Nunito" pitchFamily="2" charset="77"/>
              </a:rPr>
              <a:t>interference (noise) and crosstalk </a:t>
            </a:r>
            <a:r>
              <a:rPr lang="en-IN" sz="2400" dirty="0">
                <a:solidFill>
                  <a:srgbClr val="000000"/>
                </a:solidFill>
                <a:latin typeface="Nunito" pitchFamily="2" charset="77"/>
              </a:rPr>
              <a:t>may affect both wires and create unwanted signals.</a:t>
            </a:r>
          </a:p>
          <a:p>
            <a:pPr algn="just"/>
            <a:r>
              <a:rPr lang="en-IN" sz="2400" dirty="0">
                <a:solidFill>
                  <a:srgbClr val="000000"/>
                </a:solidFill>
                <a:latin typeface="Nunito" pitchFamily="2" charset="77"/>
              </a:rPr>
              <a:t>If the two wires are parallel, the effect of these unwanted signals is not the same in both wires because they are at different locations relative to the noise or crosstalk sources (e.g., one is closer and the other is farther).</a:t>
            </a:r>
          </a:p>
          <a:p>
            <a:pPr algn="just"/>
            <a:r>
              <a:rPr lang="en-IN" sz="2400" dirty="0">
                <a:solidFill>
                  <a:srgbClr val="000000"/>
                </a:solidFill>
                <a:latin typeface="Nunito" pitchFamily="2" charset="77"/>
              </a:rPr>
              <a:t>By twisting the pairs, a balance is maintained.</a:t>
            </a:r>
          </a:p>
          <a:p>
            <a:pPr algn="just"/>
            <a:r>
              <a:rPr lang="en-IN" sz="2400" dirty="0">
                <a:solidFill>
                  <a:srgbClr val="000000"/>
                </a:solidFill>
                <a:latin typeface="Nunito" pitchFamily="2" charset="77"/>
              </a:rPr>
              <a:t>Twisted Pair cable can be </a:t>
            </a:r>
            <a:r>
              <a:rPr lang="en-IN" sz="2400" b="1" dirty="0">
                <a:solidFill>
                  <a:srgbClr val="000000"/>
                </a:solidFill>
                <a:latin typeface="Nunito" pitchFamily="2" charset="77"/>
              </a:rPr>
              <a:t>shielded or unshielded</a:t>
            </a:r>
            <a:r>
              <a:rPr lang="en-IN" sz="2400" dirty="0">
                <a:solidFill>
                  <a:srgbClr val="000000"/>
                </a:solidFill>
                <a:latin typeface="Nunito" pitchFamily="2" charset="77"/>
              </a:rPr>
              <a:t>.</a:t>
            </a:r>
          </a:p>
          <a:p>
            <a:pPr algn="just"/>
            <a:endParaRPr lang="en-IN" sz="2400" dirty="0">
              <a:solidFill>
                <a:srgbClr val="000000"/>
              </a:solidFill>
              <a:latin typeface="Nunito" pitchFamily="2" charset="77"/>
            </a:endParaRPr>
          </a:p>
        </p:txBody>
      </p:sp>
    </p:spTree>
    <p:extLst>
      <p:ext uri="{BB962C8B-B14F-4D97-AF65-F5344CB8AC3E}">
        <p14:creationId xmlns:p14="http://schemas.microsoft.com/office/powerpoint/2010/main" val="2956270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1D12-607C-E39B-998A-F662C9408C5A}"/>
              </a:ext>
            </a:extLst>
          </p:cNvPr>
          <p:cNvSpPr>
            <a:spLocks noGrp="1"/>
          </p:cNvSpPr>
          <p:nvPr>
            <p:ph type="title"/>
          </p:nvPr>
        </p:nvSpPr>
        <p:spPr/>
        <p:txBody>
          <a:bodyPr/>
          <a:lstStyle/>
          <a:p>
            <a:r>
              <a:rPr lang="en-US" b="1" dirty="0">
                <a:latin typeface="Times New Roman" panose="02020603050405020304" pitchFamily="18" charset="0"/>
              </a:rPr>
              <a:t>Twisted-Pair Cable</a:t>
            </a:r>
            <a:endParaRPr lang="en-US" dirty="0"/>
          </a:p>
        </p:txBody>
      </p:sp>
      <p:pic>
        <p:nvPicPr>
          <p:cNvPr id="4" name="Picture 7">
            <a:extLst>
              <a:ext uri="{FF2B5EF4-FFF2-40B4-BE49-F238E27FC236}">
                <a16:creationId xmlns:a16="http://schemas.microsoft.com/office/drawing/2014/main" id="{BBE06383-AB5D-463F-DCFF-96D02A84EE9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53653"/>
          <a:stretch/>
        </p:blipFill>
        <p:spPr bwMode="auto">
          <a:xfrm>
            <a:off x="838200" y="1929255"/>
            <a:ext cx="4873668" cy="4144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F07B05B7-3D73-88A9-501C-4437DFE32D82}"/>
              </a:ext>
            </a:extLst>
          </p:cNvPr>
          <p:cNvPicPr>
            <a:picLocks noChangeAspect="1"/>
          </p:cNvPicPr>
          <p:nvPr/>
        </p:nvPicPr>
        <p:blipFill>
          <a:blip r:embed="rId3"/>
          <a:stretch>
            <a:fillRect/>
          </a:stretch>
        </p:blipFill>
        <p:spPr>
          <a:xfrm>
            <a:off x="5711868" y="1690688"/>
            <a:ext cx="6245718" cy="4144078"/>
          </a:xfrm>
          <a:prstGeom prst="rect">
            <a:avLst/>
          </a:prstGeom>
        </p:spPr>
      </p:pic>
    </p:spTree>
    <p:extLst>
      <p:ext uri="{BB962C8B-B14F-4D97-AF65-F5344CB8AC3E}">
        <p14:creationId xmlns:p14="http://schemas.microsoft.com/office/powerpoint/2010/main" val="4088972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22545-9E83-53E3-6EBE-DC2938A507AE}"/>
              </a:ext>
            </a:extLst>
          </p:cNvPr>
          <p:cNvSpPr>
            <a:spLocks noGrp="1"/>
          </p:cNvSpPr>
          <p:nvPr>
            <p:ph type="title"/>
          </p:nvPr>
        </p:nvSpPr>
        <p:spPr>
          <a:xfrm>
            <a:off x="587680" y="214812"/>
            <a:ext cx="10515600" cy="1325563"/>
          </a:xfrm>
        </p:spPr>
        <p:txBody>
          <a:bodyPr/>
          <a:lstStyle/>
          <a:p>
            <a:r>
              <a:rPr lang="en-US" b="1" dirty="0">
                <a:latin typeface="Times New Roman" panose="02020603050405020304" pitchFamily="18" charset="0"/>
              </a:rPr>
              <a:t>Categories of UTP</a:t>
            </a:r>
          </a:p>
        </p:txBody>
      </p:sp>
      <p:pic>
        <p:nvPicPr>
          <p:cNvPr id="4" name="Picture 4">
            <a:extLst>
              <a:ext uri="{FF2B5EF4-FFF2-40B4-BE49-F238E27FC236}">
                <a16:creationId xmlns:a16="http://schemas.microsoft.com/office/drawing/2014/main" id="{09DA7A06-8271-6F04-2556-8C28A3D643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34284" y="1401083"/>
            <a:ext cx="7062022" cy="5342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85911106-2FEB-C95C-C2BE-C2F493496F26}"/>
              </a:ext>
            </a:extLst>
          </p:cNvPr>
          <p:cNvSpPr txBox="1"/>
          <p:nvPr/>
        </p:nvSpPr>
        <p:spPr>
          <a:xfrm>
            <a:off x="838200" y="2811538"/>
            <a:ext cx="3690257" cy="1938992"/>
          </a:xfrm>
          <a:prstGeom prst="rect">
            <a:avLst/>
          </a:prstGeom>
          <a:noFill/>
        </p:spPr>
        <p:txBody>
          <a:bodyPr wrap="square" rtlCol="0">
            <a:spAutoFit/>
          </a:bodyPr>
          <a:lstStyle/>
          <a:p>
            <a:pPr algn="just"/>
            <a:r>
              <a:rPr lang="en-IN" sz="2400" dirty="0">
                <a:solidFill>
                  <a:srgbClr val="000000"/>
                </a:solidFill>
                <a:latin typeface="Nunito" pitchFamily="2" charset="77"/>
              </a:rPr>
              <a:t>The Electronic Industries Association (EIA) has developed standards to classify UTP cable into seven categories.</a:t>
            </a:r>
          </a:p>
        </p:txBody>
      </p:sp>
    </p:spTree>
    <p:extLst>
      <p:ext uri="{BB962C8B-B14F-4D97-AF65-F5344CB8AC3E}">
        <p14:creationId xmlns:p14="http://schemas.microsoft.com/office/powerpoint/2010/main" val="4027423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E28EE-5C09-E8C4-1853-1734ED35AD93}"/>
              </a:ext>
            </a:extLst>
          </p:cNvPr>
          <p:cNvSpPr>
            <a:spLocks noGrp="1"/>
          </p:cNvSpPr>
          <p:nvPr>
            <p:ph type="title"/>
          </p:nvPr>
        </p:nvSpPr>
        <p:spPr/>
        <p:txBody>
          <a:bodyPr/>
          <a:lstStyle/>
          <a:p>
            <a:r>
              <a:rPr lang="en-US" b="1" dirty="0">
                <a:latin typeface="Times New Roman" panose="02020603050405020304" pitchFamily="18" charset="0"/>
              </a:rPr>
              <a:t>UTP Connector: RJ-45</a:t>
            </a:r>
          </a:p>
        </p:txBody>
      </p:sp>
      <p:pic>
        <p:nvPicPr>
          <p:cNvPr id="4" name="Picture 6">
            <a:extLst>
              <a:ext uri="{FF2B5EF4-FFF2-40B4-BE49-F238E27FC236}">
                <a16:creationId xmlns:a16="http://schemas.microsoft.com/office/drawing/2014/main" id="{6D3D3169-6CE7-4C6C-E318-21201F7C37E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8666"/>
          <a:stretch/>
        </p:blipFill>
        <p:spPr bwMode="auto">
          <a:xfrm>
            <a:off x="1685969" y="2196328"/>
            <a:ext cx="9271000" cy="3503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2699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Shielded Twisted-Pair Cable</a:t>
            </a:r>
          </a:p>
        </p:txBody>
      </p:sp>
      <p:sp>
        <p:nvSpPr>
          <p:cNvPr id="3" name="Content Placeholder 2">
            <a:extLst>
              <a:ext uri="{FF2B5EF4-FFF2-40B4-BE49-F238E27FC236}">
                <a16:creationId xmlns:a16="http://schemas.microsoft.com/office/drawing/2014/main" id="{358A7D9B-4F90-A038-88E7-F96648F007D4}"/>
              </a:ext>
            </a:extLst>
          </p:cNvPr>
          <p:cNvSpPr>
            <a:spLocks noGrp="1"/>
          </p:cNvSpPr>
          <p:nvPr>
            <p:ph idx="1"/>
          </p:nvPr>
        </p:nvSpPr>
        <p:spPr>
          <a:xfrm>
            <a:off x="838200" y="1825625"/>
            <a:ext cx="10515600" cy="2909213"/>
          </a:xfrm>
        </p:spPr>
        <p:txBody>
          <a:bodyPr>
            <a:normAutofit/>
          </a:bodyPr>
          <a:lstStyle/>
          <a:p>
            <a:pPr algn="just"/>
            <a:r>
              <a:rPr lang="en-IN" sz="2400" dirty="0">
                <a:solidFill>
                  <a:srgbClr val="000000"/>
                </a:solidFill>
                <a:latin typeface="Nunito" pitchFamily="2" charset="77"/>
              </a:rPr>
              <a:t>Shielded twisted-pair (STP) provides better noise protection than UTP cabling. </a:t>
            </a:r>
          </a:p>
          <a:p>
            <a:pPr algn="just"/>
            <a:r>
              <a:rPr lang="en-IN" sz="2400" dirty="0">
                <a:solidFill>
                  <a:srgbClr val="000000"/>
                </a:solidFill>
                <a:latin typeface="Nunito" pitchFamily="2" charset="77"/>
              </a:rPr>
              <a:t>Compared to UTP cable, STP cable is significantly more expensive and difficult to install. </a:t>
            </a:r>
          </a:p>
          <a:p>
            <a:pPr algn="just"/>
            <a:r>
              <a:rPr lang="en-IN" sz="2400" dirty="0">
                <a:solidFill>
                  <a:srgbClr val="000000"/>
                </a:solidFill>
                <a:latin typeface="Nunito" pitchFamily="2" charset="77"/>
              </a:rPr>
              <a:t>Like UTP cable, STP uses an RJ-45 connector.</a:t>
            </a:r>
          </a:p>
          <a:p>
            <a:pPr algn="l"/>
            <a:r>
              <a:rPr lang="en-IN" sz="2400" dirty="0">
                <a:solidFill>
                  <a:srgbClr val="000000"/>
                </a:solidFill>
                <a:latin typeface="Nunito" pitchFamily="2" charset="77"/>
              </a:rPr>
              <a:t> If the cable is improperly grounded, the shield may act like an antenna and pick up unwanted signals.</a:t>
            </a:r>
          </a:p>
        </p:txBody>
      </p:sp>
    </p:spTree>
    <p:extLst>
      <p:ext uri="{BB962C8B-B14F-4D97-AF65-F5344CB8AC3E}">
        <p14:creationId xmlns:p14="http://schemas.microsoft.com/office/powerpoint/2010/main" val="578523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Types of STP</a:t>
            </a:r>
          </a:p>
        </p:txBody>
      </p:sp>
      <p:pic>
        <p:nvPicPr>
          <p:cNvPr id="5" name="Content Placeholder 4">
            <a:extLst>
              <a:ext uri="{FF2B5EF4-FFF2-40B4-BE49-F238E27FC236}">
                <a16:creationId xmlns:a16="http://schemas.microsoft.com/office/drawing/2014/main" id="{79D5AEAA-3056-A245-A089-7D4C90194F00}"/>
              </a:ext>
            </a:extLst>
          </p:cNvPr>
          <p:cNvPicPr>
            <a:picLocks noGrp="1" noChangeAspect="1"/>
          </p:cNvPicPr>
          <p:nvPr>
            <p:ph idx="1"/>
          </p:nvPr>
        </p:nvPicPr>
        <p:blipFill>
          <a:blip r:embed="rId2"/>
          <a:stretch>
            <a:fillRect/>
          </a:stretch>
        </p:blipFill>
        <p:spPr>
          <a:xfrm>
            <a:off x="425886" y="1825625"/>
            <a:ext cx="5687216" cy="3773509"/>
          </a:xfrm>
          <a:prstGeom prst="rect">
            <a:avLst/>
          </a:prstGeom>
        </p:spPr>
      </p:pic>
      <p:pic>
        <p:nvPicPr>
          <p:cNvPr id="6" name="Picture 7">
            <a:extLst>
              <a:ext uri="{FF2B5EF4-FFF2-40B4-BE49-F238E27FC236}">
                <a16:creationId xmlns:a16="http://schemas.microsoft.com/office/drawing/2014/main" id="{8D7D01A5-97BD-DF00-F065-15D9E8E291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110" b="5570"/>
          <a:stretch/>
        </p:blipFill>
        <p:spPr bwMode="auto">
          <a:xfrm>
            <a:off x="6942584" y="2263275"/>
            <a:ext cx="4411216" cy="3185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951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Coaxial Cable</a:t>
            </a:r>
          </a:p>
        </p:txBody>
      </p:sp>
      <p:sp>
        <p:nvSpPr>
          <p:cNvPr id="5" name="Content Placeholder 4">
            <a:extLst>
              <a:ext uri="{FF2B5EF4-FFF2-40B4-BE49-F238E27FC236}">
                <a16:creationId xmlns:a16="http://schemas.microsoft.com/office/drawing/2014/main" id="{1640B517-CFF4-42EB-BA52-3FB548A06340}"/>
              </a:ext>
            </a:extLst>
          </p:cNvPr>
          <p:cNvSpPr>
            <a:spLocks noGrp="1"/>
          </p:cNvSpPr>
          <p:nvPr>
            <p:ph idx="1"/>
          </p:nvPr>
        </p:nvSpPr>
        <p:spPr>
          <a:xfrm>
            <a:off x="838200" y="1825625"/>
            <a:ext cx="10515600" cy="4667250"/>
          </a:xfrm>
        </p:spPr>
        <p:txBody>
          <a:bodyPr>
            <a:normAutofit/>
          </a:bodyPr>
          <a:lstStyle/>
          <a:p>
            <a:pPr algn="just"/>
            <a:r>
              <a:rPr lang="en-IN" sz="2400" dirty="0">
                <a:solidFill>
                  <a:srgbClr val="000000"/>
                </a:solidFill>
                <a:latin typeface="Nunito" pitchFamily="2" charset="77"/>
              </a:rPr>
              <a:t>Coaxial cable (or coax) carries signals of higher frequency ranges than those in twisted-pair cable.</a:t>
            </a:r>
          </a:p>
          <a:p>
            <a:pPr algn="just"/>
            <a:r>
              <a:rPr lang="en-IN" sz="2400" dirty="0">
                <a:solidFill>
                  <a:srgbClr val="000000"/>
                </a:solidFill>
                <a:latin typeface="Nunito" pitchFamily="2" charset="77"/>
              </a:rPr>
              <a:t>Instead of having two wires, coax has a central core conductor of solid wire (usually copper) enclosed in an insulating sheath, which is, in turn, encased in an outer conductor of metal foil.</a:t>
            </a:r>
          </a:p>
          <a:p>
            <a:pPr algn="just"/>
            <a:r>
              <a:rPr lang="en-IN" sz="2400" dirty="0">
                <a:solidFill>
                  <a:srgbClr val="000000"/>
                </a:solidFill>
                <a:latin typeface="Nunito" pitchFamily="2" charset="77"/>
              </a:rPr>
              <a:t>This outer conductor is also enclosed in an insulating sheath, and the whole cable is protected by a plastic cover.</a:t>
            </a:r>
          </a:p>
          <a:p>
            <a:pPr algn="just"/>
            <a:r>
              <a:rPr lang="en-IN" sz="2400" dirty="0">
                <a:solidFill>
                  <a:srgbClr val="000000"/>
                </a:solidFill>
                <a:latin typeface="Nunito" pitchFamily="2" charset="77"/>
              </a:rPr>
              <a:t>Coaxial cables are categorized by their </a:t>
            </a:r>
            <a:r>
              <a:rPr lang="en-IN" sz="2400" b="1" dirty="0">
                <a:solidFill>
                  <a:srgbClr val="000000"/>
                </a:solidFill>
                <a:latin typeface="Nunito" pitchFamily="2" charset="77"/>
              </a:rPr>
              <a:t>Radio Government (RG) </a:t>
            </a:r>
            <a:r>
              <a:rPr lang="en-IN" sz="2400" dirty="0">
                <a:solidFill>
                  <a:srgbClr val="000000"/>
                </a:solidFill>
                <a:latin typeface="Nunito" pitchFamily="2" charset="77"/>
              </a:rPr>
              <a:t>ratings.</a:t>
            </a:r>
          </a:p>
          <a:p>
            <a:r>
              <a:rPr lang="en-IN" sz="2400" dirty="0">
                <a:solidFill>
                  <a:srgbClr val="000000"/>
                </a:solidFill>
                <a:latin typeface="Nunito" pitchFamily="2" charset="77"/>
              </a:rPr>
              <a:t>Each RG number denotes a unique set of physical specifications, including the wire gauge of the inner conductor, the thickness and type of the inner insulator, the construction of the shield, and the size and type of the outer casing.</a:t>
            </a:r>
          </a:p>
          <a:p>
            <a:pPr algn="just"/>
            <a:endParaRPr lang="en-IN" sz="2400" dirty="0">
              <a:solidFill>
                <a:srgbClr val="000000"/>
              </a:solidFill>
              <a:latin typeface="Nunito" pitchFamily="2" charset="77"/>
            </a:endParaRPr>
          </a:p>
        </p:txBody>
      </p:sp>
    </p:spTree>
    <p:extLst>
      <p:ext uri="{BB962C8B-B14F-4D97-AF65-F5344CB8AC3E}">
        <p14:creationId xmlns:p14="http://schemas.microsoft.com/office/powerpoint/2010/main" val="2325979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63A915-F688-028C-8068-7CA70A45A27D}"/>
              </a:ext>
            </a:extLst>
          </p:cNvPr>
          <p:cNvSpPr>
            <a:spLocks noGrp="1" noChangeArrowheads="1"/>
          </p:cNvSpPr>
          <p:nvPr>
            <p:ph type="title"/>
          </p:nvPr>
        </p:nvSpPr>
        <p:spPr>
          <a:xfrm>
            <a:off x="838200" y="365125"/>
            <a:ext cx="10657114" cy="1325563"/>
          </a:xfrm>
        </p:spPr>
        <p:txBody>
          <a:bodyPr>
            <a:normAutofit/>
          </a:bodyPr>
          <a:lstStyle/>
          <a:p>
            <a:r>
              <a:rPr lang="en-US" altLang="en-US" b="1" dirty="0">
                <a:latin typeface="Times New Roman" panose="02020603050405020304" pitchFamily="18" charset="0"/>
              </a:rPr>
              <a:t>Twisted Pair - Transmission Characteristics</a:t>
            </a:r>
          </a:p>
        </p:txBody>
      </p:sp>
      <p:sp>
        <p:nvSpPr>
          <p:cNvPr id="11267" name="Rectangle 3">
            <a:extLst>
              <a:ext uri="{FF2B5EF4-FFF2-40B4-BE49-F238E27FC236}">
                <a16:creationId xmlns:a16="http://schemas.microsoft.com/office/drawing/2014/main" id="{1DBEEA87-D8C6-2A6E-136F-819BE0D5A2D4}"/>
              </a:ext>
            </a:extLst>
          </p:cNvPr>
          <p:cNvSpPr>
            <a:spLocks noGrp="1" noChangeArrowheads="1"/>
          </p:cNvSpPr>
          <p:nvPr>
            <p:ph type="body" idx="1"/>
          </p:nvPr>
        </p:nvSpPr>
        <p:spPr/>
        <p:txBody>
          <a:bodyPr/>
          <a:lstStyle/>
          <a:p>
            <a:r>
              <a:rPr lang="en-US" altLang="en-US"/>
              <a:t>Analog </a:t>
            </a:r>
          </a:p>
          <a:p>
            <a:pPr lvl="1"/>
            <a:r>
              <a:rPr lang="en-US" altLang="en-US"/>
              <a:t>Amplifiers every 5km to 6km</a:t>
            </a:r>
          </a:p>
          <a:p>
            <a:r>
              <a:rPr lang="en-US" altLang="en-US"/>
              <a:t>Digital</a:t>
            </a:r>
          </a:p>
          <a:p>
            <a:pPr lvl="1"/>
            <a:r>
              <a:rPr lang="en-US" altLang="en-US"/>
              <a:t>Use either analog or digital signals</a:t>
            </a:r>
          </a:p>
          <a:p>
            <a:pPr lvl="1"/>
            <a:r>
              <a:rPr lang="en-US" altLang="en-US"/>
              <a:t>repeater every 2km or 3km</a:t>
            </a:r>
          </a:p>
          <a:p>
            <a:r>
              <a:rPr lang="en-US" altLang="en-US"/>
              <a:t>Limited distance</a:t>
            </a:r>
          </a:p>
          <a:p>
            <a:r>
              <a:rPr lang="en-US" altLang="en-US"/>
              <a:t>Limited bandwidth (1MHz)</a:t>
            </a:r>
          </a:p>
          <a:p>
            <a:r>
              <a:rPr lang="en-US" altLang="en-US"/>
              <a:t>Limited data rate (100MHz)</a:t>
            </a:r>
          </a:p>
          <a:p>
            <a:r>
              <a:rPr lang="en-US" altLang="en-US"/>
              <a:t>Susceptible to interference and noise</a:t>
            </a:r>
          </a:p>
          <a:p>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a:latin typeface="Times New Roman" panose="02020603050405020304" pitchFamily="18" charset="0"/>
              </a:rPr>
              <a:t>Coaxial Cable</a:t>
            </a:r>
            <a:endParaRPr lang="en-US" b="1" dirty="0">
              <a:latin typeface="Times New Roman" panose="02020603050405020304" pitchFamily="18" charset="0"/>
            </a:endParaRPr>
          </a:p>
        </p:txBody>
      </p:sp>
      <p:pic>
        <p:nvPicPr>
          <p:cNvPr id="4" name="Picture 6">
            <a:extLst>
              <a:ext uri="{FF2B5EF4-FFF2-40B4-BE49-F238E27FC236}">
                <a16:creationId xmlns:a16="http://schemas.microsoft.com/office/drawing/2014/main" id="{A1BB52F4-7A26-B491-A49E-6E9834E082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9747" y="2564661"/>
            <a:ext cx="6772505" cy="290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9182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Coax Standards and Connectors</a:t>
            </a:r>
          </a:p>
        </p:txBody>
      </p:sp>
      <p:pic>
        <p:nvPicPr>
          <p:cNvPr id="5" name="Content Placeholder 4">
            <a:extLst>
              <a:ext uri="{FF2B5EF4-FFF2-40B4-BE49-F238E27FC236}">
                <a16:creationId xmlns:a16="http://schemas.microsoft.com/office/drawing/2014/main" id="{8F8EC392-FD8B-43C0-84D7-C475008084A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2523" y="1690688"/>
            <a:ext cx="59055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a:extLst>
              <a:ext uri="{FF2B5EF4-FFF2-40B4-BE49-F238E27FC236}">
                <a16:creationId xmlns:a16="http://schemas.microsoft.com/office/drawing/2014/main" id="{5735B27B-719F-F493-2337-DE4B19031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036220"/>
            <a:ext cx="7924800" cy="199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4F86792D-2EC3-9EA4-4B84-1485E5BA9F64}"/>
              </a:ext>
            </a:extLst>
          </p:cNvPr>
          <p:cNvSpPr txBox="1"/>
          <p:nvPr/>
        </p:nvSpPr>
        <p:spPr>
          <a:xfrm>
            <a:off x="2597849" y="6308209"/>
            <a:ext cx="6100174" cy="369332"/>
          </a:xfrm>
          <a:prstGeom prst="rect">
            <a:avLst/>
          </a:prstGeom>
          <a:noFill/>
        </p:spPr>
        <p:txBody>
          <a:bodyPr wrap="square">
            <a:spAutoFit/>
          </a:bodyPr>
          <a:lstStyle/>
          <a:p>
            <a:pPr algn="ctr"/>
            <a:r>
              <a:rPr lang="en-IN" dirty="0">
                <a:effectLst/>
                <a:latin typeface="Times"/>
              </a:rPr>
              <a:t>Bayonet Neill-</a:t>
            </a:r>
            <a:r>
              <a:rPr lang="en-IN" dirty="0" err="1">
                <a:effectLst/>
                <a:latin typeface="Times"/>
              </a:rPr>
              <a:t>Concelman</a:t>
            </a:r>
            <a:r>
              <a:rPr lang="en-IN" dirty="0">
                <a:effectLst/>
                <a:latin typeface="Times"/>
              </a:rPr>
              <a:t> (BNC)</a:t>
            </a:r>
          </a:p>
        </p:txBody>
      </p:sp>
    </p:spTree>
    <p:extLst>
      <p:ext uri="{BB962C8B-B14F-4D97-AF65-F5344CB8AC3E}">
        <p14:creationId xmlns:p14="http://schemas.microsoft.com/office/powerpoint/2010/main" val="1827516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0D3F2A2-F3D5-5C19-85F0-1073FD6EFB49}"/>
              </a:ext>
            </a:extLst>
          </p:cNvPr>
          <p:cNvSpPr>
            <a:spLocks noGrp="1" noChangeArrowheads="1"/>
          </p:cNvSpPr>
          <p:nvPr>
            <p:ph type="title"/>
          </p:nvPr>
        </p:nvSpPr>
        <p:spPr/>
        <p:txBody>
          <a:bodyPr>
            <a:normAutofit/>
          </a:bodyPr>
          <a:lstStyle/>
          <a:p>
            <a:r>
              <a:rPr lang="en-US" altLang="en-US" b="1" dirty="0">
                <a:latin typeface="Times New Roman" panose="02020603050405020304" pitchFamily="18" charset="0"/>
              </a:rPr>
              <a:t>Coax Cable - Transmission Characteristics</a:t>
            </a:r>
          </a:p>
        </p:txBody>
      </p:sp>
      <p:sp>
        <p:nvSpPr>
          <p:cNvPr id="17411" name="Rectangle 3">
            <a:extLst>
              <a:ext uri="{FF2B5EF4-FFF2-40B4-BE49-F238E27FC236}">
                <a16:creationId xmlns:a16="http://schemas.microsoft.com/office/drawing/2014/main" id="{8B86ED94-A120-71FF-2D51-1AE49CE88CD4}"/>
              </a:ext>
            </a:extLst>
          </p:cNvPr>
          <p:cNvSpPr>
            <a:spLocks noGrp="1" noChangeArrowheads="1"/>
          </p:cNvSpPr>
          <p:nvPr>
            <p:ph type="body" idx="1"/>
          </p:nvPr>
        </p:nvSpPr>
        <p:spPr/>
        <p:txBody>
          <a:bodyPr/>
          <a:lstStyle/>
          <a:p>
            <a:r>
              <a:rPr lang="en-US" altLang="en-US" dirty="0"/>
              <a:t>Analog</a:t>
            </a:r>
          </a:p>
          <a:p>
            <a:pPr lvl="1"/>
            <a:r>
              <a:rPr lang="en-US" altLang="en-US" dirty="0"/>
              <a:t>Amplifiers every few km</a:t>
            </a:r>
          </a:p>
          <a:p>
            <a:pPr lvl="1"/>
            <a:r>
              <a:rPr lang="en-US" altLang="en-US" dirty="0"/>
              <a:t>Closer if higher frequency</a:t>
            </a:r>
          </a:p>
          <a:p>
            <a:pPr lvl="1"/>
            <a:r>
              <a:rPr lang="en-US" altLang="en-US" dirty="0"/>
              <a:t>Up to 500MHz</a:t>
            </a:r>
          </a:p>
          <a:p>
            <a:r>
              <a:rPr lang="en-US" altLang="en-US" dirty="0"/>
              <a:t>Digital</a:t>
            </a:r>
          </a:p>
          <a:p>
            <a:pPr lvl="1"/>
            <a:r>
              <a:rPr lang="en-US" altLang="en-US" dirty="0"/>
              <a:t>Repeater every 1km</a:t>
            </a:r>
          </a:p>
          <a:p>
            <a:pPr lvl="1"/>
            <a:r>
              <a:rPr lang="en-US" altLang="en-US" dirty="0"/>
              <a:t>Closer for higher data rates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Fiber Optic Cable</a:t>
            </a:r>
          </a:p>
        </p:txBody>
      </p:sp>
      <p:sp>
        <p:nvSpPr>
          <p:cNvPr id="5" name="Content Placeholder 4">
            <a:extLst>
              <a:ext uri="{FF2B5EF4-FFF2-40B4-BE49-F238E27FC236}">
                <a16:creationId xmlns:a16="http://schemas.microsoft.com/office/drawing/2014/main" id="{1640B517-CFF4-42EB-BA52-3FB548A06340}"/>
              </a:ext>
            </a:extLst>
          </p:cNvPr>
          <p:cNvSpPr>
            <a:spLocks noGrp="1"/>
          </p:cNvSpPr>
          <p:nvPr>
            <p:ph idx="1"/>
          </p:nvPr>
        </p:nvSpPr>
        <p:spPr>
          <a:xfrm>
            <a:off x="838200" y="1825625"/>
            <a:ext cx="10515600" cy="4667250"/>
          </a:xfrm>
        </p:spPr>
        <p:txBody>
          <a:bodyPr>
            <a:normAutofit/>
          </a:bodyPr>
          <a:lstStyle/>
          <a:p>
            <a:pPr algn="just"/>
            <a:r>
              <a:rPr lang="en-IN" sz="2400" dirty="0">
                <a:solidFill>
                  <a:srgbClr val="000000"/>
                </a:solidFill>
                <a:latin typeface="Nunito" pitchFamily="2" charset="77"/>
              </a:rPr>
              <a:t>A </a:t>
            </a:r>
            <a:r>
              <a:rPr lang="en-IN" sz="2400" dirty="0" err="1">
                <a:solidFill>
                  <a:srgbClr val="000000"/>
                </a:solidFill>
                <a:latin typeface="Nunito" pitchFamily="2" charset="77"/>
              </a:rPr>
              <a:t>fiber</a:t>
            </a:r>
            <a:r>
              <a:rPr lang="en-IN" sz="2400" dirty="0">
                <a:solidFill>
                  <a:srgbClr val="000000"/>
                </a:solidFill>
                <a:latin typeface="Nunito" pitchFamily="2" charset="77"/>
              </a:rPr>
              <a:t>-optic cable is made of glass or plastic and transmits signals in the form of light.</a:t>
            </a:r>
          </a:p>
          <a:p>
            <a:pPr algn="just"/>
            <a:r>
              <a:rPr lang="en-IN" sz="2400" dirty="0">
                <a:solidFill>
                  <a:srgbClr val="000000"/>
                </a:solidFill>
                <a:latin typeface="Nunito" pitchFamily="2" charset="77"/>
              </a:rPr>
              <a:t>Light travels in a straight line as long as it is moving through a single uniform substance.</a:t>
            </a:r>
          </a:p>
          <a:p>
            <a:pPr algn="just"/>
            <a:r>
              <a:rPr lang="en-IN" sz="2400" dirty="0">
                <a:solidFill>
                  <a:srgbClr val="000000"/>
                </a:solidFill>
                <a:latin typeface="Nunito" pitchFamily="2" charset="77"/>
              </a:rPr>
              <a:t>If a ray of light traveling through one substance suddenly enters another substance (of a different density), the ray changes direction.</a:t>
            </a:r>
          </a:p>
          <a:p>
            <a:pPr algn="just"/>
            <a:endParaRPr lang="en-IN" sz="2400" dirty="0">
              <a:solidFill>
                <a:srgbClr val="000000"/>
              </a:solidFill>
              <a:latin typeface="Nunito" pitchFamily="2" charset="77"/>
            </a:endParaRPr>
          </a:p>
        </p:txBody>
      </p:sp>
      <p:pic>
        <p:nvPicPr>
          <p:cNvPr id="3" name="Picture 6">
            <a:extLst>
              <a:ext uri="{FF2B5EF4-FFF2-40B4-BE49-F238E27FC236}">
                <a16:creationId xmlns:a16="http://schemas.microsoft.com/office/drawing/2014/main" id="{AF20C14C-089C-07D9-647A-0DF1212638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575" y="4352924"/>
            <a:ext cx="8070850" cy="227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0342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Fiber Optic Cable</a:t>
            </a:r>
          </a:p>
        </p:txBody>
      </p:sp>
      <p:sp>
        <p:nvSpPr>
          <p:cNvPr id="5" name="Content Placeholder 4">
            <a:extLst>
              <a:ext uri="{FF2B5EF4-FFF2-40B4-BE49-F238E27FC236}">
                <a16:creationId xmlns:a16="http://schemas.microsoft.com/office/drawing/2014/main" id="{1640B517-CFF4-42EB-BA52-3FB548A06340}"/>
              </a:ext>
            </a:extLst>
          </p:cNvPr>
          <p:cNvSpPr>
            <a:spLocks noGrp="1"/>
          </p:cNvSpPr>
          <p:nvPr>
            <p:ph idx="1"/>
          </p:nvPr>
        </p:nvSpPr>
        <p:spPr>
          <a:xfrm>
            <a:off x="838200" y="1825625"/>
            <a:ext cx="10515600" cy="4667250"/>
          </a:xfrm>
        </p:spPr>
        <p:txBody>
          <a:bodyPr>
            <a:normAutofit/>
          </a:bodyPr>
          <a:lstStyle/>
          <a:p>
            <a:pPr algn="just"/>
            <a:r>
              <a:rPr lang="en-IN" sz="2400" dirty="0">
                <a:solidFill>
                  <a:srgbClr val="000000"/>
                </a:solidFill>
                <a:latin typeface="Nunito" pitchFamily="2" charset="77"/>
              </a:rPr>
              <a:t>Optical </a:t>
            </a:r>
            <a:r>
              <a:rPr lang="en-IN" sz="2400" dirty="0" err="1">
                <a:solidFill>
                  <a:srgbClr val="000000"/>
                </a:solidFill>
                <a:latin typeface="Nunito" pitchFamily="2" charset="77"/>
              </a:rPr>
              <a:t>fibers</a:t>
            </a:r>
            <a:r>
              <a:rPr lang="en-IN" sz="2400" dirty="0">
                <a:solidFill>
                  <a:srgbClr val="000000"/>
                </a:solidFill>
                <a:latin typeface="Nunito" pitchFamily="2" charset="77"/>
              </a:rPr>
              <a:t> use reflection to guide light through a channel. A glass or plastic core is surrounded by a </a:t>
            </a:r>
            <a:r>
              <a:rPr lang="en-IN" sz="2400" b="1" dirty="0">
                <a:solidFill>
                  <a:srgbClr val="000000"/>
                </a:solidFill>
                <a:latin typeface="Nunito" pitchFamily="2" charset="77"/>
              </a:rPr>
              <a:t>cladding</a:t>
            </a:r>
            <a:r>
              <a:rPr lang="en-IN" sz="2400" dirty="0">
                <a:solidFill>
                  <a:srgbClr val="000000"/>
                </a:solidFill>
                <a:latin typeface="Nunito" pitchFamily="2" charset="77"/>
              </a:rPr>
              <a:t> of less dense glass or plastic.</a:t>
            </a:r>
          </a:p>
          <a:p>
            <a:pPr algn="just"/>
            <a:r>
              <a:rPr lang="en-IN" sz="2400" dirty="0">
                <a:solidFill>
                  <a:srgbClr val="000000"/>
                </a:solidFill>
                <a:latin typeface="Nunito" pitchFamily="2" charset="77"/>
              </a:rPr>
              <a:t>The difference in density of the two materials must be such that a beam of light moving through the core is reflected off the cladding instead of being refracted into it.</a:t>
            </a:r>
          </a:p>
          <a:p>
            <a:pPr algn="just"/>
            <a:endParaRPr lang="en-IN" sz="2400" dirty="0">
              <a:solidFill>
                <a:srgbClr val="000000"/>
              </a:solidFill>
              <a:latin typeface="Nunito" pitchFamily="2" charset="77"/>
            </a:endParaRPr>
          </a:p>
        </p:txBody>
      </p:sp>
      <p:pic>
        <p:nvPicPr>
          <p:cNvPr id="4" name="Picture 6">
            <a:extLst>
              <a:ext uri="{FF2B5EF4-FFF2-40B4-BE49-F238E27FC236}">
                <a16:creationId xmlns:a16="http://schemas.microsoft.com/office/drawing/2014/main" id="{CCE92ECA-532C-DA0B-52AA-ADBFFE592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1512" y="4385967"/>
            <a:ext cx="8308975"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025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p:txBody>
          <a:bodyPr/>
          <a:lstStyle/>
          <a:p>
            <a:r>
              <a:rPr lang="en-US" b="1" dirty="0">
                <a:latin typeface="Times New Roman" panose="02020603050405020304" pitchFamily="18" charset="0"/>
              </a:rPr>
              <a:t>Propagation Modes: FO Cable</a:t>
            </a:r>
          </a:p>
        </p:txBody>
      </p:sp>
      <p:sp>
        <p:nvSpPr>
          <p:cNvPr id="5" name="Content Placeholder 4">
            <a:extLst>
              <a:ext uri="{FF2B5EF4-FFF2-40B4-BE49-F238E27FC236}">
                <a16:creationId xmlns:a16="http://schemas.microsoft.com/office/drawing/2014/main" id="{1640B517-CFF4-42EB-BA52-3FB548A06340}"/>
              </a:ext>
            </a:extLst>
          </p:cNvPr>
          <p:cNvSpPr>
            <a:spLocks noGrp="1"/>
          </p:cNvSpPr>
          <p:nvPr>
            <p:ph idx="1"/>
          </p:nvPr>
        </p:nvSpPr>
        <p:spPr>
          <a:xfrm>
            <a:off x="838200" y="1825625"/>
            <a:ext cx="10515600" cy="4667250"/>
          </a:xfrm>
        </p:spPr>
        <p:txBody>
          <a:bodyPr>
            <a:normAutofit/>
          </a:bodyPr>
          <a:lstStyle/>
          <a:p>
            <a:r>
              <a:rPr lang="en-IN" sz="2400" dirty="0">
                <a:solidFill>
                  <a:srgbClr val="000000"/>
                </a:solidFill>
                <a:latin typeface="Nunito" pitchFamily="2" charset="77"/>
              </a:rPr>
              <a:t>Current technology supports two modes (multimode and single mode) for propagating light along optical channels, each requiring </a:t>
            </a:r>
            <a:r>
              <a:rPr lang="en-IN" sz="2400" dirty="0" err="1">
                <a:solidFill>
                  <a:srgbClr val="000000"/>
                </a:solidFill>
                <a:latin typeface="Nunito" pitchFamily="2" charset="77"/>
              </a:rPr>
              <a:t>fiber</a:t>
            </a:r>
            <a:r>
              <a:rPr lang="en-IN" sz="2400" dirty="0">
                <a:solidFill>
                  <a:srgbClr val="000000"/>
                </a:solidFill>
                <a:latin typeface="Nunito" pitchFamily="2" charset="77"/>
              </a:rPr>
              <a:t> with different physical characteristics.</a:t>
            </a:r>
          </a:p>
        </p:txBody>
      </p:sp>
      <p:pic>
        <p:nvPicPr>
          <p:cNvPr id="3" name="Picture 6">
            <a:extLst>
              <a:ext uri="{FF2B5EF4-FFF2-40B4-BE49-F238E27FC236}">
                <a16:creationId xmlns:a16="http://schemas.microsoft.com/office/drawing/2014/main" id="{71134FC7-168B-12C6-101E-7A10FFEE8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0014" y="3140075"/>
            <a:ext cx="76327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8421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a:xfrm>
            <a:off x="838200" y="158297"/>
            <a:ext cx="10515600" cy="1325563"/>
          </a:xfrm>
        </p:spPr>
        <p:txBody>
          <a:bodyPr/>
          <a:lstStyle/>
          <a:p>
            <a:r>
              <a:rPr lang="en-US" b="1" dirty="0">
                <a:latin typeface="Times New Roman" panose="02020603050405020304" pitchFamily="18" charset="0"/>
              </a:rPr>
              <a:t>Propagation Modes: FO Cable</a:t>
            </a:r>
          </a:p>
        </p:txBody>
      </p:sp>
      <p:pic>
        <p:nvPicPr>
          <p:cNvPr id="4" name="Picture 6">
            <a:extLst>
              <a:ext uri="{FF2B5EF4-FFF2-40B4-BE49-F238E27FC236}">
                <a16:creationId xmlns:a16="http://schemas.microsoft.com/office/drawing/2014/main" id="{0B7F74FA-F97B-8861-8D58-CED7270109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50895" y="1690688"/>
            <a:ext cx="5671809"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17DBB22E-1CEA-9FDE-F2DB-AD67386B6EA8}"/>
              </a:ext>
            </a:extLst>
          </p:cNvPr>
          <p:cNvSpPr txBox="1"/>
          <p:nvPr/>
        </p:nvSpPr>
        <p:spPr>
          <a:xfrm>
            <a:off x="669296" y="1483860"/>
            <a:ext cx="4942115" cy="5262979"/>
          </a:xfrm>
          <a:prstGeom prst="rect">
            <a:avLst/>
          </a:prstGeom>
          <a:noFill/>
        </p:spPr>
        <p:txBody>
          <a:bodyPr wrap="square" rtlCol="0">
            <a:spAutoFit/>
          </a:bodyPr>
          <a:lstStyle/>
          <a:p>
            <a:pPr algn="just"/>
            <a:r>
              <a:rPr lang="en-IN" sz="2400" dirty="0">
                <a:solidFill>
                  <a:srgbClr val="000000"/>
                </a:solidFill>
                <a:latin typeface="Nunito" pitchFamily="2" charset="77"/>
              </a:rPr>
              <a:t>In </a:t>
            </a:r>
            <a:r>
              <a:rPr lang="en-IN" sz="2400" b="1" dirty="0">
                <a:solidFill>
                  <a:srgbClr val="000000"/>
                </a:solidFill>
                <a:latin typeface="Nunito" pitchFamily="2" charset="77"/>
              </a:rPr>
              <a:t>multimode step-index </a:t>
            </a:r>
            <a:r>
              <a:rPr lang="en-IN" sz="2400" dirty="0" err="1">
                <a:solidFill>
                  <a:srgbClr val="000000"/>
                </a:solidFill>
                <a:latin typeface="Nunito" pitchFamily="2" charset="77"/>
              </a:rPr>
              <a:t>fiber</a:t>
            </a:r>
            <a:r>
              <a:rPr lang="en-IN" sz="2400" dirty="0">
                <a:solidFill>
                  <a:srgbClr val="000000"/>
                </a:solidFill>
                <a:latin typeface="Nunito" pitchFamily="2" charset="77"/>
              </a:rPr>
              <a:t>, the density of the core remains constant from the </a:t>
            </a:r>
            <a:r>
              <a:rPr lang="en-IN" sz="2400" dirty="0" err="1">
                <a:solidFill>
                  <a:srgbClr val="000000"/>
                </a:solidFill>
                <a:latin typeface="Nunito" pitchFamily="2" charset="77"/>
              </a:rPr>
              <a:t>center</a:t>
            </a:r>
            <a:r>
              <a:rPr lang="en-IN" sz="2400" dirty="0">
                <a:solidFill>
                  <a:srgbClr val="000000"/>
                </a:solidFill>
                <a:latin typeface="Nunito" pitchFamily="2" charset="77"/>
              </a:rPr>
              <a:t> to the edges.</a:t>
            </a:r>
          </a:p>
          <a:p>
            <a:pPr algn="just"/>
            <a:endParaRPr lang="en-IN" sz="2400" dirty="0">
              <a:solidFill>
                <a:srgbClr val="000000"/>
              </a:solidFill>
              <a:latin typeface="Nunito" pitchFamily="2" charset="77"/>
            </a:endParaRPr>
          </a:p>
          <a:p>
            <a:pPr algn="just"/>
            <a:r>
              <a:rPr lang="en-IN" sz="2400" dirty="0">
                <a:solidFill>
                  <a:srgbClr val="000000"/>
                </a:solidFill>
                <a:latin typeface="Nunito" pitchFamily="2" charset="77"/>
              </a:rPr>
              <a:t>A beam of light moves through this constant density in a straight line until it reaches the interface of the </a:t>
            </a:r>
            <a:r>
              <a:rPr lang="en-IN" sz="2400" b="1" dirty="0">
                <a:solidFill>
                  <a:srgbClr val="000000"/>
                </a:solidFill>
                <a:latin typeface="Nunito" pitchFamily="2" charset="77"/>
              </a:rPr>
              <a:t>core and the cladding</a:t>
            </a:r>
            <a:r>
              <a:rPr lang="en-IN" sz="2400" dirty="0">
                <a:solidFill>
                  <a:srgbClr val="000000"/>
                </a:solidFill>
                <a:latin typeface="Nunito" pitchFamily="2" charset="77"/>
              </a:rPr>
              <a:t>.</a:t>
            </a:r>
          </a:p>
          <a:p>
            <a:pPr algn="just"/>
            <a:endParaRPr lang="en-IN" sz="2400" dirty="0">
              <a:solidFill>
                <a:srgbClr val="000000"/>
              </a:solidFill>
              <a:latin typeface="Nunito" pitchFamily="2" charset="77"/>
            </a:endParaRPr>
          </a:p>
          <a:p>
            <a:r>
              <a:rPr lang="en-IN" sz="2400" dirty="0">
                <a:solidFill>
                  <a:srgbClr val="000000"/>
                </a:solidFill>
                <a:latin typeface="Nunito" pitchFamily="2" charset="77"/>
              </a:rPr>
              <a:t>At the interface, there is an abrupt change due to a lower density; this alters the angle of the beam’s motion.</a:t>
            </a:r>
          </a:p>
        </p:txBody>
      </p:sp>
    </p:spTree>
    <p:extLst>
      <p:ext uri="{BB962C8B-B14F-4D97-AF65-F5344CB8AC3E}">
        <p14:creationId xmlns:p14="http://schemas.microsoft.com/office/powerpoint/2010/main" val="2800947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5706-9F6A-91E6-E1A5-EC0F38A01A20}"/>
              </a:ext>
            </a:extLst>
          </p:cNvPr>
          <p:cNvSpPr>
            <a:spLocks noGrp="1"/>
          </p:cNvSpPr>
          <p:nvPr>
            <p:ph type="title"/>
          </p:nvPr>
        </p:nvSpPr>
        <p:spPr>
          <a:xfrm>
            <a:off x="838200" y="158297"/>
            <a:ext cx="10515600" cy="1325563"/>
          </a:xfrm>
        </p:spPr>
        <p:txBody>
          <a:bodyPr/>
          <a:lstStyle/>
          <a:p>
            <a:r>
              <a:rPr lang="en-US" b="1" dirty="0">
                <a:latin typeface="Times New Roman" panose="02020603050405020304" pitchFamily="18" charset="0"/>
              </a:rPr>
              <a:t>Propagation Modes: FO Cable</a:t>
            </a:r>
          </a:p>
        </p:txBody>
      </p:sp>
      <p:pic>
        <p:nvPicPr>
          <p:cNvPr id="4" name="Picture 6">
            <a:extLst>
              <a:ext uri="{FF2B5EF4-FFF2-40B4-BE49-F238E27FC236}">
                <a16:creationId xmlns:a16="http://schemas.microsoft.com/office/drawing/2014/main" id="{0B7F74FA-F97B-8861-8D58-CED7270109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50895" y="1690688"/>
            <a:ext cx="5671809"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17DBB22E-1CEA-9FDE-F2DB-AD67386B6EA8}"/>
              </a:ext>
            </a:extLst>
          </p:cNvPr>
          <p:cNvSpPr txBox="1"/>
          <p:nvPr/>
        </p:nvSpPr>
        <p:spPr>
          <a:xfrm>
            <a:off x="669297" y="1483860"/>
            <a:ext cx="4523190" cy="5170646"/>
          </a:xfrm>
          <a:prstGeom prst="rect">
            <a:avLst/>
          </a:prstGeom>
          <a:noFill/>
        </p:spPr>
        <p:txBody>
          <a:bodyPr wrap="square" rtlCol="0">
            <a:spAutoFit/>
          </a:bodyPr>
          <a:lstStyle/>
          <a:p>
            <a:pPr algn="just"/>
            <a:r>
              <a:rPr lang="en-IN" sz="2200" b="1" dirty="0">
                <a:solidFill>
                  <a:srgbClr val="000000"/>
                </a:solidFill>
                <a:latin typeface="Nunito" pitchFamily="2" charset="77"/>
              </a:rPr>
              <a:t>Multimode graded-index </a:t>
            </a:r>
            <a:r>
              <a:rPr lang="en-IN" sz="2200" dirty="0" err="1">
                <a:solidFill>
                  <a:srgbClr val="000000"/>
                </a:solidFill>
                <a:latin typeface="Nunito" pitchFamily="2" charset="77"/>
              </a:rPr>
              <a:t>fiber</a:t>
            </a:r>
            <a:r>
              <a:rPr lang="en-IN" sz="2200" dirty="0">
                <a:solidFill>
                  <a:srgbClr val="000000"/>
                </a:solidFill>
                <a:latin typeface="Nunito" pitchFamily="2" charset="77"/>
              </a:rPr>
              <a:t>, decreases this distortion of the signal through the cable.</a:t>
            </a:r>
          </a:p>
          <a:p>
            <a:pPr algn="just"/>
            <a:endParaRPr lang="en-IN" sz="2200" dirty="0">
              <a:solidFill>
                <a:srgbClr val="000000"/>
              </a:solidFill>
              <a:latin typeface="Nunito" pitchFamily="2" charset="77"/>
            </a:endParaRPr>
          </a:p>
          <a:p>
            <a:pPr algn="just"/>
            <a:r>
              <a:rPr lang="en-IN" sz="2200" dirty="0" err="1">
                <a:solidFill>
                  <a:srgbClr val="000000"/>
                </a:solidFill>
                <a:latin typeface="Nunito" pitchFamily="2" charset="77"/>
              </a:rPr>
              <a:t>Gradedindex</a:t>
            </a:r>
            <a:r>
              <a:rPr lang="en-IN" sz="2200" dirty="0">
                <a:solidFill>
                  <a:srgbClr val="000000"/>
                </a:solidFill>
                <a:latin typeface="Nunito" pitchFamily="2" charset="77"/>
              </a:rPr>
              <a:t> </a:t>
            </a:r>
            <a:r>
              <a:rPr lang="en-IN" sz="2200" dirty="0" err="1">
                <a:solidFill>
                  <a:srgbClr val="000000"/>
                </a:solidFill>
                <a:latin typeface="Nunito" pitchFamily="2" charset="77"/>
              </a:rPr>
              <a:t>fiber</a:t>
            </a:r>
            <a:r>
              <a:rPr lang="en-IN" sz="2200" dirty="0">
                <a:solidFill>
                  <a:srgbClr val="000000"/>
                </a:solidFill>
                <a:latin typeface="Nunito" pitchFamily="2" charset="77"/>
              </a:rPr>
              <a:t>, is one with </a:t>
            </a:r>
            <a:r>
              <a:rPr lang="en-IN" sz="2200" b="1" dirty="0">
                <a:solidFill>
                  <a:srgbClr val="000000"/>
                </a:solidFill>
                <a:latin typeface="Nunito" pitchFamily="2" charset="77"/>
              </a:rPr>
              <a:t>varying densities</a:t>
            </a:r>
            <a:r>
              <a:rPr lang="en-IN" sz="2200" dirty="0">
                <a:solidFill>
                  <a:srgbClr val="000000"/>
                </a:solidFill>
                <a:latin typeface="Nunito" pitchFamily="2" charset="77"/>
              </a:rPr>
              <a:t>. High density at the </a:t>
            </a:r>
            <a:r>
              <a:rPr lang="en-IN" sz="2200" dirty="0" err="1">
                <a:solidFill>
                  <a:srgbClr val="000000"/>
                </a:solidFill>
                <a:latin typeface="Nunito" pitchFamily="2" charset="77"/>
              </a:rPr>
              <a:t>center</a:t>
            </a:r>
            <a:r>
              <a:rPr lang="en-IN" sz="2200" dirty="0">
                <a:solidFill>
                  <a:srgbClr val="000000"/>
                </a:solidFill>
                <a:latin typeface="Nunito" pitchFamily="2" charset="77"/>
              </a:rPr>
              <a:t> of the core and decreases gradually to its lowest at the edge.</a:t>
            </a:r>
          </a:p>
          <a:p>
            <a:pPr algn="just"/>
            <a:endParaRPr lang="en-IN" sz="2200" dirty="0">
              <a:solidFill>
                <a:srgbClr val="000000"/>
              </a:solidFill>
              <a:latin typeface="Nunito" pitchFamily="2" charset="77"/>
            </a:endParaRPr>
          </a:p>
          <a:p>
            <a:pPr algn="just"/>
            <a:r>
              <a:rPr lang="en-IN" sz="2200" b="1" dirty="0">
                <a:solidFill>
                  <a:srgbClr val="000000"/>
                </a:solidFill>
                <a:latin typeface="Nunito" pitchFamily="2" charset="77"/>
              </a:rPr>
              <a:t>Single-mode</a:t>
            </a:r>
            <a:r>
              <a:rPr lang="en-IN" sz="2200" dirty="0">
                <a:solidFill>
                  <a:srgbClr val="000000"/>
                </a:solidFill>
                <a:latin typeface="Nunito" pitchFamily="2" charset="77"/>
              </a:rPr>
              <a:t> uses step-index </a:t>
            </a:r>
            <a:r>
              <a:rPr lang="en-IN" sz="2200" dirty="0" err="1">
                <a:solidFill>
                  <a:srgbClr val="000000"/>
                </a:solidFill>
                <a:latin typeface="Nunito" pitchFamily="2" charset="77"/>
              </a:rPr>
              <a:t>fiber</a:t>
            </a:r>
            <a:r>
              <a:rPr lang="en-IN" sz="2200" dirty="0">
                <a:solidFill>
                  <a:srgbClr val="000000"/>
                </a:solidFill>
                <a:latin typeface="Nunito" pitchFamily="2" charset="77"/>
              </a:rPr>
              <a:t> and a highly focused source of light that limits beams to a small range of angles, all close to the horizontal.</a:t>
            </a:r>
          </a:p>
        </p:txBody>
      </p:sp>
    </p:spTree>
    <p:extLst>
      <p:ext uri="{BB962C8B-B14F-4D97-AF65-F5344CB8AC3E}">
        <p14:creationId xmlns:p14="http://schemas.microsoft.com/office/powerpoint/2010/main" val="29216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56D49-6FA7-C04B-BEA9-EAE4FCCF0D3E}"/>
              </a:ext>
            </a:extLst>
          </p:cNvPr>
          <p:cNvSpPr>
            <a:spLocks noGrp="1"/>
          </p:cNvSpPr>
          <p:nvPr>
            <p:ph type="title"/>
          </p:nvPr>
        </p:nvSpPr>
        <p:spPr/>
        <p:txBody>
          <a:bodyPr/>
          <a:lstStyle/>
          <a:p>
            <a:r>
              <a:rPr lang="en-US" b="1" dirty="0">
                <a:latin typeface="Times New Roman" panose="02020603050405020304" pitchFamily="18" charset="0"/>
              </a:rPr>
              <a:t>Fiber Types</a:t>
            </a:r>
          </a:p>
        </p:txBody>
      </p:sp>
      <p:pic>
        <p:nvPicPr>
          <p:cNvPr id="4" name="Picture 4">
            <a:extLst>
              <a:ext uri="{FF2B5EF4-FFF2-40B4-BE49-F238E27FC236}">
                <a16:creationId xmlns:a16="http://schemas.microsoft.com/office/drawing/2014/main" id="{122946BB-1E8E-2917-D47D-AD7D9095D9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820351"/>
            <a:ext cx="10515600" cy="2361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2039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1A19-EB90-ECA9-B23B-48DA27936ED3}"/>
              </a:ext>
            </a:extLst>
          </p:cNvPr>
          <p:cNvSpPr>
            <a:spLocks noGrp="1"/>
          </p:cNvSpPr>
          <p:nvPr>
            <p:ph type="title"/>
          </p:nvPr>
        </p:nvSpPr>
        <p:spPr/>
        <p:txBody>
          <a:bodyPr/>
          <a:lstStyle/>
          <a:p>
            <a:r>
              <a:rPr lang="en-US" b="1" dirty="0">
                <a:latin typeface="Times New Roman" panose="02020603050405020304" pitchFamily="18" charset="0"/>
              </a:rPr>
              <a:t>FO Connectors</a:t>
            </a:r>
          </a:p>
        </p:txBody>
      </p:sp>
      <p:pic>
        <p:nvPicPr>
          <p:cNvPr id="4" name="Picture 6">
            <a:extLst>
              <a:ext uri="{FF2B5EF4-FFF2-40B4-BE49-F238E27FC236}">
                <a16:creationId xmlns:a16="http://schemas.microsoft.com/office/drawing/2014/main" id="{326E750F-BE0C-4C49-E35F-C962B74E5D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5692" y="1690688"/>
            <a:ext cx="8520616" cy="3835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701F600F-3FAE-C4D1-C5E9-48BBECE9A1AD}"/>
              </a:ext>
            </a:extLst>
          </p:cNvPr>
          <p:cNvSpPr txBox="1"/>
          <p:nvPr/>
        </p:nvSpPr>
        <p:spPr>
          <a:xfrm>
            <a:off x="687887" y="5704063"/>
            <a:ext cx="6100174" cy="923330"/>
          </a:xfrm>
          <a:prstGeom prst="rect">
            <a:avLst/>
          </a:prstGeom>
          <a:noFill/>
        </p:spPr>
        <p:txBody>
          <a:bodyPr wrap="square">
            <a:spAutoFit/>
          </a:bodyPr>
          <a:lstStyle/>
          <a:p>
            <a:r>
              <a:rPr lang="en-IN" dirty="0">
                <a:solidFill>
                  <a:srgbClr val="202124"/>
                </a:solidFill>
                <a:latin typeface="arial" panose="020B0604020202020204" pitchFamily="34" charset="0"/>
              </a:rPr>
              <a:t>Subscriber Channel (SC) connector</a:t>
            </a:r>
          </a:p>
          <a:p>
            <a:r>
              <a:rPr lang="en-IN" b="0" i="0" dirty="0">
                <a:solidFill>
                  <a:srgbClr val="202124"/>
                </a:solidFill>
                <a:effectLst/>
                <a:latin typeface="arial" panose="020B0604020202020204" pitchFamily="34" charset="0"/>
              </a:rPr>
              <a:t>Mechanical Transfer Registered Jack (MT-RJ)</a:t>
            </a:r>
          </a:p>
          <a:p>
            <a:r>
              <a:rPr lang="en-IN" dirty="0">
                <a:solidFill>
                  <a:srgbClr val="202124"/>
                </a:solidFill>
                <a:latin typeface="arial" panose="020B0604020202020204" pitchFamily="34" charset="0"/>
              </a:rPr>
              <a:t>Straight-Tip (ST) connector</a:t>
            </a:r>
          </a:p>
        </p:txBody>
      </p:sp>
    </p:spTree>
    <p:extLst>
      <p:ext uri="{BB962C8B-B14F-4D97-AF65-F5344CB8AC3E}">
        <p14:creationId xmlns:p14="http://schemas.microsoft.com/office/powerpoint/2010/main" val="4137756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01BF0-1EED-6C17-5AF8-40C535D3E6A2}"/>
              </a:ext>
            </a:extLst>
          </p:cNvPr>
          <p:cNvSpPr>
            <a:spLocks noGrp="1"/>
          </p:cNvSpPr>
          <p:nvPr>
            <p:ph type="title"/>
          </p:nvPr>
        </p:nvSpPr>
        <p:spPr/>
        <p:txBody>
          <a:bodyPr/>
          <a:lstStyle/>
          <a:p>
            <a:r>
              <a:rPr lang="en-US" b="1" dirty="0">
                <a:latin typeface="Times New Roman" panose="02020603050405020304" pitchFamily="18" charset="0"/>
              </a:rPr>
              <a:t>Pros and Cons of FO Cable</a:t>
            </a:r>
          </a:p>
        </p:txBody>
      </p:sp>
      <p:sp>
        <p:nvSpPr>
          <p:cNvPr id="3" name="Content Placeholder 2">
            <a:extLst>
              <a:ext uri="{FF2B5EF4-FFF2-40B4-BE49-F238E27FC236}">
                <a16:creationId xmlns:a16="http://schemas.microsoft.com/office/drawing/2014/main" id="{B96FD794-F3CD-87A6-6FA0-A38E42977C25}"/>
              </a:ext>
            </a:extLst>
          </p:cNvPr>
          <p:cNvSpPr>
            <a:spLocks noGrp="1"/>
          </p:cNvSpPr>
          <p:nvPr>
            <p:ph idx="1"/>
          </p:nvPr>
        </p:nvSpPr>
        <p:spPr>
          <a:xfrm>
            <a:off x="838200" y="1825625"/>
            <a:ext cx="4626429" cy="4351338"/>
          </a:xfrm>
        </p:spPr>
        <p:txBody>
          <a:bodyPr/>
          <a:lstStyle/>
          <a:p>
            <a:pPr marL="0" indent="0" algn="ctr">
              <a:buNone/>
            </a:pPr>
            <a:r>
              <a:rPr lang="en-IN" sz="2200" b="1" dirty="0">
                <a:solidFill>
                  <a:srgbClr val="000000"/>
                </a:solidFill>
                <a:latin typeface="Nunito" pitchFamily="2" charset="77"/>
              </a:rPr>
              <a:t>PROS</a:t>
            </a:r>
          </a:p>
          <a:p>
            <a:endParaRPr lang="en-IN" sz="2200" dirty="0">
              <a:solidFill>
                <a:srgbClr val="000000"/>
              </a:solidFill>
              <a:latin typeface="Nunito" pitchFamily="2" charset="77"/>
            </a:endParaRPr>
          </a:p>
          <a:p>
            <a:r>
              <a:rPr lang="en-IN" sz="2200" dirty="0">
                <a:solidFill>
                  <a:srgbClr val="000000"/>
                </a:solidFill>
                <a:latin typeface="Nunito" pitchFamily="2" charset="77"/>
              </a:rPr>
              <a:t>Higher bandwidth</a:t>
            </a:r>
          </a:p>
          <a:p>
            <a:r>
              <a:rPr lang="en-IN" sz="2200" dirty="0">
                <a:solidFill>
                  <a:srgbClr val="000000"/>
                </a:solidFill>
                <a:latin typeface="Nunito" pitchFamily="2" charset="77"/>
              </a:rPr>
              <a:t>Less signal attenuation</a:t>
            </a:r>
          </a:p>
          <a:p>
            <a:r>
              <a:rPr lang="en-IN" sz="2200" dirty="0">
                <a:solidFill>
                  <a:srgbClr val="000000"/>
                </a:solidFill>
                <a:latin typeface="Nunito" pitchFamily="2" charset="77"/>
              </a:rPr>
              <a:t>Immunity to electromagnetic interference</a:t>
            </a:r>
          </a:p>
          <a:p>
            <a:r>
              <a:rPr lang="en-IN" sz="2200" dirty="0">
                <a:solidFill>
                  <a:srgbClr val="000000"/>
                </a:solidFill>
                <a:latin typeface="Nunito" pitchFamily="2" charset="77"/>
              </a:rPr>
              <a:t>Resistance to corrosive materials</a:t>
            </a:r>
          </a:p>
          <a:p>
            <a:r>
              <a:rPr lang="en-IN" sz="2200" dirty="0">
                <a:solidFill>
                  <a:srgbClr val="000000"/>
                </a:solidFill>
                <a:latin typeface="Nunito" pitchFamily="2" charset="77"/>
              </a:rPr>
              <a:t>Light weight</a:t>
            </a:r>
          </a:p>
          <a:p>
            <a:r>
              <a:rPr lang="en-IN" sz="2200" dirty="0">
                <a:solidFill>
                  <a:srgbClr val="000000"/>
                </a:solidFill>
                <a:latin typeface="Nunito" pitchFamily="2" charset="77"/>
              </a:rPr>
              <a:t>Greater immunity to tapping</a:t>
            </a:r>
          </a:p>
          <a:p>
            <a:endParaRPr lang="en-US" dirty="0"/>
          </a:p>
        </p:txBody>
      </p:sp>
      <p:sp>
        <p:nvSpPr>
          <p:cNvPr id="4" name="Content Placeholder 2">
            <a:extLst>
              <a:ext uri="{FF2B5EF4-FFF2-40B4-BE49-F238E27FC236}">
                <a16:creationId xmlns:a16="http://schemas.microsoft.com/office/drawing/2014/main" id="{26303163-54BF-6E03-FC9D-EEFC8785FD8E}"/>
              </a:ext>
            </a:extLst>
          </p:cNvPr>
          <p:cNvSpPr txBox="1">
            <a:spLocks/>
          </p:cNvSpPr>
          <p:nvPr/>
        </p:nvSpPr>
        <p:spPr>
          <a:xfrm>
            <a:off x="6096000" y="1825625"/>
            <a:ext cx="4626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200" b="1" dirty="0">
                <a:solidFill>
                  <a:srgbClr val="000000"/>
                </a:solidFill>
                <a:latin typeface="Nunito" pitchFamily="2" charset="77"/>
              </a:rPr>
              <a:t>CONS</a:t>
            </a:r>
          </a:p>
          <a:p>
            <a:pPr marL="0" indent="0">
              <a:buNone/>
            </a:pPr>
            <a:endParaRPr lang="en-IN" sz="2200" dirty="0">
              <a:solidFill>
                <a:srgbClr val="000000"/>
              </a:solidFill>
              <a:latin typeface="Nunito" pitchFamily="2" charset="77"/>
            </a:endParaRPr>
          </a:p>
          <a:p>
            <a:r>
              <a:rPr lang="en-IN" sz="2200" dirty="0">
                <a:solidFill>
                  <a:srgbClr val="000000"/>
                </a:solidFill>
                <a:latin typeface="Nunito" pitchFamily="2" charset="77"/>
              </a:rPr>
              <a:t>Installation and maintenance</a:t>
            </a:r>
          </a:p>
          <a:p>
            <a:r>
              <a:rPr lang="en-IN" sz="2200" dirty="0">
                <a:solidFill>
                  <a:srgbClr val="000000"/>
                </a:solidFill>
                <a:latin typeface="Nunito" pitchFamily="2" charset="77"/>
              </a:rPr>
              <a:t>Unidirectional light propagation</a:t>
            </a:r>
          </a:p>
          <a:p>
            <a:r>
              <a:rPr lang="en-IN" sz="2200" dirty="0">
                <a:solidFill>
                  <a:srgbClr val="000000"/>
                </a:solidFill>
                <a:latin typeface="Nunito" pitchFamily="2" charset="77"/>
              </a:rPr>
              <a:t>Cost</a:t>
            </a:r>
          </a:p>
          <a:p>
            <a:endParaRPr lang="en-US" dirty="0"/>
          </a:p>
        </p:txBody>
      </p:sp>
    </p:spTree>
    <p:extLst>
      <p:ext uri="{BB962C8B-B14F-4D97-AF65-F5344CB8AC3E}">
        <p14:creationId xmlns:p14="http://schemas.microsoft.com/office/powerpoint/2010/main" val="2287884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Unguided Media: Wireless</a:t>
            </a:r>
          </a:p>
        </p:txBody>
      </p:sp>
      <p:sp>
        <p:nvSpPr>
          <p:cNvPr id="3" name="Content Placeholder 2">
            <a:extLst>
              <a:ext uri="{FF2B5EF4-FFF2-40B4-BE49-F238E27FC236}">
                <a16:creationId xmlns:a16="http://schemas.microsoft.com/office/drawing/2014/main" id="{48536B57-5C0B-2800-186E-FA70B8863E34}"/>
              </a:ext>
            </a:extLst>
          </p:cNvPr>
          <p:cNvSpPr>
            <a:spLocks noGrp="1"/>
          </p:cNvSpPr>
          <p:nvPr>
            <p:ph idx="1"/>
          </p:nvPr>
        </p:nvSpPr>
        <p:spPr/>
        <p:txBody>
          <a:bodyPr/>
          <a:lstStyle/>
          <a:p>
            <a:pPr algn="just"/>
            <a:r>
              <a:rPr lang="en-IN" sz="2200" dirty="0">
                <a:solidFill>
                  <a:srgbClr val="000000"/>
                </a:solidFill>
                <a:latin typeface="Nunito" pitchFamily="2" charset="77"/>
              </a:rPr>
              <a:t>Unguided medium transport electromagnetic waves </a:t>
            </a:r>
            <a:r>
              <a:rPr lang="en-IN" sz="2200" b="1" dirty="0">
                <a:solidFill>
                  <a:srgbClr val="000000"/>
                </a:solidFill>
                <a:latin typeface="Nunito" pitchFamily="2" charset="77"/>
              </a:rPr>
              <a:t>without</a:t>
            </a:r>
            <a:r>
              <a:rPr lang="en-IN" sz="2200" dirty="0">
                <a:solidFill>
                  <a:srgbClr val="000000"/>
                </a:solidFill>
                <a:latin typeface="Nunito" pitchFamily="2" charset="77"/>
              </a:rPr>
              <a:t> using a physical conductor.</a:t>
            </a:r>
          </a:p>
          <a:p>
            <a:pPr algn="just"/>
            <a:r>
              <a:rPr lang="en-IN" sz="2200" dirty="0">
                <a:solidFill>
                  <a:srgbClr val="000000"/>
                </a:solidFill>
                <a:latin typeface="Nunito" pitchFamily="2" charset="77"/>
              </a:rPr>
              <a:t>This type of communication is often referred to as </a:t>
            </a:r>
            <a:r>
              <a:rPr lang="en-IN" sz="2200" b="1" dirty="0">
                <a:solidFill>
                  <a:srgbClr val="000000"/>
                </a:solidFill>
                <a:latin typeface="Nunito" pitchFamily="2" charset="77"/>
              </a:rPr>
              <a:t>wireless communication</a:t>
            </a:r>
            <a:r>
              <a:rPr lang="en-IN" sz="2200" dirty="0">
                <a:solidFill>
                  <a:srgbClr val="000000"/>
                </a:solidFill>
                <a:latin typeface="Nunito" pitchFamily="2" charset="77"/>
              </a:rPr>
              <a:t>.</a:t>
            </a:r>
          </a:p>
          <a:p>
            <a:pPr algn="just"/>
            <a:r>
              <a:rPr lang="en-IN" sz="2200" dirty="0">
                <a:solidFill>
                  <a:srgbClr val="000000"/>
                </a:solidFill>
                <a:latin typeface="Nunito" pitchFamily="2" charset="77"/>
              </a:rPr>
              <a:t>Signals are normally broadcast through </a:t>
            </a:r>
            <a:r>
              <a:rPr lang="en-IN" sz="2200" b="1" dirty="0">
                <a:solidFill>
                  <a:srgbClr val="000000"/>
                </a:solidFill>
                <a:latin typeface="Nunito" pitchFamily="2" charset="77"/>
              </a:rPr>
              <a:t>free space </a:t>
            </a:r>
            <a:r>
              <a:rPr lang="en-IN" sz="2200" dirty="0">
                <a:solidFill>
                  <a:srgbClr val="000000"/>
                </a:solidFill>
                <a:latin typeface="Nunito" pitchFamily="2" charset="77"/>
              </a:rPr>
              <a:t>and thus are available to anyone who has a device capable of receiving them.</a:t>
            </a:r>
          </a:p>
          <a:p>
            <a:pPr algn="just"/>
            <a:r>
              <a:rPr lang="en-IN" sz="2200" dirty="0">
                <a:solidFill>
                  <a:srgbClr val="000000"/>
                </a:solidFill>
                <a:latin typeface="Nunito" pitchFamily="2" charset="77"/>
              </a:rPr>
              <a:t>The electromagnetic spectrum, ranging from </a:t>
            </a:r>
            <a:r>
              <a:rPr lang="en-IN" sz="2200" b="1" dirty="0">
                <a:solidFill>
                  <a:srgbClr val="000000"/>
                </a:solidFill>
                <a:latin typeface="Nunito" pitchFamily="2" charset="77"/>
              </a:rPr>
              <a:t>3 kHz to 900 THz</a:t>
            </a:r>
            <a:r>
              <a:rPr lang="en-IN" sz="2200" dirty="0">
                <a:solidFill>
                  <a:srgbClr val="000000"/>
                </a:solidFill>
                <a:latin typeface="Nunito" pitchFamily="2" charset="77"/>
              </a:rPr>
              <a:t>, used for wireless communication.</a:t>
            </a:r>
          </a:p>
          <a:p>
            <a:pPr algn="just"/>
            <a:endParaRPr lang="en-US" dirty="0"/>
          </a:p>
        </p:txBody>
      </p:sp>
      <p:pic>
        <p:nvPicPr>
          <p:cNvPr id="5" name="Picture 6">
            <a:extLst>
              <a:ext uri="{FF2B5EF4-FFF2-40B4-BE49-F238E27FC236}">
                <a16:creationId xmlns:a16="http://schemas.microsoft.com/office/drawing/2014/main" id="{179E2C75-5006-DDCE-8404-8FDB375CF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4359275"/>
            <a:ext cx="840105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4040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Unguided Media: Wireless</a:t>
            </a:r>
          </a:p>
        </p:txBody>
      </p:sp>
      <p:sp>
        <p:nvSpPr>
          <p:cNvPr id="3" name="Content Placeholder 2">
            <a:extLst>
              <a:ext uri="{FF2B5EF4-FFF2-40B4-BE49-F238E27FC236}">
                <a16:creationId xmlns:a16="http://schemas.microsoft.com/office/drawing/2014/main" id="{48536B57-5C0B-2800-186E-FA70B8863E34}"/>
              </a:ext>
            </a:extLst>
          </p:cNvPr>
          <p:cNvSpPr>
            <a:spLocks noGrp="1"/>
          </p:cNvSpPr>
          <p:nvPr>
            <p:ph idx="1"/>
          </p:nvPr>
        </p:nvSpPr>
        <p:spPr/>
        <p:txBody>
          <a:bodyPr/>
          <a:lstStyle/>
          <a:p>
            <a:pPr algn="just"/>
            <a:r>
              <a:rPr lang="en-IN" sz="2200" dirty="0">
                <a:solidFill>
                  <a:srgbClr val="000000"/>
                </a:solidFill>
                <a:latin typeface="Nunito" pitchFamily="2" charset="77"/>
              </a:rPr>
              <a:t>Unguided signals can travel from the source to the destination in several ways: </a:t>
            </a:r>
            <a:r>
              <a:rPr lang="en-IN" sz="2200" b="1" dirty="0">
                <a:solidFill>
                  <a:srgbClr val="000000"/>
                </a:solidFill>
                <a:latin typeface="Nunito" pitchFamily="2" charset="77"/>
              </a:rPr>
              <a:t>ground propagation</a:t>
            </a:r>
            <a:r>
              <a:rPr lang="en-IN" sz="2200" dirty="0">
                <a:solidFill>
                  <a:srgbClr val="000000"/>
                </a:solidFill>
                <a:latin typeface="Nunito" pitchFamily="2" charset="77"/>
              </a:rPr>
              <a:t>, </a:t>
            </a:r>
            <a:r>
              <a:rPr lang="en-IN" sz="2200" b="1" dirty="0">
                <a:solidFill>
                  <a:srgbClr val="000000"/>
                </a:solidFill>
                <a:latin typeface="Nunito" pitchFamily="2" charset="77"/>
              </a:rPr>
              <a:t>sky propagation, and line-of-sight propagation</a:t>
            </a:r>
            <a:r>
              <a:rPr lang="en-IN" sz="2200" dirty="0">
                <a:solidFill>
                  <a:srgbClr val="000000"/>
                </a:solidFill>
                <a:latin typeface="Nunito" pitchFamily="2" charset="77"/>
              </a:rPr>
              <a:t>.</a:t>
            </a:r>
          </a:p>
          <a:p>
            <a:pPr algn="just"/>
            <a:endParaRPr lang="en-IN" sz="2200" dirty="0">
              <a:solidFill>
                <a:srgbClr val="000000"/>
              </a:solidFill>
              <a:latin typeface="Nunito" pitchFamily="2" charset="77"/>
            </a:endParaRPr>
          </a:p>
        </p:txBody>
      </p:sp>
      <p:pic>
        <p:nvPicPr>
          <p:cNvPr id="5" name="Picture 4">
            <a:extLst>
              <a:ext uri="{FF2B5EF4-FFF2-40B4-BE49-F238E27FC236}">
                <a16:creationId xmlns:a16="http://schemas.microsoft.com/office/drawing/2014/main" id="{39A95462-00F5-DFA8-4AE4-BFBF1B5BFFA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09800" y="2976563"/>
            <a:ext cx="7772400" cy="3200400"/>
          </a:xfrm>
          <a:prstGeom prst="rect">
            <a:avLst/>
          </a:prstGeom>
        </p:spPr>
      </p:pic>
    </p:spTree>
    <p:extLst>
      <p:ext uri="{BB962C8B-B14F-4D97-AF65-F5344CB8AC3E}">
        <p14:creationId xmlns:p14="http://schemas.microsoft.com/office/powerpoint/2010/main" val="3436165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Unguided Media: Wireless</a:t>
            </a:r>
          </a:p>
        </p:txBody>
      </p:sp>
      <p:sp>
        <p:nvSpPr>
          <p:cNvPr id="3" name="Content Placeholder 2">
            <a:extLst>
              <a:ext uri="{FF2B5EF4-FFF2-40B4-BE49-F238E27FC236}">
                <a16:creationId xmlns:a16="http://schemas.microsoft.com/office/drawing/2014/main" id="{48536B57-5C0B-2800-186E-FA70B8863E34}"/>
              </a:ext>
            </a:extLst>
          </p:cNvPr>
          <p:cNvSpPr>
            <a:spLocks noGrp="1"/>
          </p:cNvSpPr>
          <p:nvPr>
            <p:ph idx="1"/>
          </p:nvPr>
        </p:nvSpPr>
        <p:spPr/>
        <p:txBody>
          <a:bodyPr>
            <a:normAutofit/>
          </a:bodyPr>
          <a:lstStyle/>
          <a:p>
            <a:pPr algn="just"/>
            <a:r>
              <a:rPr lang="en-IN" sz="2200" dirty="0">
                <a:solidFill>
                  <a:srgbClr val="000000"/>
                </a:solidFill>
                <a:latin typeface="Nunito" pitchFamily="2" charset="77"/>
              </a:rPr>
              <a:t>In </a:t>
            </a:r>
            <a:r>
              <a:rPr lang="en-IN" sz="2200" b="1" dirty="0">
                <a:solidFill>
                  <a:srgbClr val="FF0000"/>
                </a:solidFill>
                <a:latin typeface="Nunito" pitchFamily="2" charset="77"/>
              </a:rPr>
              <a:t>ground propagation</a:t>
            </a:r>
            <a:r>
              <a:rPr lang="en-IN" sz="2200" dirty="0">
                <a:solidFill>
                  <a:srgbClr val="000000"/>
                </a:solidFill>
                <a:latin typeface="Nunito" pitchFamily="2" charset="77"/>
              </a:rPr>
              <a:t>, radio waves travel through the lowest portion of the atmosphere, hugging the earth.</a:t>
            </a:r>
          </a:p>
          <a:p>
            <a:pPr algn="just"/>
            <a:r>
              <a:rPr lang="en-IN" sz="2200" dirty="0">
                <a:solidFill>
                  <a:srgbClr val="000000"/>
                </a:solidFill>
                <a:latin typeface="Nunito" pitchFamily="2" charset="77"/>
              </a:rPr>
              <a:t>These </a:t>
            </a:r>
            <a:r>
              <a:rPr lang="en-IN" sz="2200" b="1" dirty="0">
                <a:solidFill>
                  <a:srgbClr val="000000"/>
                </a:solidFill>
                <a:latin typeface="Nunito" pitchFamily="2" charset="77"/>
              </a:rPr>
              <a:t>low-frequency</a:t>
            </a:r>
            <a:r>
              <a:rPr lang="en-IN" sz="2200" dirty="0">
                <a:solidFill>
                  <a:srgbClr val="000000"/>
                </a:solidFill>
                <a:latin typeface="Nunito" pitchFamily="2" charset="77"/>
              </a:rPr>
              <a:t> signals emanate in all directions from the transmitting antenna and follow the curvature of the planet. </a:t>
            </a:r>
          </a:p>
          <a:p>
            <a:pPr algn="just"/>
            <a:r>
              <a:rPr lang="en-IN" sz="2200" dirty="0">
                <a:solidFill>
                  <a:srgbClr val="000000"/>
                </a:solidFill>
                <a:latin typeface="Nunito" pitchFamily="2" charset="77"/>
              </a:rPr>
              <a:t>Distance depends on the </a:t>
            </a:r>
            <a:r>
              <a:rPr lang="en-IN" sz="2200" b="1" dirty="0">
                <a:solidFill>
                  <a:srgbClr val="000000"/>
                </a:solidFill>
                <a:latin typeface="Nunito" pitchFamily="2" charset="77"/>
              </a:rPr>
              <a:t>amount of power </a:t>
            </a:r>
            <a:r>
              <a:rPr lang="en-IN" sz="2200" dirty="0">
                <a:solidFill>
                  <a:srgbClr val="000000"/>
                </a:solidFill>
                <a:latin typeface="Nunito" pitchFamily="2" charset="77"/>
              </a:rPr>
              <a:t>in the signal: The greater the power, the greater the distance.</a:t>
            </a:r>
          </a:p>
          <a:p>
            <a:pPr algn="just"/>
            <a:r>
              <a:rPr lang="en-IN" sz="2200" dirty="0">
                <a:solidFill>
                  <a:srgbClr val="000000"/>
                </a:solidFill>
                <a:latin typeface="Nunito" pitchFamily="2" charset="77"/>
              </a:rPr>
              <a:t>In </a:t>
            </a:r>
            <a:r>
              <a:rPr lang="en-IN" sz="2200" b="1" dirty="0">
                <a:solidFill>
                  <a:srgbClr val="FF0000"/>
                </a:solidFill>
                <a:latin typeface="Nunito" pitchFamily="2" charset="77"/>
              </a:rPr>
              <a:t>sky propagation</a:t>
            </a:r>
            <a:r>
              <a:rPr lang="en-IN" sz="2200" dirty="0">
                <a:solidFill>
                  <a:srgbClr val="000000"/>
                </a:solidFill>
                <a:latin typeface="Nunito" pitchFamily="2" charset="77"/>
              </a:rPr>
              <a:t>, higher-frequency radio waves radiate upward into the ionosphere where they are reflected back to earth.</a:t>
            </a:r>
          </a:p>
          <a:p>
            <a:pPr algn="just"/>
            <a:r>
              <a:rPr lang="en-IN" sz="2200" dirty="0">
                <a:solidFill>
                  <a:srgbClr val="000000"/>
                </a:solidFill>
                <a:latin typeface="Nunito" pitchFamily="2" charset="77"/>
              </a:rPr>
              <a:t>This type of transmission allows for </a:t>
            </a:r>
            <a:r>
              <a:rPr lang="en-IN" sz="2200" b="1" dirty="0">
                <a:solidFill>
                  <a:srgbClr val="000000"/>
                </a:solidFill>
                <a:latin typeface="Nunito" pitchFamily="2" charset="77"/>
              </a:rPr>
              <a:t>greater distances </a:t>
            </a:r>
            <a:r>
              <a:rPr lang="en-IN" sz="2200" dirty="0">
                <a:solidFill>
                  <a:srgbClr val="000000"/>
                </a:solidFill>
                <a:latin typeface="Nunito" pitchFamily="2" charset="77"/>
              </a:rPr>
              <a:t>with </a:t>
            </a:r>
            <a:r>
              <a:rPr lang="en-IN" sz="2200" b="1" dirty="0">
                <a:solidFill>
                  <a:srgbClr val="000000"/>
                </a:solidFill>
                <a:latin typeface="Nunito" pitchFamily="2" charset="77"/>
              </a:rPr>
              <a:t>lower output power</a:t>
            </a:r>
            <a:r>
              <a:rPr lang="en-IN" sz="2200" dirty="0">
                <a:solidFill>
                  <a:srgbClr val="000000"/>
                </a:solidFill>
                <a:latin typeface="Nunito" pitchFamily="2" charset="77"/>
              </a:rPr>
              <a:t>.</a:t>
            </a:r>
          </a:p>
          <a:p>
            <a:pPr algn="just"/>
            <a:r>
              <a:rPr lang="en-IN" sz="2200" dirty="0">
                <a:solidFill>
                  <a:srgbClr val="000000"/>
                </a:solidFill>
                <a:latin typeface="Nunito" pitchFamily="2" charset="77"/>
              </a:rPr>
              <a:t>In </a:t>
            </a:r>
            <a:r>
              <a:rPr lang="en-IN" sz="2200" b="1" dirty="0">
                <a:solidFill>
                  <a:srgbClr val="FF0000"/>
                </a:solidFill>
                <a:latin typeface="Nunito" pitchFamily="2" charset="77"/>
              </a:rPr>
              <a:t>line-of-sight propagation</a:t>
            </a:r>
            <a:r>
              <a:rPr lang="en-IN" sz="2200" dirty="0">
                <a:solidFill>
                  <a:srgbClr val="000000"/>
                </a:solidFill>
                <a:latin typeface="Nunito" pitchFamily="2" charset="77"/>
              </a:rPr>
              <a:t>, very high-frequency signals are transmitted in straight lines directly from antenna to antenna.</a:t>
            </a:r>
          </a:p>
          <a:p>
            <a:pPr algn="just"/>
            <a:endParaRPr lang="en-IN" sz="2200" dirty="0">
              <a:solidFill>
                <a:srgbClr val="000000"/>
              </a:solidFill>
              <a:latin typeface="Nunito" pitchFamily="2" charset="77"/>
            </a:endParaRPr>
          </a:p>
        </p:txBody>
      </p:sp>
    </p:spTree>
    <p:extLst>
      <p:ext uri="{BB962C8B-B14F-4D97-AF65-F5344CB8AC3E}">
        <p14:creationId xmlns:p14="http://schemas.microsoft.com/office/powerpoint/2010/main" val="3867996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Unguided Media: Wireless</a:t>
            </a:r>
          </a:p>
        </p:txBody>
      </p:sp>
      <p:pic>
        <p:nvPicPr>
          <p:cNvPr id="4" name="Picture 4">
            <a:extLst>
              <a:ext uri="{FF2B5EF4-FFF2-40B4-BE49-F238E27FC236}">
                <a16:creationId xmlns:a16="http://schemas.microsoft.com/office/drawing/2014/main" id="{A6612FDE-CF7D-8235-4926-07AB2FF460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4443" y="1498008"/>
            <a:ext cx="8263113" cy="4994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4571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Unguided Media: Wireless</a:t>
            </a:r>
          </a:p>
        </p:txBody>
      </p:sp>
      <p:pic>
        <p:nvPicPr>
          <p:cNvPr id="5" name="Picture 6">
            <a:extLst>
              <a:ext uri="{FF2B5EF4-FFF2-40B4-BE49-F238E27FC236}">
                <a16:creationId xmlns:a16="http://schemas.microsoft.com/office/drawing/2014/main" id="{F82E3DAF-A473-51B8-AFD7-E2902990A53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4850" y="2629694"/>
            <a:ext cx="82423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4096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Radio Wave</a:t>
            </a:r>
          </a:p>
        </p:txBody>
      </p:sp>
      <p:sp>
        <p:nvSpPr>
          <p:cNvPr id="3" name="Content Placeholder 2">
            <a:extLst>
              <a:ext uri="{FF2B5EF4-FFF2-40B4-BE49-F238E27FC236}">
                <a16:creationId xmlns:a16="http://schemas.microsoft.com/office/drawing/2014/main" id="{E56F120E-99D9-FDB8-082E-28088AF11319}"/>
              </a:ext>
            </a:extLst>
          </p:cNvPr>
          <p:cNvSpPr>
            <a:spLocks noGrp="1"/>
          </p:cNvSpPr>
          <p:nvPr>
            <p:ph idx="1"/>
          </p:nvPr>
        </p:nvSpPr>
        <p:spPr>
          <a:xfrm>
            <a:off x="838200" y="1825625"/>
            <a:ext cx="8632371" cy="4351338"/>
          </a:xfrm>
        </p:spPr>
        <p:txBody>
          <a:bodyPr/>
          <a:lstStyle/>
          <a:p>
            <a:pPr algn="just"/>
            <a:r>
              <a:rPr lang="en-IN" sz="2200" dirty="0">
                <a:solidFill>
                  <a:srgbClr val="000000"/>
                </a:solidFill>
                <a:latin typeface="Nunito" pitchFamily="2" charset="77"/>
              </a:rPr>
              <a:t>Although there is no clear-cut demarcation between radio waves and microwaves. </a:t>
            </a:r>
          </a:p>
          <a:p>
            <a:pPr algn="just"/>
            <a:r>
              <a:rPr lang="en-IN" sz="2200" dirty="0">
                <a:solidFill>
                  <a:srgbClr val="000000"/>
                </a:solidFill>
                <a:latin typeface="Nunito" pitchFamily="2" charset="77"/>
              </a:rPr>
              <a:t>Electromagnetic waves ranging in frequencies between </a:t>
            </a:r>
            <a:r>
              <a:rPr lang="en-IN" sz="2200" b="1" dirty="0">
                <a:solidFill>
                  <a:srgbClr val="000000"/>
                </a:solidFill>
                <a:latin typeface="Nunito" pitchFamily="2" charset="77"/>
              </a:rPr>
              <a:t>3 kHz and 1 GHz </a:t>
            </a:r>
            <a:r>
              <a:rPr lang="en-IN" sz="2200" dirty="0">
                <a:solidFill>
                  <a:srgbClr val="000000"/>
                </a:solidFill>
                <a:latin typeface="Nunito" pitchFamily="2" charset="77"/>
              </a:rPr>
              <a:t>are normally called </a:t>
            </a:r>
            <a:r>
              <a:rPr lang="en-IN" sz="2200" b="1" dirty="0">
                <a:solidFill>
                  <a:srgbClr val="FF0000"/>
                </a:solidFill>
                <a:latin typeface="Nunito" pitchFamily="2" charset="77"/>
              </a:rPr>
              <a:t>radio waves</a:t>
            </a:r>
            <a:r>
              <a:rPr lang="en-IN" sz="2200" dirty="0">
                <a:solidFill>
                  <a:srgbClr val="000000"/>
                </a:solidFill>
                <a:latin typeface="Nunito" pitchFamily="2" charset="77"/>
              </a:rPr>
              <a:t>; waves ranging in frequencies between </a:t>
            </a:r>
            <a:r>
              <a:rPr lang="en-IN" sz="2200" b="1" dirty="0">
                <a:solidFill>
                  <a:srgbClr val="000000"/>
                </a:solidFill>
                <a:latin typeface="Nunito" pitchFamily="2" charset="77"/>
              </a:rPr>
              <a:t>1 and 300 GHz</a:t>
            </a:r>
            <a:r>
              <a:rPr lang="en-IN" sz="2200" dirty="0">
                <a:solidFill>
                  <a:srgbClr val="000000"/>
                </a:solidFill>
                <a:latin typeface="Nunito" pitchFamily="2" charset="77"/>
              </a:rPr>
              <a:t> are called </a:t>
            </a:r>
            <a:r>
              <a:rPr lang="en-IN" sz="2200" b="1" dirty="0">
                <a:solidFill>
                  <a:srgbClr val="FF0000"/>
                </a:solidFill>
                <a:latin typeface="Nunito" pitchFamily="2" charset="77"/>
              </a:rPr>
              <a:t>microwaves</a:t>
            </a:r>
            <a:r>
              <a:rPr lang="en-IN" sz="2200" dirty="0">
                <a:solidFill>
                  <a:srgbClr val="000000"/>
                </a:solidFill>
                <a:latin typeface="Nunito" pitchFamily="2" charset="77"/>
              </a:rPr>
              <a:t>.</a:t>
            </a:r>
          </a:p>
          <a:p>
            <a:pPr algn="just"/>
            <a:r>
              <a:rPr lang="en-US" altLang="en-US" sz="2200" dirty="0">
                <a:solidFill>
                  <a:srgbClr val="000000"/>
                </a:solidFill>
                <a:latin typeface="Nunito" pitchFamily="2" charset="77"/>
              </a:rPr>
              <a:t>Radio waves are used for </a:t>
            </a:r>
            <a:r>
              <a:rPr lang="en-US" altLang="en-US" sz="2200" b="1" dirty="0">
                <a:solidFill>
                  <a:srgbClr val="000000"/>
                </a:solidFill>
                <a:latin typeface="Nunito" pitchFamily="2" charset="77"/>
              </a:rPr>
              <a:t>multicast communications</a:t>
            </a:r>
            <a:r>
              <a:rPr lang="en-US" altLang="en-US" sz="2200" dirty="0">
                <a:solidFill>
                  <a:srgbClr val="000000"/>
                </a:solidFill>
                <a:latin typeface="Nunito" pitchFamily="2" charset="77"/>
              </a:rPr>
              <a:t>, such as radio and television, and paging systems. </a:t>
            </a:r>
          </a:p>
          <a:p>
            <a:pPr algn="just"/>
            <a:r>
              <a:rPr lang="en-US" altLang="en-US" sz="2200" dirty="0">
                <a:solidFill>
                  <a:srgbClr val="000000"/>
                </a:solidFill>
                <a:latin typeface="Nunito" pitchFamily="2" charset="77"/>
              </a:rPr>
              <a:t>They can penetrate through walls. Highly regulated. Use omni directional antennas.</a:t>
            </a:r>
          </a:p>
          <a:p>
            <a:pPr algn="just"/>
            <a:r>
              <a:rPr lang="en-IN" sz="2200" dirty="0">
                <a:solidFill>
                  <a:srgbClr val="000000"/>
                </a:solidFill>
                <a:latin typeface="Nunito" pitchFamily="2" charset="77"/>
              </a:rPr>
              <a:t>Radio waves, particularly those waves that propagate in the sky mode, can travel </a:t>
            </a:r>
            <a:r>
              <a:rPr lang="en-IN" sz="2200" b="1" dirty="0">
                <a:solidFill>
                  <a:srgbClr val="000000"/>
                </a:solidFill>
                <a:latin typeface="Nunito" pitchFamily="2" charset="77"/>
              </a:rPr>
              <a:t>long distances</a:t>
            </a:r>
            <a:r>
              <a:rPr lang="en-IN" sz="2200" dirty="0">
                <a:solidFill>
                  <a:srgbClr val="000000"/>
                </a:solidFill>
                <a:latin typeface="Nunito" pitchFamily="2" charset="77"/>
              </a:rPr>
              <a:t>. This makes radio waves a good candidate for long-distance broadcasting such as AM radio.</a:t>
            </a:r>
          </a:p>
          <a:p>
            <a:pPr algn="just"/>
            <a:endParaRPr lang="en-US" altLang="en-US" sz="2200" dirty="0">
              <a:solidFill>
                <a:srgbClr val="000000"/>
              </a:solidFill>
              <a:latin typeface="Nunito" pitchFamily="2" charset="77"/>
            </a:endParaRPr>
          </a:p>
          <a:p>
            <a:endParaRPr lang="en-US" dirty="0"/>
          </a:p>
        </p:txBody>
      </p:sp>
      <p:pic>
        <p:nvPicPr>
          <p:cNvPr id="4" name="Picture 3">
            <a:extLst>
              <a:ext uri="{FF2B5EF4-FFF2-40B4-BE49-F238E27FC236}">
                <a16:creationId xmlns:a16="http://schemas.microsoft.com/office/drawing/2014/main" id="{AD13CB5B-44E6-F086-0071-A407536425DE}"/>
              </a:ext>
            </a:extLst>
          </p:cNvPr>
          <p:cNvPicPr>
            <a:picLocks noChangeAspect="1"/>
          </p:cNvPicPr>
          <p:nvPr/>
        </p:nvPicPr>
        <p:blipFill>
          <a:blip r:embed="rId2"/>
          <a:stretch>
            <a:fillRect/>
          </a:stretch>
        </p:blipFill>
        <p:spPr>
          <a:xfrm>
            <a:off x="9572706" y="2722117"/>
            <a:ext cx="2531612" cy="2558354"/>
          </a:xfrm>
          <a:prstGeom prst="rect">
            <a:avLst/>
          </a:prstGeom>
        </p:spPr>
      </p:pic>
    </p:spTree>
    <p:extLst>
      <p:ext uri="{BB962C8B-B14F-4D97-AF65-F5344CB8AC3E}">
        <p14:creationId xmlns:p14="http://schemas.microsoft.com/office/powerpoint/2010/main" val="1590279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Microwaves</a:t>
            </a:r>
          </a:p>
        </p:txBody>
      </p:sp>
      <p:sp>
        <p:nvSpPr>
          <p:cNvPr id="3" name="Content Placeholder 2">
            <a:extLst>
              <a:ext uri="{FF2B5EF4-FFF2-40B4-BE49-F238E27FC236}">
                <a16:creationId xmlns:a16="http://schemas.microsoft.com/office/drawing/2014/main" id="{E56F120E-99D9-FDB8-082E-28088AF11319}"/>
              </a:ext>
            </a:extLst>
          </p:cNvPr>
          <p:cNvSpPr>
            <a:spLocks noGrp="1"/>
          </p:cNvSpPr>
          <p:nvPr>
            <p:ph idx="1"/>
          </p:nvPr>
        </p:nvSpPr>
        <p:spPr>
          <a:xfrm>
            <a:off x="838200" y="1825625"/>
            <a:ext cx="10624457" cy="4351338"/>
          </a:xfrm>
        </p:spPr>
        <p:txBody>
          <a:bodyPr/>
          <a:lstStyle/>
          <a:p>
            <a:pPr algn="just"/>
            <a:r>
              <a:rPr lang="en-IN" sz="2200" dirty="0">
                <a:solidFill>
                  <a:srgbClr val="000000"/>
                </a:solidFill>
                <a:latin typeface="Nunito" pitchFamily="2" charset="77"/>
              </a:rPr>
              <a:t>Electromagnetic waves having frequencies between </a:t>
            </a:r>
            <a:r>
              <a:rPr lang="en-IN" sz="2200" b="1" dirty="0">
                <a:solidFill>
                  <a:srgbClr val="000000"/>
                </a:solidFill>
                <a:latin typeface="Nunito" pitchFamily="2" charset="77"/>
              </a:rPr>
              <a:t>1 and 300 GHz </a:t>
            </a:r>
            <a:r>
              <a:rPr lang="en-IN" sz="2200" dirty="0">
                <a:solidFill>
                  <a:srgbClr val="000000"/>
                </a:solidFill>
                <a:latin typeface="Nunito" pitchFamily="2" charset="77"/>
              </a:rPr>
              <a:t>are called microwaves.</a:t>
            </a:r>
          </a:p>
          <a:p>
            <a:pPr algn="just"/>
            <a:r>
              <a:rPr lang="en-IN" sz="2200" dirty="0">
                <a:solidFill>
                  <a:srgbClr val="000000"/>
                </a:solidFill>
                <a:latin typeface="Nunito" pitchFamily="2" charset="77"/>
              </a:rPr>
              <a:t>Microwaves are </a:t>
            </a:r>
            <a:r>
              <a:rPr lang="en-IN" sz="2200" b="1" dirty="0">
                <a:solidFill>
                  <a:srgbClr val="000000"/>
                </a:solidFill>
                <a:latin typeface="Nunito" pitchFamily="2" charset="77"/>
              </a:rPr>
              <a:t>unidirectional</a:t>
            </a:r>
            <a:r>
              <a:rPr lang="en-IN" sz="2200" dirty="0">
                <a:solidFill>
                  <a:srgbClr val="000000"/>
                </a:solidFill>
                <a:latin typeface="Nunito" pitchFamily="2" charset="77"/>
              </a:rPr>
              <a:t>. When an antenna transmits microwaves, they can be </a:t>
            </a:r>
            <a:r>
              <a:rPr lang="en-IN" sz="2200" b="1" dirty="0">
                <a:solidFill>
                  <a:srgbClr val="000000"/>
                </a:solidFill>
                <a:latin typeface="Nunito" pitchFamily="2" charset="77"/>
              </a:rPr>
              <a:t>narrowly focused</a:t>
            </a:r>
            <a:r>
              <a:rPr lang="en-IN" sz="2200" dirty="0">
                <a:solidFill>
                  <a:srgbClr val="000000"/>
                </a:solidFill>
                <a:latin typeface="Nunito" pitchFamily="2" charset="77"/>
              </a:rPr>
              <a:t>. This means that the sending and receiving antennas need to be aligned.</a:t>
            </a:r>
          </a:p>
          <a:p>
            <a:pPr algn="just"/>
            <a:r>
              <a:rPr lang="en-IN" sz="2200" dirty="0">
                <a:solidFill>
                  <a:srgbClr val="000000"/>
                </a:solidFill>
                <a:latin typeface="Nunito" pitchFamily="2" charset="77"/>
              </a:rPr>
              <a:t>A pair of antennas can be aligned without interfering with another pair of aligned antennas.</a:t>
            </a:r>
          </a:p>
          <a:p>
            <a:pPr algn="just"/>
            <a:r>
              <a:rPr lang="en-IN" sz="2200" b="1" dirty="0">
                <a:solidFill>
                  <a:srgbClr val="000000"/>
                </a:solidFill>
                <a:latin typeface="Nunito" pitchFamily="2" charset="77"/>
              </a:rPr>
              <a:t>Very high-frequency </a:t>
            </a:r>
            <a:r>
              <a:rPr lang="en-IN" sz="2200" dirty="0">
                <a:solidFill>
                  <a:srgbClr val="000000"/>
                </a:solidFill>
                <a:latin typeface="Nunito" pitchFamily="2" charset="77"/>
              </a:rPr>
              <a:t>microwaves cannot penetrate walls. This characteristic can be a disadvantage if receivers are inside buildings.</a:t>
            </a:r>
          </a:p>
          <a:p>
            <a:pPr algn="just"/>
            <a:r>
              <a:rPr lang="en-IN" sz="2200" dirty="0">
                <a:solidFill>
                  <a:srgbClr val="000000"/>
                </a:solidFill>
                <a:latin typeface="Nunito" pitchFamily="2" charset="77"/>
              </a:rPr>
              <a:t>The microwave band is relatively wide, almost 299 GHz. Therefore wider </a:t>
            </a:r>
            <a:r>
              <a:rPr lang="en-IN" sz="2200" dirty="0" err="1">
                <a:solidFill>
                  <a:srgbClr val="000000"/>
                </a:solidFill>
                <a:latin typeface="Nunito" pitchFamily="2" charset="77"/>
              </a:rPr>
              <a:t>subbands</a:t>
            </a:r>
            <a:r>
              <a:rPr lang="en-IN" sz="2200" dirty="0">
                <a:solidFill>
                  <a:srgbClr val="000000"/>
                </a:solidFill>
                <a:latin typeface="Nunito" pitchFamily="2" charset="77"/>
              </a:rPr>
              <a:t> can be assigned, and a high data rate is possible.</a:t>
            </a:r>
          </a:p>
        </p:txBody>
      </p:sp>
    </p:spTree>
    <p:extLst>
      <p:ext uri="{BB962C8B-B14F-4D97-AF65-F5344CB8AC3E}">
        <p14:creationId xmlns:p14="http://schemas.microsoft.com/office/powerpoint/2010/main" val="2410891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Microwaves</a:t>
            </a:r>
          </a:p>
        </p:txBody>
      </p:sp>
      <p:pic>
        <p:nvPicPr>
          <p:cNvPr id="4" name="Picture 6">
            <a:extLst>
              <a:ext uri="{FF2B5EF4-FFF2-40B4-BE49-F238E27FC236}">
                <a16:creationId xmlns:a16="http://schemas.microsoft.com/office/drawing/2014/main" id="{69950150-DEB0-4BB1-3FEC-383553BA64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2828" y="1825625"/>
            <a:ext cx="9235881"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0789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411D-341C-A92A-FAE0-FF81EBE1C6FB}"/>
              </a:ext>
            </a:extLst>
          </p:cNvPr>
          <p:cNvSpPr>
            <a:spLocks noGrp="1"/>
          </p:cNvSpPr>
          <p:nvPr>
            <p:ph type="title"/>
          </p:nvPr>
        </p:nvSpPr>
        <p:spPr/>
        <p:txBody>
          <a:bodyPr/>
          <a:lstStyle/>
          <a:p>
            <a:r>
              <a:rPr lang="en-US" b="1" dirty="0">
                <a:latin typeface="Times New Roman" panose="02020603050405020304" pitchFamily="18" charset="0"/>
              </a:rPr>
              <a:t>Microwaves</a:t>
            </a:r>
          </a:p>
        </p:txBody>
      </p:sp>
      <p:sp>
        <p:nvSpPr>
          <p:cNvPr id="3" name="Content Placeholder 2">
            <a:extLst>
              <a:ext uri="{FF2B5EF4-FFF2-40B4-BE49-F238E27FC236}">
                <a16:creationId xmlns:a16="http://schemas.microsoft.com/office/drawing/2014/main" id="{E56F120E-99D9-FDB8-082E-28088AF11319}"/>
              </a:ext>
            </a:extLst>
          </p:cNvPr>
          <p:cNvSpPr>
            <a:spLocks noGrp="1"/>
          </p:cNvSpPr>
          <p:nvPr>
            <p:ph idx="1"/>
          </p:nvPr>
        </p:nvSpPr>
        <p:spPr>
          <a:xfrm>
            <a:off x="838200" y="1825625"/>
            <a:ext cx="10624457" cy="4351338"/>
          </a:xfrm>
        </p:spPr>
        <p:txBody>
          <a:bodyPr/>
          <a:lstStyle/>
          <a:p>
            <a:pPr algn="just"/>
            <a:r>
              <a:rPr lang="en-IN" sz="2200" dirty="0">
                <a:solidFill>
                  <a:srgbClr val="000000"/>
                </a:solidFill>
                <a:latin typeface="Nunito" pitchFamily="2" charset="77"/>
              </a:rPr>
              <a:t>Infrared waves, with frequencies from </a:t>
            </a:r>
            <a:r>
              <a:rPr lang="en-IN" sz="2200" b="1" dirty="0">
                <a:solidFill>
                  <a:srgbClr val="000000"/>
                </a:solidFill>
                <a:latin typeface="Nunito" pitchFamily="2" charset="77"/>
              </a:rPr>
              <a:t>300 GHz to 400 THz </a:t>
            </a:r>
            <a:r>
              <a:rPr lang="en-IN" sz="2200" dirty="0">
                <a:solidFill>
                  <a:srgbClr val="000000"/>
                </a:solidFill>
                <a:latin typeface="Nunito" pitchFamily="2" charset="77"/>
              </a:rPr>
              <a:t>(wavelengths from 1 mm to 770 nm), can be used for short-range communication.</a:t>
            </a:r>
          </a:p>
          <a:p>
            <a:pPr algn="just"/>
            <a:r>
              <a:rPr lang="en-IN" sz="2200" dirty="0">
                <a:solidFill>
                  <a:srgbClr val="000000"/>
                </a:solidFill>
                <a:latin typeface="Nunito" pitchFamily="2" charset="77"/>
              </a:rPr>
              <a:t>Infrared waves, having high frequencies, cannot penetrate walls.</a:t>
            </a:r>
          </a:p>
          <a:p>
            <a:pPr algn="just"/>
            <a:r>
              <a:rPr lang="en-IN" sz="2200" dirty="0">
                <a:solidFill>
                  <a:srgbClr val="000000"/>
                </a:solidFill>
                <a:latin typeface="Nunito" pitchFamily="2" charset="77"/>
              </a:rPr>
              <a:t>This advantageous characteristic </a:t>
            </a:r>
            <a:r>
              <a:rPr lang="en-IN" sz="2200" b="1" dirty="0">
                <a:solidFill>
                  <a:srgbClr val="000000"/>
                </a:solidFill>
                <a:latin typeface="Nunito" pitchFamily="2" charset="77"/>
              </a:rPr>
              <a:t>prevents interference</a:t>
            </a:r>
            <a:r>
              <a:rPr lang="en-IN" sz="2200" dirty="0">
                <a:solidFill>
                  <a:srgbClr val="000000"/>
                </a:solidFill>
                <a:latin typeface="Nunito" pitchFamily="2" charset="77"/>
              </a:rPr>
              <a:t> between one system and another.</a:t>
            </a:r>
          </a:p>
          <a:p>
            <a:pPr algn="just"/>
            <a:r>
              <a:rPr lang="en-IN" sz="2200" dirty="0">
                <a:solidFill>
                  <a:srgbClr val="000000"/>
                </a:solidFill>
                <a:latin typeface="Nunito" pitchFamily="2" charset="77"/>
              </a:rPr>
              <a:t>In addition, we cannot use infrared waves </a:t>
            </a:r>
            <a:r>
              <a:rPr lang="en-IN" sz="2200" b="1" dirty="0">
                <a:solidFill>
                  <a:srgbClr val="000000"/>
                </a:solidFill>
                <a:latin typeface="Nunito" pitchFamily="2" charset="77"/>
              </a:rPr>
              <a:t>outside a building </a:t>
            </a:r>
            <a:r>
              <a:rPr lang="en-IN" sz="2200" dirty="0">
                <a:solidFill>
                  <a:srgbClr val="000000"/>
                </a:solidFill>
                <a:latin typeface="Nunito" pitchFamily="2" charset="77"/>
              </a:rPr>
              <a:t>because the sun’s rays contain infrared waves that can interfere with the communication.</a:t>
            </a:r>
          </a:p>
          <a:p>
            <a:pPr algn="just"/>
            <a:endParaRPr lang="en-IN" sz="2200" dirty="0">
              <a:solidFill>
                <a:srgbClr val="000000"/>
              </a:solidFill>
              <a:latin typeface="Nunito" pitchFamily="2" charset="77"/>
            </a:endParaRPr>
          </a:p>
        </p:txBody>
      </p:sp>
      <p:pic>
        <p:nvPicPr>
          <p:cNvPr id="4" name="Picture 3">
            <a:extLst>
              <a:ext uri="{FF2B5EF4-FFF2-40B4-BE49-F238E27FC236}">
                <a16:creationId xmlns:a16="http://schemas.microsoft.com/office/drawing/2014/main" id="{14D259F4-8C83-A725-0F3D-9813E300084F}"/>
              </a:ext>
            </a:extLst>
          </p:cNvPr>
          <p:cNvPicPr>
            <a:picLocks noChangeAspect="1"/>
          </p:cNvPicPr>
          <p:nvPr/>
        </p:nvPicPr>
        <p:blipFill>
          <a:blip r:embed="rId2"/>
          <a:stretch>
            <a:fillRect/>
          </a:stretch>
        </p:blipFill>
        <p:spPr>
          <a:xfrm>
            <a:off x="997081" y="4782549"/>
            <a:ext cx="10197838" cy="1079632"/>
          </a:xfrm>
          <a:prstGeom prst="rect">
            <a:avLst/>
          </a:prstGeom>
        </p:spPr>
      </p:pic>
    </p:spTree>
    <p:extLst>
      <p:ext uri="{BB962C8B-B14F-4D97-AF65-F5344CB8AC3E}">
        <p14:creationId xmlns:p14="http://schemas.microsoft.com/office/powerpoint/2010/main" val="427437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TotalTime>
  <Words>1753</Words>
  <Application>Microsoft Office PowerPoint</Application>
  <PresentationFormat>Widescreen</PresentationFormat>
  <Paragraphs>152</Paragraphs>
  <Slides>37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American Typewriter</vt:lpstr>
      <vt:lpstr>Arial</vt:lpstr>
      <vt:lpstr>Arial</vt:lpstr>
      <vt:lpstr>Calibri</vt:lpstr>
      <vt:lpstr>Calibri Light</vt:lpstr>
      <vt:lpstr>Nunito</vt:lpstr>
      <vt:lpstr>Times</vt:lpstr>
      <vt:lpstr>Times New Roman</vt:lpstr>
      <vt:lpstr>Office Theme</vt:lpstr>
      <vt:lpstr>Transmission Media</vt:lpstr>
      <vt:lpstr>Introduction </vt:lpstr>
      <vt:lpstr>Introduction </vt:lpstr>
      <vt:lpstr>Introduction </vt:lpstr>
      <vt:lpstr>Introduction </vt:lpstr>
      <vt:lpstr>Transmission Media Classification</vt:lpstr>
      <vt:lpstr>Guided Media</vt:lpstr>
      <vt:lpstr>Guided Media: Disadvantages</vt:lpstr>
      <vt:lpstr>Twisted-Pair Cable</vt:lpstr>
      <vt:lpstr>Twisted-Pair Cable</vt:lpstr>
      <vt:lpstr>Twisted-Pair Cable</vt:lpstr>
      <vt:lpstr>Categories of UTP</vt:lpstr>
      <vt:lpstr>UTP Connector: RJ-45</vt:lpstr>
      <vt:lpstr>Shielded Twisted-Pair Cable</vt:lpstr>
      <vt:lpstr>Types of STP</vt:lpstr>
      <vt:lpstr>Coaxial Cable</vt:lpstr>
      <vt:lpstr>Twisted Pair - Transmission Characteristics</vt:lpstr>
      <vt:lpstr>Coaxial Cable</vt:lpstr>
      <vt:lpstr>Coax Standards and Connectors</vt:lpstr>
      <vt:lpstr>Coax Cable - Transmission Characteristics</vt:lpstr>
      <vt:lpstr>Fiber Optic Cable</vt:lpstr>
      <vt:lpstr>Fiber Optic Cable</vt:lpstr>
      <vt:lpstr>Propagation Modes: FO Cable</vt:lpstr>
      <vt:lpstr>Propagation Modes: FO Cable</vt:lpstr>
      <vt:lpstr>Propagation Modes: FO Cable</vt:lpstr>
      <vt:lpstr>Fiber Types</vt:lpstr>
      <vt:lpstr>FO Connectors</vt:lpstr>
      <vt:lpstr>Pros and Cons of FO Cable</vt:lpstr>
      <vt:lpstr>Unguided Media: Wireless</vt:lpstr>
      <vt:lpstr>Unguided Media: Wireless</vt:lpstr>
      <vt:lpstr>Unguided Media: Wireless</vt:lpstr>
      <vt:lpstr>Unguided Media: Wireless</vt:lpstr>
      <vt:lpstr>Unguided Media: Wireless</vt:lpstr>
      <vt:lpstr>Radio Wave</vt:lpstr>
      <vt:lpstr>Microwaves</vt:lpstr>
      <vt:lpstr>Microwaves</vt:lpstr>
      <vt:lpstr>Microwaves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CSE-25</cp:lastModifiedBy>
  <cp:revision>178</cp:revision>
  <dcterms:created xsi:type="dcterms:W3CDTF">2023-01-26T16:08:12Z</dcterms:created>
  <dcterms:modified xsi:type="dcterms:W3CDTF">2024-04-12T03:27:14Z</dcterms:modified>
</cp:coreProperties>
</file>
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charts/chart4.xml" ContentType="application/vnd.openxmlformats-officedocument.drawingml.chart+xml"/>
  <Override PartName="/ppt/notesSlides/notesSlide19.xml" ContentType="application/vnd.openxmlformats-officedocument.presentationml.notesSlide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ppt/charts/chart6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5B6B73"/>
                </a:solidFill>
                <a:latin typeface="Calibri"/>
              </a:rPr>
              <a:t>Missing values before cleaning (% of rows, top 8 of 18 columns)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A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claim_denial_reason</c:v>
                </c:pt>
                <c:pt idx="1">
                  <c:v>procedure_complexity</c:v>
                </c:pt>
                <c:pt idx="2">
                  <c:v>previous_encounter_id</c:v>
                </c:pt>
                <c:pt idx="3">
                  <c:v>days_since_last_discharge</c:v>
                </c:pt>
                <c:pt idx="4">
                  <c:v>insurance_policy_id</c:v>
                </c:pt>
                <c:pt idx="5">
                  <c:v>baseline_bmi</c:v>
                </c:pt>
                <c:pt idx="6">
                  <c:v>blood_glucose_mg_dl</c:v>
                </c:pt>
                <c:pt idx="7">
                  <c:v>emergency_contact_phone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89.13</c:v>
                </c:pt>
                <c:pt idx="1">
                  <c:v>42.79</c:v>
                </c:pt>
                <c:pt idx="2">
                  <c:v>37.840000000000003</c:v>
                </c:pt>
                <c:pt idx="3">
                  <c:v>37.840000000000003</c:v>
                </c:pt>
                <c:pt idx="4">
                  <c:v>7.47</c:v>
                </c:pt>
                <c:pt idx="5">
                  <c:v>6.38</c:v>
                </c:pt>
                <c:pt idx="6">
                  <c:v>6.23</c:v>
                </c:pt>
                <c:pt idx="7">
                  <c:v>6.18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2D-46ED-AFF2-D30195F76A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3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5B6B73"/>
                </a:solidFill>
                <a:latin typeface="Calibri"/>
              </a:rPr>
              <a:t>Number of columns after each step (13,214 rows throughout)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8E8-4F21-9288-006323AD605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8E8-4F21-9288-006323AD605E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8E8-4F21-9288-006323AD605E}"/>
              </c:ext>
            </c:extLst>
          </c:dPt>
          <c:dPt>
            <c:idx val="3"/>
            <c:invertIfNegative val="0"/>
            <c:bubble3D val="0"/>
            <c:spPr>
              <a:solidFill>
                <a:srgbClr val="5B6B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8E8-4F21-9288-006323AD605E}"/>
              </c:ext>
            </c:extLst>
          </c:dPt>
          <c:dPt>
            <c:idx val="4"/>
            <c:invertIfNegative val="0"/>
            <c:bubble3D val="0"/>
            <c:spPr>
              <a:solidFill>
                <a:srgbClr val="0E2A3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8E8-4F21-9288-006323AD605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E2A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Merged</c:v>
                </c:pt>
                <c:pt idx="1">
                  <c:v>Missing filled</c:v>
                </c:pt>
                <c:pt idx="2">
                  <c:v>Features added</c:v>
                </c:pt>
                <c:pt idx="3">
                  <c:v>Columns dropped</c:v>
                </c:pt>
                <c:pt idx="4">
                  <c:v>Encoded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</c:v>
                </c:pt>
                <c:pt idx="1">
                  <c:v>81</c:v>
                </c:pt>
                <c:pt idx="2">
                  <c:v>100</c:v>
                </c:pt>
                <c:pt idx="3">
                  <c:v>78</c:v>
                </c:pt>
                <c:pt idx="4">
                  <c:v>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8E8-4F21-9288-006323AD60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3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B6B73"/>
                </a:solidFill>
                <a:latin typeface="Calibri"/>
              </a:rPr>
              <a:t>Encounters by department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Encounters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A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General Medicine</c:v>
                </c:pt>
                <c:pt idx="1">
                  <c:v>Cardiology</c:v>
                </c:pt>
                <c:pt idx="2">
                  <c:v>Orthopedics</c:v>
                </c:pt>
                <c:pt idx="3">
                  <c:v>ICU</c:v>
                </c:pt>
                <c:pt idx="4">
                  <c:v>General Surgery</c:v>
                </c:pt>
                <c:pt idx="5">
                  <c:v>Pediatrics</c:v>
                </c:pt>
                <c:pt idx="6">
                  <c:v>Oncology</c:v>
                </c:pt>
                <c:pt idx="7">
                  <c:v>Obstetrics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4918</c:v>
                </c:pt>
                <c:pt idx="1">
                  <c:v>2057</c:v>
                </c:pt>
                <c:pt idx="2">
                  <c:v>1475</c:v>
                </c:pt>
                <c:pt idx="3">
                  <c:v>1356</c:v>
                </c:pt>
                <c:pt idx="4">
                  <c:v>1303</c:v>
                </c:pt>
                <c:pt idx="5">
                  <c:v>928</c:v>
                </c:pt>
                <c:pt idx="6">
                  <c:v>875</c:v>
                </c:pt>
                <c:pt idx="7">
                  <c:v>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F8-4CDF-A37D-557F12EB48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3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5B6B73"/>
                </a:solidFill>
                <a:latin typeface="Calibri"/>
              </a:rPr>
              <a:t>Gross revenue by disease category (US$ 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E2A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Infectious</c:v>
                </c:pt>
                <c:pt idx="1">
                  <c:v>Oncology</c:v>
                </c:pt>
                <c:pt idx="2">
                  <c:v>Cardiovascular</c:v>
                </c:pt>
                <c:pt idx="3">
                  <c:v>Trauma</c:v>
                </c:pt>
                <c:pt idx="4">
                  <c:v>Respiratory</c:v>
                </c:pt>
                <c:pt idx="5">
                  <c:v>Musculoskeletal</c:v>
                </c:pt>
                <c:pt idx="6">
                  <c:v>Gastrointestinal</c:v>
                </c:pt>
                <c:pt idx="7">
                  <c:v>Renal</c:v>
                </c:pt>
                <c:pt idx="8">
                  <c:v>Endocrine</c:v>
                </c:pt>
                <c:pt idx="9">
                  <c:v>Obstetrics</c:v>
                </c:pt>
                <c:pt idx="10">
                  <c:v>Pediatrics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57.7</c:v>
                </c:pt>
                <c:pt idx="1">
                  <c:v>49.3</c:v>
                </c:pt>
                <c:pt idx="2">
                  <c:v>44.6</c:v>
                </c:pt>
                <c:pt idx="3">
                  <c:v>24.9</c:v>
                </c:pt>
                <c:pt idx="4">
                  <c:v>19.8</c:v>
                </c:pt>
                <c:pt idx="5">
                  <c:v>19</c:v>
                </c:pt>
                <c:pt idx="6">
                  <c:v>14</c:v>
                </c:pt>
                <c:pt idx="7">
                  <c:v>7.2</c:v>
                </c:pt>
                <c:pt idx="8">
                  <c:v>6.1</c:v>
                </c:pt>
                <c:pt idx="9">
                  <c:v>2.7</c:v>
                </c:pt>
                <c:pt idx="10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57-4A5D-9154-8D3D65013A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3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B6B73"/>
                </a:solidFill>
                <a:latin typeface="Calibri"/>
              </a:rPr>
              <a:t>30-day readmission rate by disease category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Readmission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E2A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Oncology</c:v>
                </c:pt>
                <c:pt idx="1">
                  <c:v>Trauma</c:v>
                </c:pt>
                <c:pt idx="2">
                  <c:v>Infectious</c:v>
                </c:pt>
                <c:pt idx="3">
                  <c:v>Cardiovascular</c:v>
                </c:pt>
                <c:pt idx="4">
                  <c:v>Musculoskeletal</c:v>
                </c:pt>
                <c:pt idx="5">
                  <c:v>Respiratory</c:v>
                </c:pt>
                <c:pt idx="6">
                  <c:v>Endocrine</c:v>
                </c:pt>
                <c:pt idx="7">
                  <c:v>Gastrointestinal</c:v>
                </c:pt>
                <c:pt idx="8">
                  <c:v>Renal</c:v>
                </c:pt>
                <c:pt idx="9">
                  <c:v>Obstetrics</c:v>
                </c:pt>
                <c:pt idx="10">
                  <c:v>Pediatrics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44.7</c:v>
                </c:pt>
                <c:pt idx="1">
                  <c:v>44.7</c:v>
                </c:pt>
                <c:pt idx="2">
                  <c:v>39.700000000000003</c:v>
                </c:pt>
                <c:pt idx="3">
                  <c:v>37.700000000000003</c:v>
                </c:pt>
                <c:pt idx="4">
                  <c:v>34.9</c:v>
                </c:pt>
                <c:pt idx="5">
                  <c:v>30.7</c:v>
                </c:pt>
                <c:pt idx="6">
                  <c:v>29.9</c:v>
                </c:pt>
                <c:pt idx="7">
                  <c:v>27.2</c:v>
                </c:pt>
                <c:pt idx="8">
                  <c:v>25.5</c:v>
                </c:pt>
                <c:pt idx="9">
                  <c:v>15.9</c:v>
                </c:pt>
                <c:pt idx="10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3E-441E-8A4F-23FEEA99C0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3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5B6B73"/>
                </a:solidFill>
                <a:latin typeface="Calibri"/>
              </a:rPr>
              <a:t>Why rejected claims were denied (count)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Rejected claims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A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Prior Authorization Missing</c:v>
                </c:pt>
                <c:pt idx="1">
                  <c:v>Coding Discrepancy on CPT-ICD Link</c:v>
                </c:pt>
                <c:pt idx="2">
                  <c:v>Service Not Covered by Policy Tier</c:v>
                </c:pt>
                <c:pt idx="3">
                  <c:v>Timely Filing Limit Exceeded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490</c:v>
                </c:pt>
                <c:pt idx="1">
                  <c:v>361</c:v>
                </c:pt>
                <c:pt idx="2">
                  <c:v>346</c:v>
                </c:pt>
                <c:pt idx="3">
                  <c:v>344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F0-4E4E-8662-482C5B607B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3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6961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Hospital Management System analysis for the Data Analysis and Visualisation course. We combined five hospital tables in Python, prepared them for analysis and built four Tableau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question maps to one Tableau dashboard: Command Center (operations), Revenue, Safety and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df.shape after merging is (13214, 81). df.duplicated().sum() is 0. 18 columns had missing values; claim_denial_reason is empty for 89% of rows because approved claims have no denial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patient_id links Patients to every other table. encounter_id links Visits, Clinical, Billing and Pharmacy. All joins are left joins on Visits so every encounter is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Shapes after each join: (13214, 38) → (13214, 58) → (13214, 74) → (13214, 81). Aggregating pharmacy first stops one visit from turning into several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numeric and ten text columns were filled. Note: claim_denial_reason was 89% empty because approved claims have no reason; filling it with the mode labels those claims "Prior Authorization Missing", so we only read denial reasons for rejected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errors='coerce' turns any badly formatted date into NaT instead of crashing. dayofweek is 0 for Monday, so values 5 and 6 are the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 follow standard clinical cut-offs: fever above 37.5 °C, hypertension at 140/90 mmHg, low oxygen below 95%, heart rate outside 60–100 bpm.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replace([np.inf, -np.inf], 0) handles bills with zero gross amount or zero-day stays, so the ratios never divide by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also protects patient privacy: no names, phone numbers or addresses reach the dashboard. The categorical-preserved file is saved at this point, after scaling its numeric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Ordered categories keep their ranking as numbers; unordered ones become 0/1 columns so a model does not assume a false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Min-Max scaling: (x − min) / (max − min). Binary columns are detected as columns with 2 or fewer unique values and left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engineered features: 5 date, 7 clinical, 4 financial and 3 patient. Rows never change because every join and fill keeps all 13,214 encounters.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dashboards read preprocessed_categorical_preserved.csv as a Tableau extract, with extra _actual and _usd columns so values appear in real units (days, mmHg, US dollars) instead of the 0–1 scaled values. Clicking a mark filters the other views on the same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Elective admissions are 6,423, emergency 4,244 and urgent 2,547. Data note: 5,523 admissions are stamped exactly 00:00, which suggests many records have a date but no time, so the hour heatmap over-weights midnight.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Gross $246.2M minus discounts $75.6M gives net $170.5M. High-income patients pay the largest share out of pocket (20% vs 7% for low income), shown on the financial toxicity scatter.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stay is 0.5 days for patients sent home but 11.5 days for patients who died, shown in the length-of-stay box plot. Pediatrics and obstetrics have the lowest readmission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counts are for rejected claims only. Because missing denial reasons were filled with the mode, approved claims also carry "Prior Authorization Missing" in the data, so a treemap of all rows overstates that reason (12,163 rows).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group uses a different dashboard: administrators the Command Center, finance the Revenue dashboard, clinicians and quality teams the Safety dashboard, and claims teams the Claims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are for all data with no filters. Clicking any chart filters the other views on the same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column: data and operations. Right column: cost, safety and claims. All values come from the dashboard extract with no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notes explain choices behind the numbers and show how the work can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KNIME workflow repeats Python steps 1 to 3 visually. Five CSV Reader nodes load the tables; four Joiner nodes merge them on patient_id and encounter_id, with pharmacy aggregated by a GroupBy node first. Missing Value imputes gaps, two String to Date&amp;Time nodes convert the date columns, Date&amp;Time Part Extractor creates the time features, and CSV Writer exports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Analysis  ·  Data Analysis and Visualisation (3CS103ME24)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291840"/>
            <a:ext cx="4206240" cy="4206240"/>
          </a:xfrm>
          <a:prstGeom prst="ellipse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548640"/>
            <a:ext cx="2377440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621792"/>
            <a:ext cx="2157984" cy="1143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AND VISUALISATION  ·  3CS103ME24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974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 System Analysis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five raw hospital tables to four interactive Tableau dashboards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577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Joshi(24BCE152)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Ziyankhan Pathan (24BCE146)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58704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692640" y="58247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14,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Analyse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hospital records every visit, test, prescription and bill, but in </a:t>
            </a: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separate tables</a:t>
            </a:r>
            <a:r>
              <a:rPr lang="en-US" sz="2200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that no one can read together.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merge and prepare 13,214 patient encounters, then answer four questions that matter to hospital managers, doctors and insurers.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5742432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6459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059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995160" y="16184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busy is the hospital?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20116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Encounters, ICU use and length of stay by department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97880" y="2651760"/>
            <a:ext cx="5742432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2834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946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995160" y="2807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money come from?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995160" y="32004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disease and cost type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897880" y="3840480"/>
            <a:ext cx="5742432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26480" y="40233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1833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95160" y="39959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safe is patient care?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995160" y="43891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Readmissions, deaths and hospital infections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897880" y="5029200"/>
            <a:ext cx="5742432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26480" y="5212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53721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95160" y="51846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claims rejected?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55778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rate by insurer and reason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988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19988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15007"/>
            <a:ext cx="18159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CSV files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21838" y="1463040"/>
            <a:ext cx="19988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21838" y="1627632"/>
            <a:ext cx="19988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13,214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913278" y="2115007"/>
            <a:ext cx="18159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encounters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95037" y="1463040"/>
            <a:ext cx="19988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95037" y="1627632"/>
            <a:ext cx="19988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186477" y="2115007"/>
            <a:ext cx="18159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8235" y="1463040"/>
            <a:ext cx="19988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68235" y="1627632"/>
            <a:ext cx="19988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7459675" y="2115007"/>
            <a:ext cx="18159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merging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41434" y="1463040"/>
            <a:ext cx="19988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41434" y="1627632"/>
            <a:ext cx="19988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732874" y="2115007"/>
            <a:ext cx="18159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with gaps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after merging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9184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numeric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stay, vital signs, lab results, charges and pharmacy totals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text / categorical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names, dates, department, diagnosis, insurer and claim status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</a:t>
            </a:r>
            <a:endParaRPr lang="en-US" sz="14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937760" y="2788920"/>
          <a:ext cx="6702552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Tables, Linked by Two Keys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17296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314700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31181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44752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× 21 rows × cols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44752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insurance, BMI, comorbidity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1463040"/>
            <a:ext cx="523951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166420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412" y="180594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96912" y="160934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Visits / Encounters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296912" y="1920240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13,214 × 18 rows × cols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296912" y="217627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department, length of stay, ICU, readmission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0" y="2670048"/>
            <a:ext cx="523951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83680" y="287121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412" y="301294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96912" y="2816352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Details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296912" y="3127248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13,214 × 22 rows × cols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296912" y="33832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severity, vitals and lab results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0" y="3877056"/>
            <a:ext cx="523951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0" y="4078224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5412" y="4219956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96912" y="4023360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Billing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296912" y="4334256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13,214 × 18 rows × cols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296912" y="4590288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Charges, insurance cover, payments, claim status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0" y="5084064"/>
            <a:ext cx="523951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583680" y="528523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5412" y="5426964"/>
            <a:ext cx="283464" cy="28346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96912" y="5230368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Pharmacy Prescriptions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296912" y="5541264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26,715 × 16 rows × cols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296912" y="5797296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Drugs, cost, days supply, high-risk medicines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114800" y="3520440"/>
            <a:ext cx="9144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5029200" y="1993392"/>
            <a:ext cx="0" cy="365760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029200" y="1993392"/>
            <a:ext cx="13716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5029200" y="3200400"/>
            <a:ext cx="13716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5029200" y="4407408"/>
            <a:ext cx="13716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5029200" y="5614416"/>
            <a:ext cx="13716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0" name="Text 33"/>
          <p:cNvSpPr txBox="1"/>
          <p:nvPr/>
        </p:nvSpPr>
        <p:spPr>
          <a:xfrm>
            <a:off x="406908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5074920" y="23774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encounter_id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548640" y="43434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has several rows per visit, so it is summarised per encounter before joining.</a:t>
            </a:r>
            <a:endParaRPr lang="en-US" sz="12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291840"/>
            <a:ext cx="4206240" cy="4206240"/>
          </a:xfrm>
          <a:prstGeom prst="ellipse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Preprocessing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Data_Preprocessing.ipynb · pandas and scikit-learn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2801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STEP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Five Tables Into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040880" cy="4046220"/>
          </a:xfrm>
          <a:prstGeom prst="roundRect">
            <a:avLst>
              <a:gd name="adj" fmla="val 1808"/>
            </a:avLst>
          </a:prstGeom>
          <a:solidFill>
            <a:srgbClr val="F6F8FA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04088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72768"/>
            <a:ext cx="164592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Data_Preprocessing.ipynb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pandas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65960"/>
            <a:ext cx="7315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[8]: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965960"/>
            <a:ext cx="5989320" cy="3360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Step 1: Merge Visits with Patients (on patient_id)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visits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merge(patients, on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'patient_id'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how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'left'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Step 2: Merge with Clinical Details (on encounter_id &amp; patient_id)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merge(clinical, on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'encounter_id'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'patient_id'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 how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'left'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Step 3: Merge with Billing (on encounter_id &amp; patient_id)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merge(billing, on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'encounter_id'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'patient_id'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 how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'left'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Step 4: Aggregate pharmacy data per encounter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pharmacy_agg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pharmacy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'encounter_id'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'patient_id'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agg(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total_prescriptions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'pharmacy_order_id'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'count'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total_drugs_cost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'total_drug_cost'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avg_drug_cost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'total_drug_cost'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'mean'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total_days_supply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'days_supply'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total_quantity_dispensed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'quantity_dispensed'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high_risk_med_count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'high_risk_medication_flag'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unique_therapeutic_classes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'therapeutic_class'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'nunique'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reset_index()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merge(pharmacy_agg, on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'encounter_id'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'patient_id'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 how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'left'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148132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1892808"/>
            <a:ext cx="36393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Patients to every visit using patient_id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clinical and billing details using encounter_id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is summarised per encounter (7 new columns) before joining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joins keep all 13,214 encounters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1000" y="5074920"/>
            <a:ext cx="363931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507492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13,214 rows × 81 columns, one row per encounter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STEP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Filling Missing Values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040880" cy="2766060"/>
          </a:xfrm>
          <a:prstGeom prst="roundRect">
            <a:avLst>
              <a:gd name="adj" fmla="val 2645"/>
            </a:avLst>
          </a:prstGeom>
          <a:solidFill>
            <a:srgbClr val="F6F8FA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04088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72768"/>
            <a:ext cx="164592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Data_Preprocessing.ipynb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pandas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65960"/>
            <a:ext cx="7315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[16]: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965960"/>
            <a:ext cx="5989320" cy="2080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Fill NUMERICAL missing values with MEAN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col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numerical_cols: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df[col]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isnull()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mean_val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df[col]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df[col]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df[col]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fillna(mean_val)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Fill CATEGORICAL missing values with MODE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col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categorical_cols: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df[col]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isnull()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mode_val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df[col]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mode()[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df[col]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df[col]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fillna(mode_val)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f"Missing values after imputation: {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isnull()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}"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148132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1892808"/>
            <a:ext cx="36393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gaps are filled with the column mean, e.g. BMI → 28.80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gaps are filled with the most frequent value, e.g. smoker_status → "Never"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columns were fixed and no rows were dropped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1000" y="5074920"/>
            <a:ext cx="363931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507492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df.isnull().sum().sum() returns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STEP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Dates and Time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040880" cy="2633472"/>
          </a:xfrm>
          <a:prstGeom prst="roundRect">
            <a:avLst>
              <a:gd name="adj" fmla="val 2778"/>
            </a:avLst>
          </a:prstGeom>
          <a:solidFill>
            <a:srgbClr val="F6F8FA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04088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72768"/>
            <a:ext cx="164592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Data_Preprocessing.ipynb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pandas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6596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[18]: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965960"/>
            <a:ext cx="598932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Convert date columns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date_columns 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[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'date_of_birth'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'registration_date'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'billing_date'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'admission_datetime'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'discharge_datetime'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col 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date_columns: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col 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df[col] 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pd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to_datetime(df[col], errors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'coerce'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2980944"/>
            <a:ext cx="6675120" cy="0"/>
          </a:xfrm>
          <a:prstGeom prst="line">
            <a:avLst/>
          </a:prstGeom>
          <a:noFill/>
          <a:ln w="9525">
            <a:solidFill>
              <a:srgbClr val="DCE5E8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685800" y="30906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[19]: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3090672"/>
            <a:ext cx="598932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Extract date components from admission_datetime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'admission_year'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'admission_datetime'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'admission_month'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'admission_datetime'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'admission_day_of_week'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'admission_datetime'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dayofweek  </a:t>
            </a:r>
            <a:r>
              <a:rPr lang="en-US" sz="9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0=Mon, 6=Sun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'admission_hour'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'admission_datetime'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'is_weekend_admission'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(df[</a:t>
            </a:r>
            <a:r>
              <a:rPr lang="en-US" sz="90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'admission_day_of_week'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</a:t>
            </a:r>
            <a:r>
              <a:rPr lang="en-US" sz="90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0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148132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1892808"/>
            <a:ext cx="36393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5 text date columns into real datetimes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admission year, month, day of week and hour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is_weekend_admission flags Saturday and Sunday arrivals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01000" y="5074920"/>
            <a:ext cx="363931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507492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columns · 3,732 weekend admissions (28.2%)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STEP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Risk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040880" cy="4046220"/>
          </a:xfrm>
          <a:prstGeom prst="roundRect">
            <a:avLst>
              <a:gd name="adj" fmla="val 1808"/>
            </a:avLst>
          </a:prstGeom>
          <a:solidFill>
            <a:srgbClr val="F6F8FA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04088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72768"/>
            <a:ext cx="164592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Data_Preprocessing.ipynb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pandas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65960"/>
            <a:ext cx="7315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[20]: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965960"/>
            <a:ext cx="5989320" cy="3360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Mean Arterial Pressure (MAP) = Diastolic + 1/3 * (Systolic - Diastolic)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'mean_arterial_pressure'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'diastolic_bp_mmhg'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'systolic_bp_mmhg'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'diastolic_bp_mmhg'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Pulse Pressure = Systolic - Diastolic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'pulse_pressure'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'systolic_bp_mmhg'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'diastolic_bp_mmhg'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BMI Category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'bmi_category'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pd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cut(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'baseline_bmi'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bins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18.5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24.9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29.9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labels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'Underweight'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'Normal'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'Overweight'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'Obese'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Clinical flags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'has_fever'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'temperature_celsius'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37.5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'is_hypertensive'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((df[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'systolic_bp_mmhg'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(df[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'diastolic_bp_mmhg'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'low_spo2'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'spo2_percent'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'abnormal_heart_rate'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((df[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'heart_rate_bpm'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    (df[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'heart_rate_bpm'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</a:t>
            </a:r>
            <a:r>
              <a:rPr lang="en-US" sz="10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148132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1892808"/>
            <a:ext cx="36393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arterial and pulse pressure from blood pressure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grouped into Underweight, Normal, Overweight, Obese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0/1 flags: fever, hypertension, low SpO2, abnormal heart rate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1000" y="5074920"/>
            <a:ext cx="363931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507492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clinical features that doctors can read at a glance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STEP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and Patient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040880" cy="3700272"/>
          </a:xfrm>
          <a:prstGeom prst="roundRect">
            <a:avLst>
              <a:gd name="adj" fmla="val 1977"/>
            </a:avLst>
          </a:prstGeom>
          <a:solidFill>
            <a:srgbClr val="F6F8FA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04088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72768"/>
            <a:ext cx="164592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Data_Preprocessing.ipynb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pandas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65960"/>
            <a:ext cx="73152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[21]: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965960"/>
            <a:ext cx="5989320" cy="1813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20"/>
              </a:lnSpc>
              <a:buNone/>
            </a:pPr>
            <a:r>
              <a:rPr lang="en-US" sz="8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Out-of-pocket ratio = patient paid / gross total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'out_of_pocket_ratio'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'patient_paid_amount'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'gross_total_amount'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    )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replace([np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inf,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inf], 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Insurance coverage ratio = insurance covered / gross total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'insurance_coverage_ratio'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'insurance_covered_amount'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'gross_total_amount'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         )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replace([np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inf,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inf], 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Net amount after discount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'net_billed_amount'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'gross_total_amount'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'discount_contractual_adjustment'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Cost per day of stay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'cost_per_day'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'gross_total_amount'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'length_of_stay_days'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)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replace([np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inf,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inf], 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3834384"/>
            <a:ext cx="6675120" cy="0"/>
          </a:xfrm>
          <a:prstGeom prst="line">
            <a:avLst/>
          </a:prstGeom>
          <a:noFill/>
          <a:ln w="9525">
            <a:solidFill>
              <a:srgbClr val="DCE5E8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685800" y="3944112"/>
            <a:ext cx="73152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[22]: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3944112"/>
            <a:ext cx="5989320" cy="103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20"/>
              </a:lnSpc>
              <a:buNone/>
            </a:pPr>
            <a:r>
              <a:rPr lang="en-US" sz="8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Age group binning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'age_group'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pd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cut(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bins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labels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'Pediatric'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'Young Adult'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'Middle Aged'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'Senior'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'Elderly'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'is_elderly'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'high_comorbidity'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(df[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'baseline_charlson_comorbidity_index'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148132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1892808"/>
            <a:ext cx="36393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Out-of-pocket and insurance-coverage ratios of each bill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billed amount and cost per day of stay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 plus elderly (65+) and high-comorbidity (Charlson ≥ 3) flags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01000" y="5074920"/>
            <a:ext cx="363931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507492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more features · dataset grows to 100 columns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STEP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Dropping IDs, Names and Raw Dates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040880" cy="3246120"/>
          </a:xfrm>
          <a:prstGeom prst="roundRect">
            <a:avLst>
              <a:gd name="adj" fmla="val 2254"/>
            </a:avLst>
          </a:prstGeom>
          <a:solidFill>
            <a:srgbClr val="F6F8FA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04088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72768"/>
            <a:ext cx="164592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Data_Preprocessing.ipynb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pandas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65960"/>
            <a:ext cx="7315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[24]: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965960"/>
            <a:ext cx="5989320" cy="256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Columns to drop: IDs, free-text names, phone numbers, addresses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cols_to_drop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[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'encounter_id'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'patient_id'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'clinical_record_id'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'bill_id'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'first_name'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'last_name'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'contact_phone'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'emergency_contact_phone'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'street_address'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'insurance_policy_id'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'attending_physician_id'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'previous_encounter_id'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'primary_diagnosis_code'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'secondary_diagnosis_code'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'primary_procedure_code'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'primary_diagnosis_name'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'primary_procedure_name'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Drop original date columns (features already extracted)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'date_of_birth'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'registration_date'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'billing_date'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'admission_datetime'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'discharge_datetime'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cols_to_drop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[c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cols_to_drop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 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columns]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drop(columns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cols_to_drop, inplace</a:t>
            </a:r>
            <a:r>
              <a:rPr lang="en-US" sz="10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=True</a:t>
            </a:r>
            <a:r>
              <a:rPr lang="en-US" sz="10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148132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1892808"/>
            <a:ext cx="36393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IDs, names, phone numbers and addresses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codes whose readable names are kept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date columns go, because their features are already extracted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1000" y="5074920"/>
            <a:ext cx="363931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507492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columns dropped · 13,214 rows × 78 columns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STEP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Categories as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040880" cy="3166872"/>
          </a:xfrm>
          <a:prstGeom prst="roundRect">
            <a:avLst>
              <a:gd name="adj" fmla="val 2310"/>
            </a:avLst>
          </a:prstGeom>
          <a:solidFill>
            <a:srgbClr val="F6F8FA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04088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72768"/>
            <a:ext cx="164592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Data_Preprocessing.ipynb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pandas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65960"/>
            <a:ext cx="73152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[27]: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965960"/>
            <a:ext cx="5989320" cy="1882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Define ordinal mappings with explicit order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ordinal_mappings 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'disease_severity'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[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'Mild'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'Moderate'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'Severe'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'Critical'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'procedure_complexity'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[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'Minor'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'Moderate'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'Major'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'High-Complexity'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'socioeconomic_tier'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[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'Low'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'Middle'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'High'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'bmi_category'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[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'Underweight'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'Normal'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'Overweight'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'Obese'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'age_group'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[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'Pediatric'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'Young Adult'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'Middle Aged'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'Senior'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'Elderly'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col, order 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ordinal_mappings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items():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col 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columns: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df[col] 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df[col]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</a:t>
            </a:r>
            <a:r>
              <a:rPr lang="en-US" sz="9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mapping 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{val: idx 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idx, val 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(order)}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df[col] 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df[col]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map(mapping)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</a:t>
            </a:r>
            <a:r>
              <a:rPr lang="en-US" sz="9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1520" y="3902964"/>
            <a:ext cx="6675120" cy="0"/>
          </a:xfrm>
          <a:prstGeom prst="line">
            <a:avLst/>
          </a:prstGeom>
          <a:noFill/>
          <a:ln w="9525">
            <a:solidFill>
              <a:srgbClr val="DCE5E8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685800" y="4012692"/>
            <a:ext cx="73152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[28]: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4012692"/>
            <a:ext cx="598932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Remaining text columns -&gt; One-Hot (drop_first avoids multicollinearity)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onehot_cols 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select_dtypes(include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'object'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'string'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tolist()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 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pd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get_dummies(df, columns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onehot_cols, drop_first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=True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dtype</a:t>
            </a:r>
            <a:r>
              <a:rPr lang="en-US" sz="9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148132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1892808"/>
            <a:ext cx="36393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for 5 ordered columns, e.g. Mild 0 → Critical 3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for 15 nominal columns such as department and insurer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 removes one dummy per column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01000" y="5074920"/>
            <a:ext cx="3639312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5074920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4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is now numeric · 13,214 rows × 119 columns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STEP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Min-Max Scaling and Two Output Files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040880" cy="2016252"/>
          </a:xfrm>
          <a:prstGeom prst="roundRect">
            <a:avLst>
              <a:gd name="adj" fmla="val 3628"/>
            </a:avLst>
          </a:prstGeom>
          <a:solidFill>
            <a:srgbClr val="F6F8FA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040880" cy="0"/>
          </a:xfrm>
          <a:prstGeom prst="line">
            <a:avLst/>
          </a:prstGeom>
          <a:noFill/>
          <a:ln w="12700">
            <a:solidFill>
              <a:srgbClr val="DCE5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72768"/>
            <a:ext cx="164592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Data_Preprocessing.ipynb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pandas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65960"/>
            <a:ext cx="73152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[29]: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965960"/>
            <a:ext cx="5989320" cy="103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20"/>
              </a:lnSpc>
              <a:buNone/>
            </a:pPr>
            <a:r>
              <a:rPr lang="en-US" sz="85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One-hot columns are already 0/1, so only scale real numeric features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binary_and_encoded_cols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[c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df[c]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nunique()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850" dirty="0">
                <a:solidFill>
                  <a:srgbClr val="055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num_cols_to_normalize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[c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df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select_dtypes(include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'int64'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'float64'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binary_and_encoded_cols]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MinMaxScaler()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df[num_cols_to_normalize] 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scaler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fit_transform(df[num_cols_to_normalize])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3057144"/>
            <a:ext cx="6675120" cy="0"/>
          </a:xfrm>
          <a:prstGeom prst="line">
            <a:avLst/>
          </a:prstGeom>
          <a:noFill/>
          <a:ln w="9525">
            <a:solidFill>
              <a:srgbClr val="DCE5E8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685800" y="3166872"/>
            <a:ext cx="73152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[31]: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3166872"/>
            <a:ext cx="5989320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to_csv(</a:t>
            </a:r>
            <a:r>
              <a:rPr lang="en-US" sz="850" dirty="0">
                <a:solidFill>
                  <a:srgbClr val="0A3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'data/preprocessed_full_encoded.csv'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index</a:t>
            </a: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=False</a:t>
            </a:r>
            <a:r>
              <a:rPr lang="en-US" sz="850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148132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1892808"/>
            <a:ext cx="36393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48 numeric columns to the 0–1 range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0/1 columns because they are already on that scale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one file for modelling and one for dashboards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572000"/>
            <a:ext cx="5413248" cy="1600200"/>
          </a:xfrm>
          <a:prstGeom prst="roundRect">
            <a:avLst>
              <a:gd name="adj" fmla="val 6857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preprocessed_full_encoded.csv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1023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13,214 × 119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577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numeric: encoded and scaled. Ready for machine learning.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27064" y="4572000"/>
            <a:ext cx="5413248" cy="1600200"/>
          </a:xfrm>
          <a:prstGeom prst="roundRect">
            <a:avLst>
              <a:gd name="adj" fmla="val 6857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01384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preprocessed_categorical_preserved.csv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501384" y="51023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13,214 × 78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501384" y="5577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categories kept readable. Used as the Tableau data source.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Dataset Changed, Step by Step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76656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4630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9144000" y="1463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left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0" y="26517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0" y="265176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0" y="2651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0" y="384048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38404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3840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engineered features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772400" y="502920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50292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0" y="5029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output files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291840"/>
            <a:ext cx="4206240" cy="4206240"/>
          </a:xfrm>
          <a:prstGeom prst="ellipse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dashboards, one hospital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2801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Dashboards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87752" cy="4709160"/>
          </a:xfrm>
          <a:prstGeom prst="roundRect">
            <a:avLst>
              <a:gd name="adj" fmla="val 424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562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6032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163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Command Center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11880"/>
            <a:ext cx="2221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urgency treemap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workload &amp; ICU rate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 type donut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heatmap (day × hour)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0" y="1463040"/>
            <a:ext cx="2587752" cy="4709160"/>
          </a:xfrm>
          <a:prstGeom prst="roundRect">
            <a:avLst>
              <a:gd name="adj" fmla="val 424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11880" y="169164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18562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1880" y="256032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28163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Revenue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3611880"/>
            <a:ext cx="2221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Pareto by disease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mix by department (100%)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waterfall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Out-of-pocket vs cost per day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17920" y="1463040"/>
            <a:ext cx="2587752" cy="4709160"/>
          </a:xfrm>
          <a:prstGeom prst="roundRect">
            <a:avLst>
              <a:gd name="adj" fmla="val 424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46520" y="169164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185623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256032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QUALITY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28163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Safety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446520" y="3611880"/>
            <a:ext cx="2221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&amp; mortality by disease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risk matrix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Acuity risk quadrants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 by discharge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052560" y="1463040"/>
            <a:ext cx="2587752" cy="4709160"/>
          </a:xfrm>
          <a:prstGeom prst="roundRect">
            <a:avLst>
              <a:gd name="adj" fmla="val 424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81160" y="169164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5752" y="185623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81160" y="256032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281160" y="28163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Claims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9281160" y="3611880"/>
            <a:ext cx="2221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rate by payer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reason treemap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× payment matrix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ratio by payer</a:t>
            </a:r>
            <a:endParaRPr lang="en-US" sz="12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· HOSPITAL COMMAND CENTER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Medicine Handles 37% of All Encounters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13,214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encounters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138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90138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538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81578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admissions (4.1%)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1636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5.76 days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323076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 of stay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3134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3134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3,732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164574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admissions (28.2%)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2743200"/>
          <a:ext cx="69494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7909560" y="2788920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shows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3200400"/>
            <a:ext cx="37307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 sees 4,918 encounters, more than the next two departments combined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41%, inpatient 37%, emergency 22%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ICU department has the highest ICU admission rate (7.7%)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· HOSPITAL REVENUE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Disease Groups Bring In 62% of Revenue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$246.2M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billed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138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90138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$170.5M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81578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billed after discounts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1636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$26.0M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323076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outstanding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3134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3134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$18,630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164574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bill per encounter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2743200"/>
          <a:ext cx="69494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7909560" y="2788920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shows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3200400"/>
            <a:ext cx="37307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Infectious, oncology and cardiovascular cases make up 61.6% of gross revenue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and procedures are the largest cost type (42%), then room and board (33%)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cover $113.8M; patients have paid $30.8M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· HOSPITAL SAFETY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 Encounters Ends in a 30-Day Readmission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4,364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readmissions (33.0%)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138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90138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1,334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81578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in-hospital deaths (10.1%)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1636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323076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hospital-acquired infections (2.7%)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3134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3134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4,393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164574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 with high-risk medicines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2743200"/>
          <a:ext cx="69494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7909560" y="2788920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shows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3200400"/>
            <a:ext cx="37307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and trauma patients return most often (44.7%)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and infectious cases also have the highest death rates (22.6% and 22.1%)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1,229 encounters fall in the critical-risk quadrant (high comorbidity and high NEWS2)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 · HOSPITAL CLAIMS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1,541 Claims Were Rejected, Worth $39.2M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10,686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approved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138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90138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1,541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81578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rejected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1636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$39.2M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323076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rejected claims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3134" y="1463040"/>
            <a:ext cx="2567178" cy="1051560"/>
          </a:xfrm>
          <a:prstGeom prst="roundRect">
            <a:avLst>
              <a:gd name="adj" fmla="val 10435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3134" y="1627632"/>
            <a:ext cx="256717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987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164574" y="2115007"/>
            <a:ext cx="238429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self-pay, no claim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2743200"/>
          <a:ext cx="69494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7909560" y="2788920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shows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3200400"/>
            <a:ext cx="37307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12.6% of insurance claims are rejected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prior authorisation is the top reason (490 of 1,541)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and Medicaid have the highest denial rate (13%), Kaiser the lowest (11.7%)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This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38728" cy="2194560"/>
          </a:xfrm>
          <a:prstGeom prst="roundRect">
            <a:avLst>
              <a:gd name="adj" fmla="val 500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6032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Administrators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44368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beds, staff and ICU capacity from department workload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5112" y="1463040"/>
            <a:ext cx="3538728" cy="2194560"/>
          </a:xfrm>
          <a:prstGeom prst="roundRect">
            <a:avLst>
              <a:gd name="adj" fmla="val 500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17373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882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9432" y="256032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 &amp; Nursing Teams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2944368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high-risk patients with the acuity quadrants and risk flags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1584" y="1463040"/>
            <a:ext cx="3538728" cy="2194560"/>
          </a:xfrm>
          <a:prstGeom prst="roundRect">
            <a:avLst>
              <a:gd name="adj" fmla="val 500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75904" y="17373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354" y="1908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75904" y="256032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Billing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75904" y="2944368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revenue, discounts and outstanding balances by disease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38728" cy="2194560"/>
          </a:xfrm>
          <a:prstGeom prst="roundRect">
            <a:avLst>
              <a:gd name="adj" fmla="val 500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" y="433197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49834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&amp; Insurance Teams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367528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rejections by fixing prior-authorisation and coding errors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25112" y="3886200"/>
            <a:ext cx="3538728" cy="2194560"/>
          </a:xfrm>
          <a:prstGeom prst="roundRect">
            <a:avLst>
              <a:gd name="adj" fmla="val 500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41605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0882" y="433197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99432" y="49834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Patient Safety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99432" y="5367528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readmissions, infections and in-hospital deaths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01584" y="3886200"/>
            <a:ext cx="3538728" cy="2194560"/>
          </a:xfrm>
          <a:prstGeom prst="roundRect">
            <a:avLst>
              <a:gd name="adj" fmla="val 500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75904" y="41605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7354" y="433197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75904" y="49834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Policy Makers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75904" y="5367528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insurer coverage and out-of-pocket costs for patients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KPIs and How They Are Calculated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44577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calculation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(all data)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Encounters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COUNT(rows)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 Admissions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SUM(icu_admitted)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Stay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SUM(length_of_stay_days_actual)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76,063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Admissions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SUM(is_weekend_admission)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SUM(gross_total_usd)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$246.2M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Billed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SUM(net_billed_usd)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$170.5M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Outstanding 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SUM(outstanding_balance_usd)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Readmissions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SUM(readmission_30d)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In-Hospital Deaths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SUM(mortality_flag)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Infections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SUM(has_hai_flag)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/ Rejected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SUM(claim_is_approved) / SUM(claim_is_denied)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10,686 / 1,541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SUM(denied_amount_usd)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$39.2M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3248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18488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Merged into one clean table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93392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13,214 encounters, 0 missing values, 2 output files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7064" y="1463040"/>
            <a:ext cx="5413248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5664" y="16916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32904" y="1618488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Medicine is the busiest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32904" y="1993392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of all encounters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5413248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2807208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average under a week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182112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days; 4.1% of encounters need the ICU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27064" y="2651760"/>
            <a:ext cx="5413248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28803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55664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2807208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concentrated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3182112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disease groups give 61.6% of $246.2M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5413248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3995928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Surgery drives costs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4370832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gross charges are procedures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27064" y="3840480"/>
            <a:ext cx="5413248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5664" y="40690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55664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232904" y="3995928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Readmissions are high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232904" y="4370832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33.0% return within 30 days; oncology 44.7%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029200"/>
            <a:ext cx="5413248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554480" y="5184648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Trauma is the riskiest group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554480" y="5559552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 mortality and 44.7% readmission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27064" y="5029200"/>
            <a:ext cx="5413248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55664" y="52578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55664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232904" y="5184648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leak money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5559552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1,541 rejected claims worth $39.2M</a:t>
            </a:r>
            <a:endParaRPr lang="en-US" sz="13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Notes and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 to keep in mind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21992"/>
            <a:ext cx="384048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10312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Denial reason was mode-filled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4688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claims now read "Prior Authorization Missing", so we count reasons for rejected claims only.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93592"/>
            <a:ext cx="384048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347472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admission times are 00:00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38404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5,523 records have no real time, so the hourly heatmap peaks at midnight.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70916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65192"/>
            <a:ext cx="384048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484632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Scaled values need real units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52120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adds _actual and _usd columns so charts show days and dollars, not 0–1 values.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do next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6355080" y="1965960"/>
            <a:ext cx="5285232" cy="1188720"/>
          </a:xfrm>
          <a:prstGeom prst="roundRect">
            <a:avLst>
              <a:gd name="adj" fmla="val 9231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83680" y="22402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5836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2103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readmissions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7269480" y="24688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on preprocessed_full_encoded.csv to flag patients likely to return within 30 days.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355080" y="3337560"/>
            <a:ext cx="5285232" cy="1188720"/>
          </a:xfrm>
          <a:prstGeom prst="roundRect">
            <a:avLst>
              <a:gd name="adj" fmla="val 9231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83680" y="36118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5836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7269480" y="3474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claim rejections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7269480" y="38404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prior authorisation and CPT–ICD coding before submitting claims to Medicare and Medicaid.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355080" y="4709160"/>
            <a:ext cx="5285232" cy="1188720"/>
          </a:xfrm>
          <a:prstGeom prst="roundRect">
            <a:avLst>
              <a:gd name="adj" fmla="val 9231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583680" y="49834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5836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7269480" y="4846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data at the source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7269480" y="5212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denial reason blank for approved claims and record real admission times.</a:t>
            </a:r>
            <a:endParaRPr lang="en-US" sz="12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Pipeline as a KNIME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pic>
        <p:nvPicPr>
          <p:cNvPr id="5" name="Image 0" descr="kn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463040"/>
            <a:ext cx="1028700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13248"/>
            <a:ext cx="3538728" cy="868680"/>
          </a:xfrm>
          <a:prstGeom prst="roundRect">
            <a:avLst>
              <a:gd name="adj" fmla="val 12632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56235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546811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join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5733288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CSV Readers and 4 Joiners merge the tables; GroupBy summarises pharmacy first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5413248"/>
            <a:ext cx="3538728" cy="868680"/>
          </a:xfrm>
          <a:prstGeom prst="roundRect">
            <a:avLst>
              <a:gd name="adj" fmla="val 12632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07992" y="5623560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07992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102352" y="546811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convert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102352" y="5733288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fills the gaps, then two String to Date&amp;Time nodes turn text into real dates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101584" y="5413248"/>
            <a:ext cx="3538728" cy="868680"/>
          </a:xfrm>
          <a:prstGeom prst="roundRect">
            <a:avLst>
              <a:gd name="adj" fmla="val 12632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562356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4464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878824" y="546811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&amp; save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878824" y="5733288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Date&amp;Time Part Extractor adds year, month, day and hour; CSV Writer saves the clean file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291840"/>
            <a:ext cx="4206240" cy="4206240"/>
          </a:xfrm>
          <a:prstGeom prst="ellipse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43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Analysis  ·  3CS103ME24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4530</Words>
  <Application>Microsoft Office PowerPoint</Application>
  <PresentationFormat>Widescreen</PresentationFormat>
  <Paragraphs>577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 Analysis</dc:title>
  <dc:subject>PptxGenJS Presentation</dc:subject>
  <dc:creator>PptxGenJS</dc:creator>
  <cp:lastModifiedBy>Ziyankhan Pathan</cp:lastModifiedBy>
  <cp:revision>2</cp:revision>
  <dcterms:created xsi:type="dcterms:W3CDTF">2026-10-14T10:09:20Z</dcterms:created>
  <dcterms:modified xsi:type="dcterms:W3CDTF">2026-10-14T10:18:40Z</dcterms:modified>
</cp:coreProperties>
</file>
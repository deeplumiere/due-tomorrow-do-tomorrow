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4"/>
  </p:sldMasterIdLst>
  <p:notesMasterIdLst>
    <p:notesMasterId r:id="rId15"/>
  </p:notesMasterIdLst>
  <p:handoutMasterIdLst>
    <p:handoutMasterId r:id="rId16"/>
  </p:handoutMasterIdLst>
  <p:sldIdLst>
    <p:sldId id="260" r:id="rId5"/>
    <p:sldId id="261" r:id="rId6"/>
    <p:sldId id="263" r:id="rId7"/>
    <p:sldId id="264" r:id="rId8"/>
    <p:sldId id="265" r:id="rId9"/>
    <p:sldId id="267" r:id="rId10"/>
    <p:sldId id="268" r:id="rId11"/>
    <p:sldId id="269" r:id="rId12"/>
    <p:sldId id="270"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28"/>
  </p:normalViewPr>
  <p:slideViewPr>
    <p:cSldViewPr snapToGrid="0">
      <p:cViewPr varScale="1">
        <p:scale>
          <a:sx n="76" d="100"/>
          <a:sy n="76" d="100"/>
        </p:scale>
        <p:origin x="260" y="5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10/17/2026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1384952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endParaRPr lang="en-US" dirty="0"/>
          </a:p>
        </p:txBody>
      </p:sp>
    </p:spTree>
    <p:extLst>
      <p:ext uri="{BB962C8B-B14F-4D97-AF65-F5344CB8AC3E}">
        <p14:creationId xmlns:p14="http://schemas.microsoft.com/office/powerpoint/2010/main" val="93857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746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7588863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7910985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747729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59772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055004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454834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43596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743663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9683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24535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a:t>Click to edit Master title style</a:t>
            </a:r>
            <a:endParaRPr lang="en-US" dirty="0"/>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dirty="0"/>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550141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7712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dirty="0"/>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71439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67531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514677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07697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lvl1pPr>
              <a:defRPr sz="24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249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4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78864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23631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23286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dirty="0"/>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3162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dirty="0"/>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56995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962720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77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0478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9627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1398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500434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189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05788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83207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2145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dirty="0"/>
              <a:t>##%</a:t>
            </a:r>
          </a:p>
        </p:txBody>
      </p:sp>
    </p:spTree>
    <p:extLst>
      <p:ext uri="{BB962C8B-B14F-4D97-AF65-F5344CB8AC3E}">
        <p14:creationId xmlns:p14="http://schemas.microsoft.com/office/powerpoint/2010/main" val="162670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dirty="0"/>
              <a:t>##%</a:t>
            </a:r>
          </a:p>
        </p:txBody>
      </p:sp>
    </p:spTree>
    <p:extLst>
      <p:ext uri="{BB962C8B-B14F-4D97-AF65-F5344CB8AC3E}">
        <p14:creationId xmlns:p14="http://schemas.microsoft.com/office/powerpoint/2010/main" val="31429174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300386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687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90131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4168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9104863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548248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dirty="0"/>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9709600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124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82965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538392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9788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206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32774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8593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59206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9491445"/>
      </p:ext>
    </p:extLst>
  </p:cSld>
  <p:clrMap bg1="dk1" tx1="lt1" bg2="dk2" tx2="lt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 id="2147484044" r:id="rId33"/>
    <p:sldLayoutId id="2147484045" r:id="rId34"/>
    <p:sldLayoutId id="2147484046" r:id="rId35"/>
    <p:sldLayoutId id="2147484047" r:id="rId36"/>
    <p:sldLayoutId id="2147484048" r:id="rId37"/>
    <p:sldLayoutId id="2147484049" r:id="rId38"/>
    <p:sldLayoutId id="2147484050" r:id="rId39"/>
    <p:sldLayoutId id="2147484051" r:id="rId40"/>
    <p:sldLayoutId id="2147484052" r:id="rId41"/>
    <p:sldLayoutId id="2147484053" r:id="rId42"/>
    <p:sldLayoutId id="2147484054" r:id="rId43"/>
    <p:sldLayoutId id="2147484055" r:id="rId44"/>
    <p:sldLayoutId id="2147484056" r:id="rId45"/>
    <p:sldLayoutId id="2147484057" r:id="rId46"/>
    <p:sldLayoutId id="2147484058" r:id="rId47"/>
    <p:sldLayoutId id="2147484059" r:id="rId48"/>
    <p:sldLayoutId id="2147484060" r:id="rId49"/>
    <p:sldLayoutId id="2147484061" r:id="rId50"/>
    <p:sldLayoutId id="2147484062" r:id="rId51"/>
    <p:sldLayoutId id="2147484063" r:id="rId52"/>
  </p:sldLayoutIdLst>
  <p:hf sldNum="0" hdr="0" ft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6248400" y="2819400"/>
            <a:ext cx="5029200" cy="1295400"/>
          </a:xfrm>
        </p:spPr>
        <p:txBody>
          <a:bodyPr>
            <a:normAutofit fontScale="90000"/>
          </a:bodyPr>
          <a:lstStyle/>
          <a:p>
            <a:r>
              <a:rPr lang="en-US" dirty="0"/>
              <a:t>OCR +LLM Based Data extraction from documents</a:t>
            </a:r>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6248400" y="4270248"/>
            <a:ext cx="5029200" cy="685800"/>
          </a:xfrm>
        </p:spPr>
        <p:txBody>
          <a:bodyPr>
            <a:normAutofit fontScale="85000" lnSpcReduction="20000"/>
          </a:bodyPr>
          <a:lstStyle/>
          <a:p>
            <a:r>
              <a:rPr lang="en-US" dirty="0"/>
              <a:t>Machine Learning [3CS101CC24]</a:t>
            </a:r>
          </a:p>
          <a:p>
            <a:r>
              <a:rPr lang="en-US" dirty="0"/>
              <a:t>By: Deep Joshi [24BCE152]</a:t>
            </a:r>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F782-0922-B340-F8C3-DAE84CF85F61}"/>
              </a:ext>
            </a:extLst>
          </p:cNvPr>
          <p:cNvSpPr>
            <a:spLocks noGrp="1"/>
          </p:cNvSpPr>
          <p:nvPr>
            <p:ph type="ctrTitle"/>
          </p:nvPr>
        </p:nvSpPr>
        <p:spPr>
          <a:xfrm>
            <a:off x="6058619" y="609602"/>
            <a:ext cx="5447581" cy="774582"/>
          </a:xfrm>
        </p:spPr>
        <p:txBody>
          <a:bodyPr/>
          <a:lstStyle/>
          <a:p>
            <a:r>
              <a:rPr lang="en-US" dirty="0"/>
              <a:t>Core concept</a:t>
            </a:r>
          </a:p>
        </p:txBody>
      </p:sp>
      <p:sp>
        <p:nvSpPr>
          <p:cNvPr id="3" name="Subtitle 2">
            <a:extLst>
              <a:ext uri="{FF2B5EF4-FFF2-40B4-BE49-F238E27FC236}">
                <a16:creationId xmlns:a16="http://schemas.microsoft.com/office/drawing/2014/main" id="{1BE3C44B-58EF-74E0-DC0A-59BE61EEC85E}"/>
              </a:ext>
            </a:extLst>
          </p:cNvPr>
          <p:cNvSpPr>
            <a:spLocks noGrp="1"/>
          </p:cNvSpPr>
          <p:nvPr>
            <p:ph type="subTitle" idx="1"/>
          </p:nvPr>
        </p:nvSpPr>
        <p:spPr>
          <a:xfrm>
            <a:off x="6058618" y="1728132"/>
            <a:ext cx="5447582" cy="4520268"/>
          </a:xfrm>
        </p:spPr>
        <p:txBody>
          <a:bodyPr anchor="t"/>
          <a:lstStyle/>
          <a:p>
            <a:r>
              <a:rPr lang="en-US"/>
              <a:t>Automated document processing systems in finance and logistics frequently use Optical Character Recognition (OCR) combined with Large Language Models (LLMs) to convert unstructured invoices and receipts into structured database rows. However, </a:t>
            </a:r>
            <a:r>
              <a:rPr lang="en-US" b="1"/>
              <a:t>generative vision-language models frequently hallucinate values, transpose digits, misalign line items, or miss discounts, without providing calibrated confidence estimates</a:t>
            </a:r>
            <a:r>
              <a:rPr lang="en-US"/>
              <a:t>. In enterprise accounting, accepting an unverified hallucination causes tax non-compliance, ledger imbalances, and financial audit penalties.</a:t>
            </a:r>
            <a:endParaRPr lang="en-US" dirty="0"/>
          </a:p>
        </p:txBody>
      </p:sp>
      <p:pic>
        <p:nvPicPr>
          <p:cNvPr id="6" name="Picture Placeholder 5">
            <a:extLst>
              <a:ext uri="{FF2B5EF4-FFF2-40B4-BE49-F238E27FC236}">
                <a16:creationId xmlns:a16="http://schemas.microsoft.com/office/drawing/2014/main" id="{863C46F3-7E1B-9FB5-9C06-DD4CB89790C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77" t="15385" r="2259" b="13625"/>
          <a:stretch>
            <a:fillRect/>
          </a:stretch>
        </p:blipFill>
        <p:spPr>
          <a:xfrm>
            <a:off x="670482" y="609600"/>
            <a:ext cx="4935358" cy="5638800"/>
          </a:xfrm>
          <a:prstGeom prst="rect">
            <a:avLst/>
          </a:prstGeom>
          <a:blipFill>
            <a:blip r:embed="rId3">
              <a:alphaModFix amt="60000"/>
              <a:extLst>
                <a:ext uri="{28A0092B-C50C-407E-A947-70E740481C1C}">
                  <a14:useLocalDpi xmlns:a14="http://schemas.microsoft.com/office/drawing/2010/main" val="0"/>
                </a:ext>
              </a:extLst>
            </a:blip>
            <a:srcRect/>
            <a:stretch>
              <a:fillRect l="-50202" r="-50202"/>
            </a:stretch>
          </a:blipFill>
        </p:spPr>
      </p:pic>
    </p:spTree>
    <p:extLst>
      <p:ext uri="{BB962C8B-B14F-4D97-AF65-F5344CB8AC3E}">
        <p14:creationId xmlns:p14="http://schemas.microsoft.com/office/powerpoint/2010/main" val="1479108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9EC509-4A18-2770-F4D4-34DEE94C8426}"/>
              </a:ext>
            </a:extLst>
          </p:cNvPr>
          <p:cNvSpPr txBox="1">
            <a:spLocks/>
          </p:cNvSpPr>
          <p:nvPr/>
        </p:nvSpPr>
        <p:spPr>
          <a:xfrm>
            <a:off x="678871" y="685800"/>
            <a:ext cx="10827330" cy="985966"/>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lang="en-US" sz="4000" b="0" kern="1200" cap="all" spc="600" baseline="0" dirty="0">
                <a:solidFill>
                  <a:schemeClr val="tx1"/>
                </a:solidFill>
                <a:latin typeface="+mj-lt"/>
                <a:ea typeface="+mj-ea"/>
                <a:cs typeface="+mj-cs"/>
              </a:defRPr>
            </a:lvl1pPr>
          </a:lstStyle>
          <a:p>
            <a:r>
              <a:rPr lang="en-US"/>
              <a:t>The Document Processing Platform</a:t>
            </a:r>
          </a:p>
        </p:txBody>
      </p:sp>
      <p:pic>
        <p:nvPicPr>
          <p:cNvPr id="6" name="Picture Placeholder 5" descr="A screenshot of a computer&#10;&#10;AI-generated content may be incorrect.">
            <a:extLst>
              <a:ext uri="{FF2B5EF4-FFF2-40B4-BE49-F238E27FC236}">
                <a16:creationId xmlns:a16="http://schemas.microsoft.com/office/drawing/2014/main" id="{7EBE8F8B-ABAD-EBDC-0160-14052C11AAFD}"/>
              </a:ext>
            </a:extLst>
          </p:cNvPr>
          <p:cNvPicPr>
            <a:picLocks noGrp="1" noChangeAspect="1"/>
          </p:cNvPicPr>
          <p:nvPr>
            <p:ph type="pic" sz="quarter" idx="13"/>
          </p:nvPr>
        </p:nvPicPr>
        <p:blipFill>
          <a:blip r:embed="rId2"/>
          <a:srcRect/>
          <a:stretch>
            <a:fillRect/>
          </a:stretch>
        </p:blipFill>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a:alphaModFix amt="60000"/>
              <a:extLst>
                <a:ext uri="{28A0092B-C50C-407E-A947-70E740481C1C}">
                  <a14:useLocalDpi xmlns:a14="http://schemas.microsoft.com/office/drawing/2010/main" val="0"/>
                </a:ext>
              </a:extLst>
            </a:blip>
            <a:srcRect/>
            <a:stretch>
              <a:fillRect l="-8731" r="-8731"/>
            </a:stretch>
          </a:blipFill>
        </p:spPr>
      </p:pic>
      <p:sp>
        <p:nvSpPr>
          <p:cNvPr id="7" name="Content Placeholder 3">
            <a:extLst>
              <a:ext uri="{FF2B5EF4-FFF2-40B4-BE49-F238E27FC236}">
                <a16:creationId xmlns:a16="http://schemas.microsoft.com/office/drawing/2014/main" id="{9D7903F6-4FFA-7D4F-B7D5-C902F3C0ACD1}"/>
              </a:ext>
            </a:extLst>
          </p:cNvPr>
          <p:cNvSpPr txBox="1">
            <a:spLocks/>
          </p:cNvSpPr>
          <p:nvPr/>
        </p:nvSpPr>
        <p:spPr>
          <a:xfrm>
            <a:off x="7848599" y="2147581"/>
            <a:ext cx="3657601" cy="4015475"/>
          </a:xfrm>
          <a:prstGeom prst="rect">
            <a:avLst/>
          </a:prstGeom>
        </p:spPr>
        <p:txBody>
          <a:bodyPr/>
          <a:lst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Upload the Image (PNG/JPG) or Document (PDF)</a:t>
            </a:r>
          </a:p>
          <a:p>
            <a:r>
              <a:rPr lang="en-US" dirty="0"/>
              <a:t>OCR Based extraction using </a:t>
            </a:r>
            <a:r>
              <a:rPr lang="en-US" b="1" dirty="0" err="1"/>
              <a:t>Docling+RapidOCR</a:t>
            </a:r>
            <a:endParaRPr lang="en-US" b="1" dirty="0"/>
          </a:p>
          <a:p>
            <a:r>
              <a:rPr lang="en-US" dirty="0"/>
              <a:t>The extracted content is formatted using </a:t>
            </a:r>
            <a:r>
              <a:rPr lang="en-US" b="1" dirty="0"/>
              <a:t>Gemma 3n:2b</a:t>
            </a:r>
            <a:r>
              <a:rPr lang="en-US" dirty="0"/>
              <a:t> in JSON format</a:t>
            </a:r>
          </a:p>
          <a:p>
            <a:r>
              <a:rPr lang="en-US" dirty="0"/>
              <a:t>Verify the generated JSON with the text extracted for approval</a:t>
            </a:r>
          </a:p>
          <a:p>
            <a:r>
              <a:rPr lang="en-US" dirty="0"/>
              <a:t>Uses </a:t>
            </a:r>
            <a:r>
              <a:rPr lang="en-US" b="1" dirty="0"/>
              <a:t>Histogram Gradient Boosting</a:t>
            </a:r>
            <a:r>
              <a:rPr lang="en-US" dirty="0"/>
              <a:t> for approval/review</a:t>
            </a:r>
          </a:p>
          <a:p>
            <a:r>
              <a:rPr lang="en-US" dirty="0"/>
              <a:t>Store data in </a:t>
            </a:r>
            <a:r>
              <a:rPr lang="en-US" b="1" dirty="0"/>
              <a:t>Parquet </a:t>
            </a:r>
            <a:r>
              <a:rPr lang="en-US" dirty="0"/>
              <a:t>form</a:t>
            </a:r>
          </a:p>
        </p:txBody>
      </p:sp>
    </p:spTree>
    <p:extLst>
      <p:ext uri="{BB962C8B-B14F-4D97-AF65-F5344CB8AC3E}">
        <p14:creationId xmlns:p14="http://schemas.microsoft.com/office/powerpoint/2010/main" val="324409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D316A-0770-D626-7A55-3FB6A319EAB6}"/>
              </a:ext>
            </a:extLst>
          </p:cNvPr>
          <p:cNvSpPr>
            <a:spLocks noGrp="1"/>
          </p:cNvSpPr>
          <p:nvPr>
            <p:ph type="title"/>
          </p:nvPr>
        </p:nvSpPr>
        <p:spPr>
          <a:xfrm>
            <a:off x="716209" y="5247430"/>
            <a:ext cx="10759580" cy="833330"/>
          </a:xfrm>
        </p:spPr>
        <p:txBody>
          <a:bodyPr anchor="t">
            <a:noAutofit/>
          </a:bodyPr>
          <a:lstStyle/>
          <a:p>
            <a:pPr algn="ctr"/>
            <a:r>
              <a:rPr lang="en-US" sz="4000" dirty="0"/>
              <a:t>The Dataset: </a:t>
            </a:r>
            <a:r>
              <a:rPr lang="en-US" sz="4000" dirty="0" err="1"/>
              <a:t>CloveAI’s</a:t>
            </a:r>
            <a:r>
              <a:rPr lang="en-US" sz="4000" dirty="0"/>
              <a:t> CORD DATASET</a:t>
            </a:r>
          </a:p>
        </p:txBody>
      </p:sp>
      <p:pic>
        <p:nvPicPr>
          <p:cNvPr id="2056" name="Picture 8" descr="A screen shot of a computer screen&#10;&#10;AI-generated content may be incorrect.">
            <a:extLst>
              <a:ext uri="{FF2B5EF4-FFF2-40B4-BE49-F238E27FC236}">
                <a16:creationId xmlns:a16="http://schemas.microsoft.com/office/drawing/2014/main" id="{DB2E2FF6-C3FF-51F5-AD5E-FC2F837C6C3E}"/>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bwMode="auto">
          <a:xfrm>
            <a:off x="1802628" y="417593"/>
            <a:ext cx="8586743" cy="461543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04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31F55-C6A2-E730-3957-B2CB79A92B50}"/>
              </a:ext>
            </a:extLst>
          </p:cNvPr>
          <p:cNvSpPr>
            <a:spLocks noGrp="1"/>
          </p:cNvSpPr>
          <p:nvPr>
            <p:ph type="title"/>
          </p:nvPr>
        </p:nvSpPr>
        <p:spPr/>
        <p:txBody>
          <a:bodyPr/>
          <a:lstStyle/>
          <a:p>
            <a:r>
              <a:rPr lang="en-US" dirty="0" err="1"/>
              <a:t>DaTA</a:t>
            </a:r>
            <a:r>
              <a:rPr lang="en-US" dirty="0"/>
              <a:t> Processing</a:t>
            </a:r>
          </a:p>
        </p:txBody>
      </p:sp>
      <p:sp>
        <p:nvSpPr>
          <p:cNvPr id="3" name="Content Placeholder 2">
            <a:extLst>
              <a:ext uri="{FF2B5EF4-FFF2-40B4-BE49-F238E27FC236}">
                <a16:creationId xmlns:a16="http://schemas.microsoft.com/office/drawing/2014/main" id="{AF4BEACE-CB72-D52C-6C32-9B47814A4E10}"/>
              </a:ext>
            </a:extLst>
          </p:cNvPr>
          <p:cNvSpPr>
            <a:spLocks noGrp="1"/>
          </p:cNvSpPr>
          <p:nvPr>
            <p:ph sz="quarter" idx="13"/>
          </p:nvPr>
        </p:nvSpPr>
        <p:spPr>
          <a:xfrm>
            <a:off x="704084" y="1600200"/>
            <a:ext cx="5735507" cy="4104314"/>
          </a:xfrm>
        </p:spPr>
        <p:txBody>
          <a:bodyPr>
            <a:normAutofit/>
          </a:bodyPr>
          <a:lstStyle/>
          <a:p>
            <a:pPr marL="514350" indent="-285750">
              <a:buFont typeface="Arial" panose="020B0604020202020204" pitchFamily="34" charset="0"/>
              <a:buChar char="•"/>
            </a:pPr>
            <a:r>
              <a:rPr lang="en-US" sz="1600" dirty="0"/>
              <a:t>Access data from: </a:t>
            </a:r>
            <a:r>
              <a:rPr lang="en-US" sz="1600" dirty="0" err="1"/>
              <a:t>naver</a:t>
            </a:r>
            <a:r>
              <a:rPr lang="en-US" sz="1600" dirty="0"/>
              <a:t>-</a:t>
            </a:r>
            <a:r>
              <a:rPr lang="en-US" sz="1600" dirty="0" err="1"/>
              <a:t>clova</a:t>
            </a:r>
            <a:r>
              <a:rPr lang="en-US" sz="1600" dirty="0"/>
              <a:t>-ix/cord-v2 on </a:t>
            </a:r>
            <a:r>
              <a:rPr lang="en-US" sz="1600" dirty="0" err="1"/>
              <a:t>HuggingFace</a:t>
            </a:r>
            <a:endParaRPr lang="en-US" sz="1600" dirty="0"/>
          </a:p>
          <a:p>
            <a:pPr marL="514350" indent="-285750">
              <a:buFont typeface="Arial" panose="020B0604020202020204" pitchFamily="34" charset="0"/>
              <a:buChar char="•"/>
            </a:pPr>
            <a:r>
              <a:rPr lang="en-US" sz="1600" dirty="0"/>
              <a:t>Clean strings, bring </a:t>
            </a:r>
            <a:r>
              <a:rPr lang="en-US" sz="1600" dirty="0" err="1"/>
              <a:t>numericals</a:t>
            </a:r>
            <a:r>
              <a:rPr lang="en-US" sz="1600" dirty="0"/>
              <a:t> to Indonesian Decimal using parser.</a:t>
            </a:r>
          </a:p>
          <a:p>
            <a:pPr marL="514350" indent="-285750">
              <a:buFont typeface="Arial" panose="020B0604020202020204" pitchFamily="34" charset="0"/>
              <a:buChar char="•"/>
            </a:pPr>
            <a:r>
              <a:rPr lang="en-US" sz="1600" dirty="0"/>
              <a:t>Reduced duplicates using </a:t>
            </a:r>
            <a:r>
              <a:rPr lang="en-US" sz="1600" b="1" dirty="0"/>
              <a:t>Optimal Bipartite Hungarian Matching </a:t>
            </a:r>
            <a:r>
              <a:rPr lang="en-US" sz="1600" dirty="0"/>
              <a:t>for text matching scores between OCR extraction and generated JSON to rectify hallucination from Small Language Models like Gemma 3n:2b.</a:t>
            </a:r>
          </a:p>
          <a:p>
            <a:pPr marL="514350" indent="-285750">
              <a:buFont typeface="Arial" panose="020B0604020202020204" pitchFamily="34" charset="0"/>
              <a:buChar char="•"/>
            </a:pPr>
            <a:r>
              <a:rPr lang="en-US" sz="1600" dirty="0"/>
              <a:t>Checking EXIF of uploaded image for orientation correction, Caching using SHA-256 for reuploaded images for faster processing to showcase output from existing data from </a:t>
            </a:r>
            <a:r>
              <a:rPr lang="en-US" sz="1600" b="1" dirty="0"/>
              <a:t>Parquet. </a:t>
            </a:r>
            <a:endParaRPr lang="en-US" sz="1600" dirty="0"/>
          </a:p>
        </p:txBody>
      </p:sp>
    </p:spTree>
    <p:extLst>
      <p:ext uri="{BB962C8B-B14F-4D97-AF65-F5344CB8AC3E}">
        <p14:creationId xmlns:p14="http://schemas.microsoft.com/office/powerpoint/2010/main" val="747238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C81F616-19A0-14BB-80B7-8102CE15950C}"/>
              </a:ext>
            </a:extLst>
          </p:cNvPr>
          <p:cNvSpPr>
            <a:spLocks noGrp="1"/>
          </p:cNvSpPr>
          <p:nvPr>
            <p:ph type="title"/>
          </p:nvPr>
        </p:nvSpPr>
        <p:spPr>
          <a:xfrm>
            <a:off x="1489288" y="353442"/>
            <a:ext cx="8340754" cy="1181744"/>
          </a:xfrm>
        </p:spPr>
        <p:txBody>
          <a:bodyPr>
            <a:noAutofit/>
          </a:bodyPr>
          <a:lstStyle/>
          <a:p>
            <a:pPr algn="ctr"/>
            <a:r>
              <a:rPr lang="en-US" sz="4000" dirty="0"/>
              <a:t>Model Architecture:</a:t>
            </a:r>
            <a:br>
              <a:rPr lang="en-US" sz="4000" dirty="0"/>
            </a:br>
            <a:r>
              <a:rPr lang="en-US" sz="4000" dirty="0"/>
              <a:t>DOCLING+RAPIDOCR</a:t>
            </a:r>
          </a:p>
        </p:txBody>
      </p:sp>
      <p:sp>
        <p:nvSpPr>
          <p:cNvPr id="13" name="Content Placeholder 2">
            <a:extLst>
              <a:ext uri="{FF2B5EF4-FFF2-40B4-BE49-F238E27FC236}">
                <a16:creationId xmlns:a16="http://schemas.microsoft.com/office/drawing/2014/main" id="{C7182659-B4FF-6252-8DDE-0B398373BD75}"/>
              </a:ext>
            </a:extLst>
          </p:cNvPr>
          <p:cNvSpPr>
            <a:spLocks noGrp="1"/>
          </p:cNvSpPr>
          <p:nvPr>
            <p:ph sz="quarter" idx="13"/>
          </p:nvPr>
        </p:nvSpPr>
        <p:spPr>
          <a:xfrm>
            <a:off x="6179890" y="2134604"/>
            <a:ext cx="5181600" cy="3491513"/>
          </a:xfrm>
        </p:spPr>
        <p:txBody>
          <a:bodyPr>
            <a:normAutofit/>
          </a:bodyPr>
          <a:lstStyle/>
          <a:p>
            <a:r>
              <a:rPr lang="en-US" sz="1800" b="1" dirty="0" err="1"/>
              <a:t>Docling</a:t>
            </a:r>
            <a:r>
              <a:rPr lang="en-US" sz="1800" dirty="0"/>
              <a:t> simplifies document processing by parsing diverse formats — including </a:t>
            </a:r>
            <a:r>
              <a:rPr lang="en-US" sz="1800" b="1" dirty="0"/>
              <a:t>advanced PDF understanding</a:t>
            </a:r>
            <a:r>
              <a:rPr lang="en-US" sz="1800" dirty="0"/>
              <a:t> — and providing </a:t>
            </a:r>
            <a:r>
              <a:rPr lang="en-US" sz="1800" b="1" dirty="0"/>
              <a:t>seamless integrations with the generative AI ecosystem</a:t>
            </a:r>
            <a:r>
              <a:rPr lang="en-US" sz="1800" dirty="0"/>
              <a:t>.</a:t>
            </a:r>
          </a:p>
          <a:p>
            <a:r>
              <a:rPr lang="en-US" sz="1800" b="1" dirty="0" err="1"/>
              <a:t>RapidOCR</a:t>
            </a:r>
            <a:r>
              <a:rPr lang="en-US" sz="1800" dirty="0"/>
              <a:t> is a completely open-source, free OCR tool that supports multi-platform, multi-language operation and </a:t>
            </a:r>
            <a:r>
              <a:rPr lang="en-US" sz="1800" b="1" dirty="0"/>
              <a:t>rapid offline deployment.</a:t>
            </a:r>
            <a:r>
              <a:rPr lang="en-US" sz="1800" dirty="0"/>
              <a:t> Its core advantages lie in extreme speed and extensive compatibility.</a:t>
            </a:r>
          </a:p>
        </p:txBody>
      </p:sp>
      <p:pic>
        <p:nvPicPr>
          <p:cNvPr id="3074" name="Picture 2" descr="Docling">
            <a:extLst>
              <a:ext uri="{FF2B5EF4-FFF2-40B4-BE49-F238E27FC236}">
                <a16:creationId xmlns:a16="http://schemas.microsoft.com/office/drawing/2014/main" id="{BEE0FA29-7EBF-829E-8546-3C1AF516F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789" y="2054704"/>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95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A212-F6E3-1ADE-7E18-2251D6A8197B}"/>
              </a:ext>
            </a:extLst>
          </p:cNvPr>
          <p:cNvSpPr>
            <a:spLocks noGrp="1"/>
          </p:cNvSpPr>
          <p:nvPr>
            <p:ph type="ctrTitle"/>
          </p:nvPr>
        </p:nvSpPr>
        <p:spPr>
          <a:xfrm>
            <a:off x="678871" y="529496"/>
            <a:ext cx="10827330" cy="990600"/>
          </a:xfrm>
        </p:spPr>
        <p:txBody>
          <a:bodyPr anchor="ctr">
            <a:normAutofit/>
          </a:bodyPr>
          <a:lstStyle/>
          <a:p>
            <a:pPr>
              <a:lnSpc>
                <a:spcPct val="90000"/>
              </a:lnSpc>
            </a:pPr>
            <a:r>
              <a:rPr lang="en-US" sz="3100" dirty="0"/>
              <a:t>MODEL </a:t>
            </a:r>
            <a:r>
              <a:rPr lang="en-US" sz="3100" dirty="0" err="1"/>
              <a:t>ArchITECTURE:Gemma</a:t>
            </a:r>
            <a:r>
              <a:rPr lang="en-US" sz="3100" dirty="0"/>
              <a:t> 3n:E2B</a:t>
            </a:r>
          </a:p>
        </p:txBody>
      </p:sp>
      <p:sp>
        <p:nvSpPr>
          <p:cNvPr id="3" name="Content Placeholder 2">
            <a:extLst>
              <a:ext uri="{FF2B5EF4-FFF2-40B4-BE49-F238E27FC236}">
                <a16:creationId xmlns:a16="http://schemas.microsoft.com/office/drawing/2014/main" id="{E2053A67-84F2-5169-561E-FBDA8CF1564A}"/>
              </a:ext>
            </a:extLst>
          </p:cNvPr>
          <p:cNvSpPr>
            <a:spLocks noGrp="1"/>
          </p:cNvSpPr>
          <p:nvPr>
            <p:ph type="subTitle" idx="1"/>
          </p:nvPr>
        </p:nvSpPr>
        <p:spPr>
          <a:xfrm>
            <a:off x="678871" y="5337048"/>
            <a:ext cx="10827329" cy="987552"/>
          </a:xfrm>
        </p:spPr>
        <p:txBody>
          <a:bodyPr anchor="ctr">
            <a:normAutofit/>
          </a:bodyPr>
          <a:lstStyle/>
          <a:p>
            <a:r>
              <a:rPr lang="en-US"/>
              <a:t>Gemma 3n models use selective parameter activation technology to reduce resource requirements. This technique allows the models to operate at an effective size of 2B and 4B parameters, which is lower than the total number of parameters they contain.</a:t>
            </a:r>
          </a:p>
        </p:txBody>
      </p:sp>
      <p:pic>
        <p:nvPicPr>
          <p:cNvPr id="4098" name="Picture 2" descr="Introducing Gemma 3n: The developer guide - Google Developers Blog">
            <a:extLst>
              <a:ext uri="{FF2B5EF4-FFF2-40B4-BE49-F238E27FC236}">
                <a16:creationId xmlns:a16="http://schemas.microsoft.com/office/drawing/2014/main" id="{292F4BAB-4408-6439-668B-46BE206E910F}"/>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t="23961" r="-1" b="23959"/>
          <a:stretch>
            <a:fillRect/>
          </a:stretch>
        </p:blipFill>
        <p:spPr bwMode="auto">
          <a:xfrm>
            <a:off x="678871" y="2019299"/>
            <a:ext cx="10827330" cy="2819402"/>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8023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1B640-CA95-9B58-1CE9-507A0101A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00E03-1CBB-481F-C4EF-DACE242166BE}"/>
              </a:ext>
            </a:extLst>
          </p:cNvPr>
          <p:cNvSpPr>
            <a:spLocks noGrp="1"/>
          </p:cNvSpPr>
          <p:nvPr>
            <p:ph type="ctrTitle"/>
          </p:nvPr>
        </p:nvSpPr>
        <p:spPr>
          <a:xfrm>
            <a:off x="678871" y="529496"/>
            <a:ext cx="10827330" cy="990600"/>
          </a:xfrm>
        </p:spPr>
        <p:txBody>
          <a:bodyPr anchor="ctr">
            <a:normAutofit/>
          </a:bodyPr>
          <a:lstStyle/>
          <a:p>
            <a:pPr>
              <a:lnSpc>
                <a:spcPct val="90000"/>
              </a:lnSpc>
            </a:pPr>
            <a:r>
              <a:rPr lang="en-US" sz="3100" dirty="0"/>
              <a:t>MODEL </a:t>
            </a:r>
            <a:r>
              <a:rPr lang="en-US" sz="3100" dirty="0" err="1"/>
              <a:t>ArchITECTURE:Gemma</a:t>
            </a:r>
            <a:r>
              <a:rPr lang="en-US" sz="3100" dirty="0"/>
              <a:t> 3n:E2B</a:t>
            </a:r>
          </a:p>
        </p:txBody>
      </p:sp>
      <p:sp>
        <p:nvSpPr>
          <p:cNvPr id="3" name="Content Placeholder 2">
            <a:extLst>
              <a:ext uri="{FF2B5EF4-FFF2-40B4-BE49-F238E27FC236}">
                <a16:creationId xmlns:a16="http://schemas.microsoft.com/office/drawing/2014/main" id="{1B19E5CA-03FC-FF16-F75D-5FB6E6D1508A}"/>
              </a:ext>
            </a:extLst>
          </p:cNvPr>
          <p:cNvSpPr>
            <a:spLocks noGrp="1"/>
          </p:cNvSpPr>
          <p:nvPr>
            <p:ph type="subTitle" idx="1"/>
          </p:nvPr>
        </p:nvSpPr>
        <p:spPr>
          <a:xfrm>
            <a:off x="678871" y="5337048"/>
            <a:ext cx="10827329" cy="987552"/>
          </a:xfrm>
        </p:spPr>
        <p:txBody>
          <a:bodyPr anchor="ctr">
            <a:normAutofit/>
          </a:bodyPr>
          <a:lstStyle/>
          <a:p>
            <a:r>
              <a:rPr lang="en-US" b="1" dirty="0"/>
              <a:t>Histogram-based Gradient Boosting (</a:t>
            </a:r>
            <a:r>
              <a:rPr lang="en-US" b="1" dirty="0" err="1"/>
              <a:t>HistGradientBoosting</a:t>
            </a:r>
            <a:r>
              <a:rPr lang="en-US" b="1" dirty="0"/>
              <a:t>)</a:t>
            </a:r>
            <a:r>
              <a:rPr lang="en-US" dirty="0"/>
              <a:t> is an optimized implementation of the </a:t>
            </a:r>
            <a:r>
              <a:rPr lang="en-US" b="1" dirty="0"/>
              <a:t>Gradient Boosted Decision Trees (GBDT)</a:t>
            </a:r>
            <a:r>
              <a:rPr lang="en-US" dirty="0"/>
              <a:t> machine learning algorithm.</a:t>
            </a:r>
          </a:p>
        </p:txBody>
      </p:sp>
      <p:pic>
        <p:nvPicPr>
          <p:cNvPr id="5126" name="Picture 6" descr="Classifier comparison">
            <a:extLst>
              <a:ext uri="{FF2B5EF4-FFF2-40B4-BE49-F238E27FC236}">
                <a16:creationId xmlns:a16="http://schemas.microsoft.com/office/drawing/2014/main" id="{68DED56A-C72A-FCCD-7C88-A930561B1DD3}"/>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t="8883" b="888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271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62B04-8364-CAB7-507A-8791B3A180AD}"/>
              </a:ext>
            </a:extLst>
          </p:cNvPr>
          <p:cNvSpPr>
            <a:spLocks noGrp="1"/>
          </p:cNvSpPr>
          <p:nvPr>
            <p:ph type="title"/>
          </p:nvPr>
        </p:nvSpPr>
        <p:spPr/>
        <p:txBody>
          <a:bodyPr/>
          <a:lstStyle/>
          <a:p>
            <a:r>
              <a:rPr lang="en-US" dirty="0"/>
              <a:t>Validation and Evaluation</a:t>
            </a:r>
          </a:p>
        </p:txBody>
      </p:sp>
      <p:sp>
        <p:nvSpPr>
          <p:cNvPr id="3" name="Content Placeholder 2">
            <a:extLst>
              <a:ext uri="{FF2B5EF4-FFF2-40B4-BE49-F238E27FC236}">
                <a16:creationId xmlns:a16="http://schemas.microsoft.com/office/drawing/2014/main" id="{0062AA8F-5BBF-A73A-BA7B-51DAC4FBC7ED}"/>
              </a:ext>
            </a:extLst>
          </p:cNvPr>
          <p:cNvSpPr>
            <a:spLocks noGrp="1"/>
          </p:cNvSpPr>
          <p:nvPr>
            <p:ph sz="quarter" idx="13"/>
          </p:nvPr>
        </p:nvSpPr>
        <p:spPr/>
        <p:txBody>
          <a:bodyPr>
            <a:normAutofit/>
          </a:bodyPr>
          <a:lstStyle/>
          <a:p>
            <a:pPr marL="0" indent="0">
              <a:buNone/>
            </a:pPr>
            <a:r>
              <a:rPr lang="en-US" sz="2000" dirty="0"/>
              <a:t>Evaluated strictly once on unseen test split.</a:t>
            </a:r>
          </a:p>
          <a:p>
            <a:pPr marL="342900" indent="-342900">
              <a:buFont typeface="Arial" panose="020B0604020202020204" pitchFamily="34" charset="0"/>
              <a:buChar char="•"/>
            </a:pPr>
            <a:r>
              <a:rPr lang="en-US" sz="2000" dirty="0"/>
              <a:t>Test PR-AUC: </a:t>
            </a:r>
            <a:r>
              <a:rPr lang="en-US" sz="2000" b="1" dirty="0"/>
              <a:t>0.9212</a:t>
            </a:r>
          </a:p>
          <a:p>
            <a:pPr marL="342900" indent="-342900">
              <a:buFont typeface="Arial" panose="020B0604020202020204" pitchFamily="34" charset="0"/>
              <a:buChar char="•"/>
            </a:pPr>
            <a:r>
              <a:rPr lang="en-US" sz="2000" dirty="0"/>
              <a:t>ROC-AUC: </a:t>
            </a:r>
            <a:r>
              <a:rPr lang="en-US" sz="2000" b="1" dirty="0"/>
              <a:t>0.9782</a:t>
            </a:r>
          </a:p>
          <a:p>
            <a:pPr marL="342900" indent="-342900">
              <a:buFont typeface="Arial" panose="020B0604020202020204" pitchFamily="34" charset="0"/>
              <a:buChar char="•"/>
            </a:pPr>
            <a:r>
              <a:rPr lang="en-US" sz="2000" dirty="0"/>
              <a:t>Balanced Accuracy: </a:t>
            </a:r>
            <a:r>
              <a:rPr lang="en-US" sz="2000" b="1" dirty="0"/>
              <a:t>95.77%</a:t>
            </a:r>
          </a:p>
          <a:p>
            <a:pPr marL="342900" indent="-342900">
              <a:buFont typeface="Arial" panose="020B0604020202020204" pitchFamily="34" charset="0"/>
              <a:buChar char="•"/>
            </a:pPr>
            <a:r>
              <a:rPr lang="en-US" sz="2000" dirty="0"/>
              <a:t>Brier Score: </a:t>
            </a:r>
            <a:r>
              <a:rPr lang="en-US" sz="2000" b="1" dirty="0"/>
              <a:t>0.0045</a:t>
            </a:r>
            <a:r>
              <a:rPr lang="en-US" sz="2000" dirty="0"/>
              <a:t>.</a:t>
            </a:r>
          </a:p>
          <a:p>
            <a:pPr marL="0" indent="0">
              <a:buNone/>
            </a:pPr>
            <a:r>
              <a:rPr lang="en-US" sz="2000" dirty="0"/>
              <a:t>1,000-resample receipt cluster bootstrap 95% CIs. Risk-Coverage selective classification analysis.</a:t>
            </a:r>
          </a:p>
        </p:txBody>
      </p:sp>
    </p:spTree>
    <p:extLst>
      <p:ext uri="{BB962C8B-B14F-4D97-AF65-F5344CB8AC3E}">
        <p14:creationId xmlns:p14="http://schemas.microsoft.com/office/powerpoint/2010/main" val="1639559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B35534-E43E-0ECB-352A-10A4B22E014A}"/>
              </a:ext>
            </a:extLst>
          </p:cNvPr>
          <p:cNvSpPr>
            <a:spLocks noGrp="1"/>
          </p:cNvSpPr>
          <p:nvPr>
            <p:ph type="ctrTitle"/>
          </p:nvPr>
        </p:nvSpPr>
        <p:spPr>
          <a:xfrm>
            <a:off x="2161514" y="2476500"/>
            <a:ext cx="7868972" cy="1905000"/>
          </a:xfrm>
        </p:spPr>
        <p:txBody>
          <a:bodyPr anchor="ctr">
            <a:normAutofit/>
          </a:bodyPr>
          <a:lstStyle/>
          <a:p>
            <a:r>
              <a:rPr lang="en-US" sz="7200" b="1" dirty="0"/>
              <a:t>THANK YOU!</a:t>
            </a:r>
          </a:p>
        </p:txBody>
      </p:sp>
    </p:spTree>
    <p:extLst>
      <p:ext uri="{BB962C8B-B14F-4D97-AF65-F5344CB8AC3E}">
        <p14:creationId xmlns:p14="http://schemas.microsoft.com/office/powerpoint/2010/main" val="773635614"/>
      </p:ext>
    </p:extLst>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e16e022e-be2c-4e5f-a1a0-12ee95ec224d_wac_v2" id="{B6B6850C-8787-446D-AEF8-4F4B369C2BE6}" vid="{B649D6A8-486A-404C-BAE4-F6DCFECB1A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4B99ED26-B189-4BA1-99D0-1112D8C2F106}">
  <ds:schemaRefs>
    <ds:schemaRef ds:uri="http://purl.org/dc/terms/"/>
    <ds:schemaRef ds:uri="http://schemas.microsoft.com/office/2006/metadata/properties"/>
    <ds:schemaRef ds:uri="http://purl.org/dc/dcmitype/"/>
    <ds:schemaRef ds:uri="http://schemas.microsoft.com/office/2006/documentManagement/types"/>
    <ds:schemaRef ds:uri="230e9df3-be65-4c73-a93b-d1236ebd677e"/>
    <ds:schemaRef ds:uri="http://purl.org/dc/elements/1.1/"/>
    <ds:schemaRef ds:uri="http://schemas.microsoft.com/office/infopath/2007/PartnerControls"/>
    <ds:schemaRef ds:uri="http://www.w3.org/XML/1998/namespace"/>
    <ds:schemaRef ds:uri="http://schemas.openxmlformats.org/package/2006/metadata/core-properties"/>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1CAF6374-A7FD-4717-AFE0-646B462CEB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{BE4BF549-2DAE-458D-93F5-8CE43BD4A178}a68ed2e1-c015-4bc0-a84f-ee5b52e9f56e-TFe16e022e-be2c-4e5f-a1a0-12ee95ec224d7989ee22_win32</Template>
  <TotalTime>282</TotalTime>
  <Words>435</Words>
  <Application>Microsoft Office PowerPoint</Application>
  <PresentationFormat>Widescreen</PresentationFormat>
  <Paragraphs>35</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Avenir Next LT Pro</vt:lpstr>
      <vt:lpstr>Northern lights</vt:lpstr>
      <vt:lpstr>OCR +LLM Based Data extraction from documents</vt:lpstr>
      <vt:lpstr>Core concept</vt:lpstr>
      <vt:lpstr>PowerPoint Presentation</vt:lpstr>
      <vt:lpstr>The Dataset: CloveAI’s CORD DATASET</vt:lpstr>
      <vt:lpstr>DaTA Processing</vt:lpstr>
      <vt:lpstr>Model Architecture: DOCLING+RAPIDOCR</vt:lpstr>
      <vt:lpstr>MODEL ArchITECTURE:Gemma 3n:E2B</vt:lpstr>
      <vt:lpstr>MODEL ArchITECTURE:Gemma 3n:E2B</vt:lpstr>
      <vt:lpstr>Validation and Evaluation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 Joshi</dc:creator>
  <cp:lastModifiedBy>Deep Joshi</cp:lastModifiedBy>
  <cp:revision>1</cp:revision>
  <dcterms:created xsi:type="dcterms:W3CDTF">2026-10-17T13:45:11Z</dcterms:created>
  <dcterms:modified xsi:type="dcterms:W3CDTF">2026-10-17T18:27:35Z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